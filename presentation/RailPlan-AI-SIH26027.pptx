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rgbClr val="0B1524"/>
        </a:solidFill>
      </p:bgPr>
    </p:bg>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3B9BE8"/>
          </a:solidFill>
          <a:ln/>
        </p:spPr>
      </p:sp>
      <p:sp>
        <p:nvSpPr>
          <p:cNvPr id="3" name="Text 1"/>
          <p:cNvSpPr/>
          <p:nvPr/>
        </p:nvSpPr>
        <p:spPr>
          <a:xfrm>
            <a:off x="502920" y="6400800"/>
            <a:ext cx="7315200" cy="274320"/>
          </a:xfrm>
          <a:prstGeom prst="rect">
            <a:avLst/>
          </a:prstGeom>
          <a:noFill/>
          <a:ln/>
        </p:spPr>
        <p:txBody>
          <a:bodyPr wrap="square" rtlCol="0" anchor="ctr"/>
          <a:lstStyle/>
          <a:p>
            <a:pPr indent="0" marL="0">
              <a:buNone/>
            </a:pPr>
            <a:r>
              <a:rPr lang="en-US" sz="900" dirty="0">
                <a:solidFill>
                  <a:srgbClr val="6B819A"/>
                </a:solidFill>
                <a:latin typeface="Segoe UI" pitchFamily="34" charset="0"/>
                <a:ea typeface="Segoe UI" pitchFamily="34" charset="-122"/>
                <a:cs typeface="Segoe UI" pitchFamily="34" charset="-120"/>
              </a:rPr>
              <a:t>SIH26027 · Ministry of Railways · Synthetic demonstration data</a:t>
            </a:r>
            <a:endParaRPr lang="en-US" sz="9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819A"/>
                </a:solidFill>
                <a:latin typeface="Segoe UI"/>
                <a:ea typeface="Segoe UI"/>
                <a:cs typeface="Segoe U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819A"/>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52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3B9BE8"/>
          </a:solidFill>
          <a:ln/>
        </p:spPr>
      </p:sp>
      <p:sp>
        <p:nvSpPr>
          <p:cNvPr id="3" name="Shape 1"/>
          <p:cNvSpPr/>
          <p:nvPr/>
        </p:nvSpPr>
        <p:spPr>
          <a:xfrm>
            <a:off x="822960" y="960120"/>
            <a:ext cx="2057400" cy="384048"/>
          </a:xfrm>
          <a:prstGeom prst="roundRect">
            <a:avLst>
              <a:gd name="adj" fmla="val 47619"/>
            </a:avLst>
          </a:prstGeom>
          <a:solidFill>
            <a:srgbClr val="10243B"/>
          </a:solidFill>
          <a:ln w="12700">
            <a:solidFill>
              <a:srgbClr val="3B9BE8"/>
            </a:solidFill>
            <a:prstDash val="solid"/>
          </a:ln>
        </p:spPr>
      </p:sp>
      <p:sp>
        <p:nvSpPr>
          <p:cNvPr id="4" name="Text 2"/>
          <p:cNvSpPr/>
          <p:nvPr/>
        </p:nvSpPr>
        <p:spPr>
          <a:xfrm>
            <a:off x="822960" y="960120"/>
            <a:ext cx="2057400" cy="384048"/>
          </a:xfrm>
          <a:prstGeom prst="rect">
            <a:avLst/>
          </a:prstGeom>
          <a:noFill/>
          <a:ln/>
        </p:spPr>
        <p:txBody>
          <a:bodyPr wrap="square" rtlCol="0" anchor="ctr"/>
          <a:lstStyle/>
          <a:p>
            <a:pPr algn="ctr" indent="0" marL="0">
              <a:buNone/>
            </a:pPr>
            <a:r>
              <a:rPr lang="en-US" sz="1050" b="1" dirty="0">
                <a:solidFill>
                  <a:srgbClr val="3B9BE8"/>
                </a:solidFill>
                <a:latin typeface="Segoe UI" pitchFamily="34" charset="0"/>
                <a:ea typeface="Segoe UI" pitchFamily="34" charset="-122"/>
                <a:cs typeface="Segoe UI" pitchFamily="34" charset="-120"/>
              </a:rPr>
              <a:t>PROBLEM SIH26027</a:t>
            </a:r>
            <a:endParaRPr lang="en-US" sz="1050" dirty="0"/>
          </a:p>
        </p:txBody>
      </p:sp>
      <p:sp>
        <p:nvSpPr>
          <p:cNvPr id="5" name="Text 3"/>
          <p:cNvSpPr/>
          <p:nvPr/>
        </p:nvSpPr>
        <p:spPr>
          <a:xfrm>
            <a:off x="777240" y="1572768"/>
            <a:ext cx="10607040" cy="960120"/>
          </a:xfrm>
          <a:prstGeom prst="rect">
            <a:avLst/>
          </a:prstGeom>
          <a:noFill/>
          <a:ln/>
        </p:spPr>
        <p:txBody>
          <a:bodyPr wrap="square" rtlCol="0" anchor="ctr"/>
          <a:lstStyle/>
          <a:p>
            <a:pPr indent="0" marL="0">
              <a:buNone/>
            </a:pPr>
            <a:r>
              <a:rPr lang="en-US" sz="5600" b="1" dirty="0">
                <a:solidFill>
                  <a:srgbClr val="F1F6FC"/>
                </a:solidFill>
                <a:latin typeface="Segoe UI" pitchFamily="34" charset="0"/>
                <a:ea typeface="Segoe UI" pitchFamily="34" charset="-122"/>
                <a:cs typeface="Segoe UI" pitchFamily="34" charset="-120"/>
              </a:rPr>
              <a:t>RailPlan AI</a:t>
            </a:r>
            <a:endParaRPr lang="en-US" sz="5600" dirty="0"/>
          </a:p>
        </p:txBody>
      </p:sp>
      <p:sp>
        <p:nvSpPr>
          <p:cNvPr id="6" name="Text 4"/>
          <p:cNvSpPr/>
          <p:nvPr/>
        </p:nvSpPr>
        <p:spPr>
          <a:xfrm>
            <a:off x="822960" y="2578608"/>
            <a:ext cx="10515600" cy="457200"/>
          </a:xfrm>
          <a:prstGeom prst="rect">
            <a:avLst/>
          </a:prstGeom>
          <a:noFill/>
          <a:ln/>
        </p:spPr>
        <p:txBody>
          <a:bodyPr wrap="square" rtlCol="0" anchor="ctr"/>
          <a:lstStyle/>
          <a:p>
            <a:pPr indent="0" marL="0">
              <a:buNone/>
            </a:pPr>
            <a:r>
              <a:rPr lang="en-US" sz="2000" dirty="0">
                <a:solidFill>
                  <a:srgbClr val="3B9BE8"/>
                </a:solidFill>
                <a:latin typeface="Segoe UI" pitchFamily="34" charset="0"/>
                <a:ea typeface="Segoe UI" pitchFamily="34" charset="-122"/>
                <a:cs typeface="Segoe UI" pitchFamily="34" charset="-120"/>
              </a:rPr>
              <a:t>AI-powered automatic block planning to maximise asset availability</a:t>
            </a:r>
            <a:endParaRPr lang="en-US" sz="2000" dirty="0"/>
          </a:p>
        </p:txBody>
      </p:sp>
      <p:sp>
        <p:nvSpPr>
          <p:cNvPr id="7" name="Text 5"/>
          <p:cNvSpPr/>
          <p:nvPr/>
        </p:nvSpPr>
        <p:spPr>
          <a:xfrm>
            <a:off x="822960" y="3072384"/>
            <a:ext cx="9875520" cy="640080"/>
          </a:xfrm>
          <a:prstGeom prst="rect">
            <a:avLst/>
          </a:prstGeom>
          <a:noFill/>
          <a:ln/>
        </p:spPr>
        <p:txBody>
          <a:bodyPr wrap="square" rtlCol="0" anchor="ctr"/>
          <a:lstStyle/>
          <a:p>
            <a:pPr indent="0" marL="0">
              <a:buNone/>
            </a:pPr>
            <a:r>
              <a:rPr lang="en-US" sz="1350" dirty="0">
                <a:solidFill>
                  <a:srgbClr val="9DB2C8"/>
                </a:solidFill>
                <a:latin typeface="Segoe UI" pitchFamily="34" charset="0"/>
                <a:ea typeface="Segoe UI" pitchFamily="34" charset="-122"/>
                <a:cs typeface="Segoe UI" pitchFamily="34" charset="-120"/>
              </a:rPr>
              <a:t>One optimiser plans Engineering, Traction Distribution and Signal &amp; Telecom maintenance together — against real corridor windows, protected train paths and the goods forecast.</a:t>
            </a:r>
            <a:endParaRPr lang="en-US" sz="1350" dirty="0"/>
          </a:p>
        </p:txBody>
      </p:sp>
      <p:sp>
        <p:nvSpPr>
          <p:cNvPr id="8" name="Shape 6"/>
          <p:cNvSpPr/>
          <p:nvPr/>
        </p:nvSpPr>
        <p:spPr>
          <a:xfrm>
            <a:off x="822960" y="3977640"/>
            <a:ext cx="2514600" cy="1298448"/>
          </a:xfrm>
          <a:prstGeom prst="roundRect">
            <a:avLst>
              <a:gd name="adj" fmla="val 5634"/>
            </a:avLst>
          </a:prstGeom>
          <a:solidFill>
            <a:srgbClr val="132133"/>
          </a:solidFill>
          <a:ln w="12700">
            <a:solidFill>
              <a:srgbClr val="223449"/>
            </a:solidFill>
            <a:prstDash val="solid"/>
          </a:ln>
        </p:spPr>
      </p:sp>
      <p:sp>
        <p:nvSpPr>
          <p:cNvPr id="9" name="Text 7"/>
          <p:cNvSpPr/>
          <p:nvPr/>
        </p:nvSpPr>
        <p:spPr>
          <a:xfrm>
            <a:off x="987552" y="4096512"/>
            <a:ext cx="2185416" cy="219456"/>
          </a:xfrm>
          <a:prstGeom prst="rect">
            <a:avLst/>
          </a:prstGeom>
          <a:noFill/>
          <a:ln/>
        </p:spPr>
        <p:txBody>
          <a:bodyPr wrap="square" lIns="0" tIns="0" rIns="0" bIns="0" rtlCol="0" anchor="ctr"/>
          <a:lstStyle/>
          <a:p>
            <a:pPr indent="0" marL="0">
              <a:buNone/>
            </a:pPr>
            <a:r>
              <a:rPr lang="en-US" sz="900" b="1" spc="80" kern="0" dirty="0">
                <a:solidFill>
                  <a:srgbClr val="6B819A"/>
                </a:solidFill>
                <a:latin typeface="Segoe UI" pitchFamily="34" charset="0"/>
                <a:ea typeface="Segoe UI" pitchFamily="34" charset="-122"/>
                <a:cs typeface="Segoe UI" pitchFamily="34" charset="-120"/>
              </a:rPr>
              <a:t>SOURCE SYSTEMS INTEGRATED</a:t>
            </a:r>
            <a:endParaRPr lang="en-US" sz="900" dirty="0"/>
          </a:p>
        </p:txBody>
      </p:sp>
      <p:sp>
        <p:nvSpPr>
          <p:cNvPr id="10" name="Text 8"/>
          <p:cNvSpPr/>
          <p:nvPr/>
        </p:nvSpPr>
        <p:spPr>
          <a:xfrm>
            <a:off x="987552" y="4343400"/>
            <a:ext cx="2185416" cy="420624"/>
          </a:xfrm>
          <a:prstGeom prst="rect">
            <a:avLst/>
          </a:prstGeom>
          <a:noFill/>
          <a:ln/>
        </p:spPr>
        <p:txBody>
          <a:bodyPr wrap="square" lIns="0" tIns="0" rIns="0" bIns="0" rtlCol="0" anchor="ctr"/>
          <a:lstStyle/>
          <a:p>
            <a:pPr indent="0" marL="0">
              <a:buNone/>
            </a:pPr>
            <a:r>
              <a:rPr lang="en-US" sz="2400" b="1" dirty="0">
                <a:solidFill>
                  <a:srgbClr val="2DD4BF"/>
                </a:solidFill>
                <a:latin typeface="Segoe UI" pitchFamily="34" charset="0"/>
                <a:ea typeface="Segoe UI" pitchFamily="34" charset="-122"/>
                <a:cs typeface="Segoe UI" pitchFamily="34" charset="-120"/>
              </a:rPr>
              <a:t>6</a:t>
            </a:r>
            <a:endParaRPr lang="en-US" sz="2400" dirty="0"/>
          </a:p>
        </p:txBody>
      </p:sp>
      <p:sp>
        <p:nvSpPr>
          <p:cNvPr id="11" name="Text 9"/>
          <p:cNvSpPr/>
          <p:nvPr/>
        </p:nvSpPr>
        <p:spPr>
          <a:xfrm>
            <a:off x="987552" y="4800600"/>
            <a:ext cx="2185416" cy="365760"/>
          </a:xfrm>
          <a:prstGeom prst="rect">
            <a:avLst/>
          </a:prstGeom>
          <a:noFill/>
          <a:ln/>
        </p:spPr>
        <p:txBody>
          <a:bodyPr wrap="square" lIns="0" tIns="0" rIns="0" bIns="0" rtlCol="0" anchor="t"/>
          <a:lstStyle/>
          <a:p>
            <a:pPr indent="0" marL="0">
              <a:lnSpc>
                <a:spcPts val="1188"/>
              </a:lnSpc>
              <a:buNone/>
            </a:pPr>
            <a:r>
              <a:rPr lang="en-US" sz="950" dirty="0">
                <a:solidFill>
                  <a:srgbClr val="9DB2C8"/>
                </a:solidFill>
                <a:latin typeface="Segoe UI" pitchFamily="34" charset="0"/>
                <a:ea typeface="Segoe UI" pitchFamily="34" charset="-122"/>
                <a:cs typeface="Segoe UI" pitchFamily="34" charset="-120"/>
              </a:rPr>
              <a:t>TMS · SMMS · TDMS · COA · Timetable · Goods</a:t>
            </a:r>
            <a:endParaRPr lang="en-US" sz="950" dirty="0"/>
          </a:p>
        </p:txBody>
      </p:sp>
      <p:sp>
        <p:nvSpPr>
          <p:cNvPr id="12" name="Shape 10"/>
          <p:cNvSpPr/>
          <p:nvPr/>
        </p:nvSpPr>
        <p:spPr>
          <a:xfrm>
            <a:off x="3566160" y="3977640"/>
            <a:ext cx="2514600" cy="1298448"/>
          </a:xfrm>
          <a:prstGeom prst="roundRect">
            <a:avLst>
              <a:gd name="adj" fmla="val 5634"/>
            </a:avLst>
          </a:prstGeom>
          <a:solidFill>
            <a:srgbClr val="132133"/>
          </a:solidFill>
          <a:ln w="12700">
            <a:solidFill>
              <a:srgbClr val="223449"/>
            </a:solidFill>
            <a:prstDash val="solid"/>
          </a:ln>
        </p:spPr>
      </p:sp>
      <p:sp>
        <p:nvSpPr>
          <p:cNvPr id="13" name="Text 11"/>
          <p:cNvSpPr/>
          <p:nvPr/>
        </p:nvSpPr>
        <p:spPr>
          <a:xfrm>
            <a:off x="3730752" y="4096512"/>
            <a:ext cx="2185416" cy="219456"/>
          </a:xfrm>
          <a:prstGeom prst="rect">
            <a:avLst/>
          </a:prstGeom>
          <a:noFill/>
          <a:ln/>
        </p:spPr>
        <p:txBody>
          <a:bodyPr wrap="square" lIns="0" tIns="0" rIns="0" bIns="0" rtlCol="0" anchor="ctr"/>
          <a:lstStyle/>
          <a:p>
            <a:pPr indent="0" marL="0">
              <a:buNone/>
            </a:pPr>
            <a:r>
              <a:rPr lang="en-US" sz="900" b="1" spc="80" kern="0" dirty="0">
                <a:solidFill>
                  <a:srgbClr val="6B819A"/>
                </a:solidFill>
                <a:latin typeface="Segoe UI" pitchFamily="34" charset="0"/>
                <a:ea typeface="Segoe UI" pitchFamily="34" charset="-122"/>
                <a:cs typeface="Segoe UI" pitchFamily="34" charset="-120"/>
              </a:rPr>
              <a:t>PLANNING HORIZONS</a:t>
            </a:r>
            <a:endParaRPr lang="en-US" sz="900" dirty="0"/>
          </a:p>
        </p:txBody>
      </p:sp>
      <p:sp>
        <p:nvSpPr>
          <p:cNvPr id="14" name="Text 12"/>
          <p:cNvSpPr/>
          <p:nvPr/>
        </p:nvSpPr>
        <p:spPr>
          <a:xfrm>
            <a:off x="3730752" y="4343400"/>
            <a:ext cx="2185416" cy="420624"/>
          </a:xfrm>
          <a:prstGeom prst="rect">
            <a:avLst/>
          </a:prstGeom>
          <a:noFill/>
          <a:ln/>
        </p:spPr>
        <p:txBody>
          <a:bodyPr wrap="square" lIns="0" tIns="0" rIns="0" bIns="0" rtlCol="0" anchor="ctr"/>
          <a:lstStyle/>
          <a:p>
            <a:pPr indent="0" marL="0">
              <a:buNone/>
            </a:pPr>
            <a:r>
              <a:rPr lang="en-US" sz="1800" b="1" dirty="0">
                <a:solidFill>
                  <a:srgbClr val="2DD4BF"/>
                </a:solidFill>
                <a:latin typeface="Segoe UI" pitchFamily="34" charset="0"/>
                <a:ea typeface="Segoe UI" pitchFamily="34" charset="-122"/>
                <a:cs typeface="Segoe UI" pitchFamily="34" charset="-120"/>
              </a:rPr>
              <a:t>Weekly + Monthly</a:t>
            </a:r>
            <a:endParaRPr lang="en-US" sz="1800" dirty="0"/>
          </a:p>
        </p:txBody>
      </p:sp>
      <p:sp>
        <p:nvSpPr>
          <p:cNvPr id="15" name="Text 13"/>
          <p:cNvSpPr/>
          <p:nvPr/>
        </p:nvSpPr>
        <p:spPr>
          <a:xfrm>
            <a:off x="3730752" y="4800600"/>
            <a:ext cx="2185416" cy="365760"/>
          </a:xfrm>
          <a:prstGeom prst="rect">
            <a:avLst/>
          </a:prstGeom>
          <a:noFill/>
          <a:ln/>
        </p:spPr>
        <p:txBody>
          <a:bodyPr wrap="square" lIns="0" tIns="0" rIns="0" bIns="0" rtlCol="0" anchor="t"/>
          <a:lstStyle/>
          <a:p>
            <a:pPr indent="0" marL="0">
              <a:lnSpc>
                <a:spcPts val="1188"/>
              </a:lnSpc>
              <a:buNone/>
            </a:pPr>
            <a:r>
              <a:rPr lang="en-US" sz="950" dirty="0">
                <a:solidFill>
                  <a:srgbClr val="9DB2C8"/>
                </a:solidFill>
                <a:latin typeface="Segoe UI" pitchFamily="34" charset="0"/>
                <a:ea typeface="Segoe UI" pitchFamily="34" charset="-122"/>
                <a:cs typeface="Segoe UI" pitchFamily="34" charset="-120"/>
              </a:rPr>
              <a:t>15-minute planning granularity</a:t>
            </a:r>
            <a:endParaRPr lang="en-US" sz="950" dirty="0"/>
          </a:p>
        </p:txBody>
      </p:sp>
      <p:sp>
        <p:nvSpPr>
          <p:cNvPr id="16" name="Shape 14"/>
          <p:cNvSpPr/>
          <p:nvPr/>
        </p:nvSpPr>
        <p:spPr>
          <a:xfrm>
            <a:off x="6309360" y="3977640"/>
            <a:ext cx="2514600" cy="1298448"/>
          </a:xfrm>
          <a:prstGeom prst="roundRect">
            <a:avLst>
              <a:gd name="adj" fmla="val 5634"/>
            </a:avLst>
          </a:prstGeom>
          <a:solidFill>
            <a:srgbClr val="132133"/>
          </a:solidFill>
          <a:ln w="12700">
            <a:solidFill>
              <a:srgbClr val="223449"/>
            </a:solidFill>
            <a:prstDash val="solid"/>
          </a:ln>
        </p:spPr>
      </p:sp>
      <p:sp>
        <p:nvSpPr>
          <p:cNvPr id="17" name="Text 15"/>
          <p:cNvSpPr/>
          <p:nvPr/>
        </p:nvSpPr>
        <p:spPr>
          <a:xfrm>
            <a:off x="6473952" y="4096512"/>
            <a:ext cx="2185416" cy="219456"/>
          </a:xfrm>
          <a:prstGeom prst="rect">
            <a:avLst/>
          </a:prstGeom>
          <a:noFill/>
          <a:ln/>
        </p:spPr>
        <p:txBody>
          <a:bodyPr wrap="square" lIns="0" tIns="0" rIns="0" bIns="0" rtlCol="0" anchor="ctr"/>
          <a:lstStyle/>
          <a:p>
            <a:pPr indent="0" marL="0">
              <a:buNone/>
            </a:pPr>
            <a:r>
              <a:rPr lang="en-US" sz="900" b="1" spc="80" kern="0" dirty="0">
                <a:solidFill>
                  <a:srgbClr val="6B819A"/>
                </a:solidFill>
                <a:latin typeface="Segoe UI" pitchFamily="34" charset="0"/>
                <a:ea typeface="Segoe UI" pitchFamily="34" charset="-122"/>
                <a:cs typeface="Segoe UI" pitchFamily="34" charset="-120"/>
              </a:rPr>
              <a:t>OPTIMISER</a:t>
            </a:r>
            <a:endParaRPr lang="en-US" sz="900" dirty="0"/>
          </a:p>
        </p:txBody>
      </p:sp>
      <p:sp>
        <p:nvSpPr>
          <p:cNvPr id="18" name="Text 16"/>
          <p:cNvSpPr/>
          <p:nvPr/>
        </p:nvSpPr>
        <p:spPr>
          <a:xfrm>
            <a:off x="6473952" y="4343400"/>
            <a:ext cx="2185416" cy="420624"/>
          </a:xfrm>
          <a:prstGeom prst="rect">
            <a:avLst/>
          </a:prstGeom>
          <a:noFill/>
          <a:ln/>
        </p:spPr>
        <p:txBody>
          <a:bodyPr wrap="square" lIns="0" tIns="0" rIns="0" bIns="0" rtlCol="0" anchor="ctr"/>
          <a:lstStyle/>
          <a:p>
            <a:pPr indent="0" marL="0">
              <a:buNone/>
            </a:pPr>
            <a:r>
              <a:rPr lang="en-US" sz="2400" b="1" dirty="0">
                <a:solidFill>
                  <a:srgbClr val="2DD4BF"/>
                </a:solidFill>
                <a:latin typeface="Segoe UI" pitchFamily="34" charset="0"/>
                <a:ea typeface="Segoe UI" pitchFamily="34" charset="-122"/>
                <a:cs typeface="Segoe UI" pitchFamily="34" charset="-120"/>
              </a:rPr>
              <a:t>GLPK MILP</a:t>
            </a:r>
            <a:endParaRPr lang="en-US" sz="2400" dirty="0"/>
          </a:p>
        </p:txBody>
      </p:sp>
      <p:sp>
        <p:nvSpPr>
          <p:cNvPr id="19" name="Text 17"/>
          <p:cNvSpPr/>
          <p:nvPr/>
        </p:nvSpPr>
        <p:spPr>
          <a:xfrm>
            <a:off x="6473952" y="4800600"/>
            <a:ext cx="2185416" cy="365760"/>
          </a:xfrm>
          <a:prstGeom prst="rect">
            <a:avLst/>
          </a:prstGeom>
          <a:noFill/>
          <a:ln/>
        </p:spPr>
        <p:txBody>
          <a:bodyPr wrap="square" lIns="0" tIns="0" rIns="0" bIns="0" rtlCol="0" anchor="t"/>
          <a:lstStyle/>
          <a:p>
            <a:pPr indent="0" marL="0">
              <a:lnSpc>
                <a:spcPts val="1188"/>
              </a:lnSpc>
              <a:buNone/>
            </a:pPr>
            <a:r>
              <a:rPr lang="en-US" sz="950" dirty="0">
                <a:solidFill>
                  <a:srgbClr val="9DB2C8"/>
                </a:solidFill>
                <a:latin typeface="Segoe UI" pitchFamily="34" charset="0"/>
                <a:ea typeface="Segoe UI" pitchFamily="34" charset="-122"/>
                <a:cs typeface="Segoe UI" pitchFamily="34" charset="-120"/>
              </a:rPr>
              <a:t>greedy fallback, independent re-check</a:t>
            </a:r>
            <a:endParaRPr lang="en-US" sz="950" dirty="0"/>
          </a:p>
        </p:txBody>
      </p:sp>
      <p:sp>
        <p:nvSpPr>
          <p:cNvPr id="20" name="Shape 18"/>
          <p:cNvSpPr/>
          <p:nvPr/>
        </p:nvSpPr>
        <p:spPr>
          <a:xfrm>
            <a:off x="9052560" y="3977640"/>
            <a:ext cx="2514600" cy="1298448"/>
          </a:xfrm>
          <a:prstGeom prst="roundRect">
            <a:avLst>
              <a:gd name="adj" fmla="val 5634"/>
            </a:avLst>
          </a:prstGeom>
          <a:solidFill>
            <a:srgbClr val="132133"/>
          </a:solidFill>
          <a:ln w="12700">
            <a:solidFill>
              <a:srgbClr val="223449"/>
            </a:solidFill>
            <a:prstDash val="solid"/>
          </a:ln>
        </p:spPr>
      </p:sp>
      <p:sp>
        <p:nvSpPr>
          <p:cNvPr id="21" name="Text 19"/>
          <p:cNvSpPr/>
          <p:nvPr/>
        </p:nvSpPr>
        <p:spPr>
          <a:xfrm>
            <a:off x="9217152" y="4096512"/>
            <a:ext cx="2185416" cy="219456"/>
          </a:xfrm>
          <a:prstGeom prst="rect">
            <a:avLst/>
          </a:prstGeom>
          <a:noFill/>
          <a:ln/>
        </p:spPr>
        <p:txBody>
          <a:bodyPr wrap="square" lIns="0" tIns="0" rIns="0" bIns="0" rtlCol="0" anchor="ctr"/>
          <a:lstStyle/>
          <a:p>
            <a:pPr indent="0" marL="0">
              <a:buNone/>
            </a:pPr>
            <a:r>
              <a:rPr lang="en-US" sz="900" b="1" spc="80" kern="0" dirty="0">
                <a:solidFill>
                  <a:srgbClr val="6B819A"/>
                </a:solidFill>
                <a:latin typeface="Segoe UI" pitchFamily="34" charset="0"/>
                <a:ea typeface="Segoe UI" pitchFamily="34" charset="-122"/>
                <a:cs typeface="Segoe UI" pitchFamily="34" charset="-120"/>
              </a:rPr>
              <a:t>PRIORITY SCORING</a:t>
            </a:r>
            <a:endParaRPr lang="en-US" sz="900" dirty="0"/>
          </a:p>
        </p:txBody>
      </p:sp>
      <p:sp>
        <p:nvSpPr>
          <p:cNvPr id="22" name="Text 20"/>
          <p:cNvSpPr/>
          <p:nvPr/>
        </p:nvSpPr>
        <p:spPr>
          <a:xfrm>
            <a:off x="9217152" y="4343400"/>
            <a:ext cx="2185416" cy="420624"/>
          </a:xfrm>
          <a:prstGeom prst="rect">
            <a:avLst/>
          </a:prstGeom>
          <a:noFill/>
          <a:ln/>
        </p:spPr>
        <p:txBody>
          <a:bodyPr wrap="square" lIns="0" tIns="0" rIns="0" bIns="0" rtlCol="0" anchor="ctr"/>
          <a:lstStyle/>
          <a:p>
            <a:pPr indent="0" marL="0">
              <a:buNone/>
            </a:pPr>
            <a:r>
              <a:rPr lang="en-US" sz="2400" b="1" dirty="0">
                <a:solidFill>
                  <a:srgbClr val="2DD4BF"/>
                </a:solidFill>
                <a:latin typeface="Segoe UI" pitchFamily="34" charset="0"/>
                <a:ea typeface="Segoe UI" pitchFamily="34" charset="-122"/>
                <a:cs typeface="Segoe UI" pitchFamily="34" charset="-120"/>
              </a:rPr>
              <a:t>ML + rules</a:t>
            </a:r>
            <a:endParaRPr lang="en-US" sz="2400" dirty="0"/>
          </a:p>
        </p:txBody>
      </p:sp>
      <p:sp>
        <p:nvSpPr>
          <p:cNvPr id="23" name="Text 21"/>
          <p:cNvSpPr/>
          <p:nvPr/>
        </p:nvSpPr>
        <p:spPr>
          <a:xfrm>
            <a:off x="9217152" y="4800600"/>
            <a:ext cx="2185416" cy="365760"/>
          </a:xfrm>
          <a:prstGeom prst="rect">
            <a:avLst/>
          </a:prstGeom>
          <a:noFill/>
          <a:ln/>
        </p:spPr>
        <p:txBody>
          <a:bodyPr wrap="square" lIns="0" tIns="0" rIns="0" bIns="0" rtlCol="0" anchor="t"/>
          <a:lstStyle/>
          <a:p>
            <a:pPr indent="0" marL="0">
              <a:lnSpc>
                <a:spcPts val="1188"/>
              </a:lnSpc>
              <a:buNone/>
            </a:pPr>
            <a:r>
              <a:rPr lang="en-US" sz="950" dirty="0">
                <a:solidFill>
                  <a:srgbClr val="9DB2C8"/>
                </a:solidFill>
                <a:latin typeface="Segoe UI" pitchFamily="34" charset="0"/>
                <a:ea typeface="Segoe UI" pitchFamily="34" charset="-122"/>
                <a:cs typeface="Segoe UI" pitchFamily="34" charset="-120"/>
              </a:rPr>
              <a:t>every score is explainable</a:t>
            </a:r>
            <a:endParaRPr lang="en-US" sz="950" dirty="0"/>
          </a:p>
        </p:txBody>
      </p:sp>
      <p:sp>
        <p:nvSpPr>
          <p:cNvPr id="24" name="Text 22"/>
          <p:cNvSpPr/>
          <p:nvPr/>
        </p:nvSpPr>
        <p:spPr>
          <a:xfrm>
            <a:off x="822960" y="5623560"/>
            <a:ext cx="10515600" cy="274320"/>
          </a:xfrm>
          <a:prstGeom prst="rect">
            <a:avLst/>
          </a:prstGeom>
          <a:noFill/>
          <a:ln/>
        </p:spPr>
        <p:txBody>
          <a:bodyPr wrap="square" rtlCol="0" anchor="ctr"/>
          <a:lstStyle/>
          <a:p>
            <a:pPr indent="0" marL="0">
              <a:buNone/>
            </a:pPr>
            <a:r>
              <a:rPr lang="en-US" sz="1100" dirty="0">
                <a:solidFill>
                  <a:srgbClr val="6B819A"/>
                </a:solidFill>
                <a:latin typeface="Segoe UI" pitchFamily="34" charset="0"/>
                <a:ea typeface="Segoe UI" pitchFamily="34" charset="-122"/>
                <a:cs typeface="Segoe UI" pitchFamily="34" charset="-120"/>
              </a:rPr>
              <a:t>Smart India Hackathon 2026 · Ministry of Railways · Transportation &amp; Logistics</a:t>
            </a:r>
            <a:endParaRPr lang="en-US" sz="1100" dirty="0"/>
          </a:p>
        </p:txBody>
      </p:sp>
      <p:sp>
        <p:nvSpPr>
          <p:cNvPr id="25" name="Text 23"/>
          <p:cNvSpPr/>
          <p:nvPr/>
        </p:nvSpPr>
        <p:spPr>
          <a:xfrm>
            <a:off x="822960" y="5943600"/>
            <a:ext cx="10515600" cy="274320"/>
          </a:xfrm>
          <a:prstGeom prst="rect">
            <a:avLst/>
          </a:prstGeom>
          <a:noFill/>
          <a:ln/>
        </p:spPr>
        <p:txBody>
          <a:bodyPr wrap="square" rtlCol="0" anchor="ctr"/>
          <a:lstStyle/>
          <a:p>
            <a:pPr indent="0" marL="0">
              <a:buNone/>
            </a:pPr>
            <a:r>
              <a:rPr lang="en-US" sz="950" i="1" dirty="0">
                <a:solidFill>
                  <a:srgbClr val="6B819A"/>
                </a:solidFill>
                <a:latin typeface="Segoe UI" pitchFamily="34" charset="0"/>
                <a:ea typeface="Segoe UI" pitchFamily="34" charset="-122"/>
                <a:cs typeface="Segoe UI" pitchFamily="34" charset="-120"/>
              </a:rPr>
              <a:t>Decision support only — final blocks still require authorised approval. Synthetic demonstration data, not Indian Railways production data.</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84048"/>
            <a:ext cx="9144000" cy="237744"/>
          </a:xfrm>
          <a:prstGeom prst="rect">
            <a:avLst/>
          </a:prstGeom>
          <a:noFill/>
          <a:ln/>
        </p:spPr>
        <p:txBody>
          <a:bodyPr wrap="square" rtlCol="0" anchor="ctr"/>
          <a:lstStyle/>
          <a:p>
            <a:pPr indent="0" marL="0">
              <a:buNone/>
            </a:pPr>
            <a:r>
              <a:rPr lang="en-US" sz="1100" b="1" spc="160" kern="0" dirty="0">
                <a:solidFill>
                  <a:srgbClr val="3B9BE8"/>
                </a:solidFill>
                <a:latin typeface="Segoe UI" pitchFamily="34" charset="0"/>
                <a:ea typeface="Segoe UI" pitchFamily="34" charset="-122"/>
                <a:cs typeface="Segoe UI" pitchFamily="34" charset="-120"/>
              </a:rPr>
              <a:t>THE PROBLEM</a:t>
            </a:r>
            <a:endParaRPr lang="en-US" sz="1100" dirty="0"/>
          </a:p>
        </p:txBody>
      </p:sp>
      <p:sp>
        <p:nvSpPr>
          <p:cNvPr id="3" name="Text 1"/>
          <p:cNvSpPr/>
          <p:nvPr/>
        </p:nvSpPr>
        <p:spPr>
          <a:xfrm>
            <a:off x="502920" y="658368"/>
            <a:ext cx="11155680" cy="566928"/>
          </a:xfrm>
          <a:prstGeom prst="rect">
            <a:avLst/>
          </a:prstGeom>
          <a:noFill/>
          <a:ln/>
        </p:spPr>
        <p:txBody>
          <a:bodyPr wrap="square" rtlCol="0" anchor="ctr"/>
          <a:lstStyle/>
          <a:p>
            <a:pPr indent="0" marL="0">
              <a:buNone/>
            </a:pPr>
            <a:r>
              <a:rPr lang="en-US" sz="3000" b="1" dirty="0">
                <a:solidFill>
                  <a:srgbClr val="F1F6FC"/>
                </a:solidFill>
                <a:latin typeface="Segoe UI" pitchFamily="34" charset="0"/>
                <a:ea typeface="Segoe UI" pitchFamily="34" charset="-122"/>
                <a:cs typeface="Segoe UI" pitchFamily="34" charset="-120"/>
              </a:rPr>
              <a:t>Three departments plan the same track, separately</a:t>
            </a:r>
            <a:endParaRPr lang="en-US" sz="3000" dirty="0"/>
          </a:p>
        </p:txBody>
      </p:sp>
      <p:sp>
        <p:nvSpPr>
          <p:cNvPr id="4" name="Text 2"/>
          <p:cNvSpPr/>
          <p:nvPr/>
        </p:nvSpPr>
        <p:spPr>
          <a:xfrm>
            <a:off x="502920" y="1280160"/>
            <a:ext cx="11155680" cy="365760"/>
          </a:xfrm>
          <a:prstGeom prst="rect">
            <a:avLst/>
          </a:prstGeom>
          <a:noFill/>
          <a:ln/>
        </p:spPr>
        <p:txBody>
          <a:bodyPr wrap="square" rtlCol="0" anchor="ctr"/>
          <a:lstStyle/>
          <a:p>
            <a:pPr indent="0" marL="0">
              <a:buNone/>
            </a:pPr>
            <a:r>
              <a:rPr lang="en-US" sz="1300" dirty="0">
                <a:solidFill>
                  <a:srgbClr val="9DB2C8"/>
                </a:solidFill>
                <a:latin typeface="Segoe UI" pitchFamily="34" charset="0"/>
                <a:ea typeface="Segoe UI" pitchFamily="34" charset="-122"/>
                <a:cs typeface="Segoe UI" pitchFamily="34" charset="-120"/>
              </a:rPr>
              <a:t>Engineering, Traction Distribution and S&amp;T each request blocks through BDMS on their own, from data that never meets.</a:t>
            </a:r>
            <a:endParaRPr lang="en-US" sz="1300" dirty="0"/>
          </a:p>
        </p:txBody>
      </p:sp>
      <p:sp>
        <p:nvSpPr>
          <p:cNvPr id="5" name="Shape 3"/>
          <p:cNvSpPr/>
          <p:nvPr/>
        </p:nvSpPr>
        <p:spPr>
          <a:xfrm>
            <a:off x="502920" y="1920240"/>
            <a:ext cx="3520440" cy="2331720"/>
          </a:xfrm>
          <a:prstGeom prst="roundRect">
            <a:avLst>
              <a:gd name="adj" fmla="val 3137"/>
            </a:avLst>
          </a:prstGeom>
          <a:solidFill>
            <a:srgbClr val="132133"/>
          </a:solidFill>
          <a:ln w="12700">
            <a:solidFill>
              <a:srgbClr val="223449"/>
            </a:solidFill>
            <a:prstDash val="solid"/>
          </a:ln>
        </p:spPr>
      </p:sp>
      <p:sp>
        <p:nvSpPr>
          <p:cNvPr id="6" name="Shape 4"/>
          <p:cNvSpPr/>
          <p:nvPr/>
        </p:nvSpPr>
        <p:spPr>
          <a:xfrm>
            <a:off x="502920" y="2103120"/>
            <a:ext cx="45720" cy="256032"/>
          </a:xfrm>
          <a:prstGeom prst="rect">
            <a:avLst/>
          </a:prstGeom>
          <a:solidFill>
            <a:srgbClr val="F0616D"/>
          </a:solidFill>
          <a:ln/>
        </p:spPr>
      </p:sp>
      <p:sp>
        <p:nvSpPr>
          <p:cNvPr id="7" name="Text 5"/>
          <p:cNvSpPr/>
          <p:nvPr/>
        </p:nvSpPr>
        <p:spPr>
          <a:xfrm>
            <a:off x="722376" y="2084832"/>
            <a:ext cx="3118104" cy="274320"/>
          </a:xfrm>
          <a:prstGeom prst="rect">
            <a:avLst/>
          </a:prstGeom>
          <a:noFill/>
          <a:ln/>
        </p:spPr>
        <p:txBody>
          <a:bodyPr wrap="square" lIns="0" tIns="0" rIns="0" bIns="0" rtlCol="0" anchor="ctr"/>
          <a:lstStyle/>
          <a:p>
            <a:pPr indent="0" marL="0">
              <a:buNone/>
            </a:pPr>
            <a:r>
              <a:rPr lang="en-US" sz="1350" b="1" dirty="0">
                <a:solidFill>
                  <a:srgbClr val="F1F6FC"/>
                </a:solidFill>
                <a:latin typeface="Segoe UI" pitchFamily="34" charset="0"/>
                <a:ea typeface="Segoe UI" pitchFamily="34" charset="-122"/>
                <a:cs typeface="Segoe UI" pitchFamily="34" charset="-120"/>
              </a:rPr>
              <a:t>Data lives in silos</a:t>
            </a:r>
            <a:endParaRPr lang="en-US" sz="1350" dirty="0"/>
          </a:p>
        </p:txBody>
      </p:sp>
      <p:sp>
        <p:nvSpPr>
          <p:cNvPr id="8" name="Text 6"/>
          <p:cNvSpPr/>
          <p:nvPr/>
        </p:nvSpPr>
        <p:spPr>
          <a:xfrm>
            <a:off x="740664" y="2468880"/>
            <a:ext cx="3081528" cy="1655064"/>
          </a:xfrm>
          <a:prstGeom prst="rect">
            <a:avLst/>
          </a:prstGeom>
          <a:noFill/>
          <a:ln/>
        </p:spPr>
        <p:txBody>
          <a:bodyPr wrap="square" lIns="0" tIns="0" rIns="0" bIns="0" rtlCol="0" anchor="t"/>
          <a:lstStyle/>
          <a:p>
            <a:pPr marL="342900" indent="-342900">
              <a:lnSpc>
                <a:spcPts val="1518"/>
              </a:lnSpc>
              <a:buSzPct val="100000"/>
              <a:buChar char="•"/>
            </a:pPr>
            <a:r>
              <a:rPr lang="en-US" sz="1150" dirty="0">
                <a:solidFill>
                  <a:srgbClr val="9DB2C8"/>
                </a:solidFill>
                <a:latin typeface="Segoe UI" pitchFamily="34" charset="0"/>
                <a:ea typeface="Segoe UI" pitchFamily="34" charset="-122"/>
                <a:cs typeface="Segoe UI" pitchFamily="34" charset="-120"/>
              </a:rPr>
              <a:t>Track defects sit in TMS, signalling defects in SMMS, OHE work in TDMS.</a:t>
            </a:r>
            <a:endParaRPr lang="en-US" sz="1150" dirty="0"/>
          </a:p>
          <a:p>
            <a:pPr marL="342900" indent="-342900">
              <a:lnSpc>
                <a:spcPts val="1518"/>
              </a:lnSpc>
              <a:buSzPct val="100000"/>
              <a:buChar char="•"/>
            </a:pPr>
            <a:r>
              <a:rPr lang="en-US" sz="1150" dirty="0">
                <a:solidFill>
                  <a:srgbClr val="9DB2C8"/>
                </a:solidFill>
                <a:latin typeface="Segoe UI" pitchFamily="34" charset="0"/>
                <a:ea typeface="Segoe UI" pitchFamily="34" charset="-122"/>
                <a:cs typeface="Segoe UI" pitchFamily="34" charset="-120"/>
              </a:rPr>
              <a:t>Corridor availability sits separately again, in COA.</a:t>
            </a:r>
            <a:endParaRPr lang="en-US" sz="1150" dirty="0"/>
          </a:p>
          <a:p>
            <a:pPr marL="342900" indent="-342900">
              <a:lnSpc>
                <a:spcPts val="1518"/>
              </a:lnSpc>
              <a:buSzPct val="100000"/>
              <a:buChar char="•"/>
            </a:pPr>
            <a:r>
              <a:rPr lang="en-US" sz="1150" dirty="0">
                <a:solidFill>
                  <a:srgbClr val="9DB2C8"/>
                </a:solidFill>
                <a:latin typeface="Segoe UI" pitchFamily="34" charset="0"/>
                <a:ea typeface="Segoe UI" pitchFamily="34" charset="-122"/>
                <a:cs typeface="Segoe UI" pitchFamily="34" charset="-120"/>
              </a:rPr>
              <a:t>No single view of what the whole network actually needs.</a:t>
            </a:r>
            <a:endParaRPr lang="en-US" sz="1150" dirty="0"/>
          </a:p>
        </p:txBody>
      </p:sp>
      <p:sp>
        <p:nvSpPr>
          <p:cNvPr id="9" name="Shape 7"/>
          <p:cNvSpPr/>
          <p:nvPr/>
        </p:nvSpPr>
        <p:spPr>
          <a:xfrm>
            <a:off x="4297680" y="1920240"/>
            <a:ext cx="3520440" cy="2331720"/>
          </a:xfrm>
          <a:prstGeom prst="roundRect">
            <a:avLst>
              <a:gd name="adj" fmla="val 3137"/>
            </a:avLst>
          </a:prstGeom>
          <a:solidFill>
            <a:srgbClr val="132133"/>
          </a:solidFill>
          <a:ln w="12700">
            <a:solidFill>
              <a:srgbClr val="223449"/>
            </a:solidFill>
            <a:prstDash val="solid"/>
          </a:ln>
        </p:spPr>
      </p:sp>
      <p:sp>
        <p:nvSpPr>
          <p:cNvPr id="10" name="Shape 8"/>
          <p:cNvSpPr/>
          <p:nvPr/>
        </p:nvSpPr>
        <p:spPr>
          <a:xfrm>
            <a:off x="4297680" y="2103120"/>
            <a:ext cx="45720" cy="256032"/>
          </a:xfrm>
          <a:prstGeom prst="rect">
            <a:avLst/>
          </a:prstGeom>
          <a:solidFill>
            <a:srgbClr val="F0A93B"/>
          </a:solidFill>
          <a:ln/>
        </p:spPr>
      </p:sp>
      <p:sp>
        <p:nvSpPr>
          <p:cNvPr id="11" name="Text 9"/>
          <p:cNvSpPr/>
          <p:nvPr/>
        </p:nvSpPr>
        <p:spPr>
          <a:xfrm>
            <a:off x="4517136" y="2084832"/>
            <a:ext cx="3118104" cy="274320"/>
          </a:xfrm>
          <a:prstGeom prst="rect">
            <a:avLst/>
          </a:prstGeom>
          <a:noFill/>
          <a:ln/>
        </p:spPr>
        <p:txBody>
          <a:bodyPr wrap="square" lIns="0" tIns="0" rIns="0" bIns="0" rtlCol="0" anchor="ctr"/>
          <a:lstStyle/>
          <a:p>
            <a:pPr indent="0" marL="0">
              <a:buNone/>
            </a:pPr>
            <a:r>
              <a:rPr lang="en-US" sz="1350" b="1" dirty="0">
                <a:solidFill>
                  <a:srgbClr val="F1F6FC"/>
                </a:solidFill>
                <a:latin typeface="Segoe UI" pitchFamily="34" charset="0"/>
                <a:ea typeface="Segoe UI" pitchFamily="34" charset="-122"/>
                <a:cs typeface="Segoe UI" pitchFamily="34" charset="-120"/>
              </a:rPr>
              <a:t>Planning is manual</a:t>
            </a:r>
            <a:endParaRPr lang="en-US" sz="1350" dirty="0"/>
          </a:p>
        </p:txBody>
      </p:sp>
      <p:sp>
        <p:nvSpPr>
          <p:cNvPr id="12" name="Text 10"/>
          <p:cNvSpPr/>
          <p:nvPr/>
        </p:nvSpPr>
        <p:spPr>
          <a:xfrm>
            <a:off x="4535424" y="2468880"/>
            <a:ext cx="3081528" cy="1655064"/>
          </a:xfrm>
          <a:prstGeom prst="rect">
            <a:avLst/>
          </a:prstGeom>
          <a:noFill/>
          <a:ln/>
        </p:spPr>
        <p:txBody>
          <a:bodyPr wrap="square" lIns="0" tIns="0" rIns="0" bIns="0" rtlCol="0" anchor="t"/>
          <a:lstStyle/>
          <a:p>
            <a:pPr marL="342900" indent="-342900">
              <a:lnSpc>
                <a:spcPts val="1518"/>
              </a:lnSpc>
              <a:buSzPct val="100000"/>
              <a:buChar char="•"/>
            </a:pPr>
            <a:r>
              <a:rPr lang="en-US" sz="1150" dirty="0">
                <a:solidFill>
                  <a:srgbClr val="9DB2C8"/>
                </a:solidFill>
                <a:latin typeface="Segoe UI" pitchFamily="34" charset="0"/>
                <a:ea typeface="Segoe UI" pitchFamily="34" charset="-122"/>
                <a:cs typeface="Segoe UI" pitchFamily="34" charset="-120"/>
              </a:rPr>
              <a:t>Each department books in its own due-date order.</a:t>
            </a:r>
            <a:endParaRPr lang="en-US" sz="1150" dirty="0"/>
          </a:p>
          <a:p>
            <a:pPr marL="342900" indent="-342900">
              <a:lnSpc>
                <a:spcPts val="1518"/>
              </a:lnSpc>
              <a:buSzPct val="100000"/>
              <a:buChar char="•"/>
            </a:pPr>
            <a:r>
              <a:rPr lang="en-US" sz="1150" dirty="0">
                <a:solidFill>
                  <a:srgbClr val="9DB2C8"/>
                </a:solidFill>
                <a:latin typeface="Segoe UI" pitchFamily="34" charset="0"/>
                <a:ea typeface="Segoe UI" pitchFamily="34" charset="-122"/>
                <a:cs typeface="Segoe UI" pitchFamily="34" charset="-120"/>
              </a:rPr>
              <a:t>A window taken by one is simply gone for the rest.</a:t>
            </a:r>
            <a:endParaRPr lang="en-US" sz="1150" dirty="0"/>
          </a:p>
          <a:p>
            <a:pPr marL="342900" indent="-342900">
              <a:lnSpc>
                <a:spcPts val="1518"/>
              </a:lnSpc>
              <a:buSzPct val="100000"/>
              <a:buChar char="•"/>
            </a:pPr>
            <a:r>
              <a:rPr lang="en-US" sz="1150" dirty="0">
                <a:solidFill>
                  <a:srgbClr val="9DB2C8"/>
                </a:solidFill>
                <a:latin typeface="Segoe UI" pitchFamily="34" charset="0"/>
                <a:ea typeface="Segoe UI" pitchFamily="34" charset="-122"/>
                <a:cs typeface="Segoe UI" pitchFamily="34" charset="-120"/>
              </a:rPr>
              <a:t>Compatible work that could share one possession does not.</a:t>
            </a:r>
            <a:endParaRPr lang="en-US" sz="1150" dirty="0"/>
          </a:p>
        </p:txBody>
      </p:sp>
      <p:sp>
        <p:nvSpPr>
          <p:cNvPr id="13" name="Shape 11"/>
          <p:cNvSpPr/>
          <p:nvPr/>
        </p:nvSpPr>
        <p:spPr>
          <a:xfrm>
            <a:off x="8092440" y="1920240"/>
            <a:ext cx="3520440" cy="2331720"/>
          </a:xfrm>
          <a:prstGeom prst="roundRect">
            <a:avLst>
              <a:gd name="adj" fmla="val 3137"/>
            </a:avLst>
          </a:prstGeom>
          <a:solidFill>
            <a:srgbClr val="132133"/>
          </a:solidFill>
          <a:ln w="12700">
            <a:solidFill>
              <a:srgbClr val="223449"/>
            </a:solidFill>
            <a:prstDash val="solid"/>
          </a:ln>
        </p:spPr>
      </p:sp>
      <p:sp>
        <p:nvSpPr>
          <p:cNvPr id="14" name="Shape 12"/>
          <p:cNvSpPr/>
          <p:nvPr/>
        </p:nvSpPr>
        <p:spPr>
          <a:xfrm>
            <a:off x="8092440" y="2103120"/>
            <a:ext cx="45720" cy="256032"/>
          </a:xfrm>
          <a:prstGeom prst="rect">
            <a:avLst/>
          </a:prstGeom>
          <a:solidFill>
            <a:srgbClr val="A78BFA"/>
          </a:solidFill>
          <a:ln/>
        </p:spPr>
      </p:sp>
      <p:sp>
        <p:nvSpPr>
          <p:cNvPr id="15" name="Text 13"/>
          <p:cNvSpPr/>
          <p:nvPr/>
        </p:nvSpPr>
        <p:spPr>
          <a:xfrm>
            <a:off x="8311896" y="2084832"/>
            <a:ext cx="3118104" cy="274320"/>
          </a:xfrm>
          <a:prstGeom prst="rect">
            <a:avLst/>
          </a:prstGeom>
          <a:noFill/>
          <a:ln/>
        </p:spPr>
        <p:txBody>
          <a:bodyPr wrap="square" lIns="0" tIns="0" rIns="0" bIns="0" rtlCol="0" anchor="ctr"/>
          <a:lstStyle/>
          <a:p>
            <a:pPr indent="0" marL="0">
              <a:buNone/>
            </a:pPr>
            <a:r>
              <a:rPr lang="en-US" sz="1350" b="1" dirty="0">
                <a:solidFill>
                  <a:srgbClr val="F1F6FC"/>
                </a:solidFill>
                <a:latin typeface="Segoe UI" pitchFamily="34" charset="0"/>
                <a:ea typeface="Segoe UI" pitchFamily="34" charset="-122"/>
                <a:cs typeface="Segoe UI" pitchFamily="34" charset="-120"/>
              </a:rPr>
              <a:t>Assets pay the price</a:t>
            </a:r>
            <a:endParaRPr lang="en-US" sz="1350" dirty="0"/>
          </a:p>
        </p:txBody>
      </p:sp>
      <p:sp>
        <p:nvSpPr>
          <p:cNvPr id="16" name="Text 14"/>
          <p:cNvSpPr/>
          <p:nvPr/>
        </p:nvSpPr>
        <p:spPr>
          <a:xfrm>
            <a:off x="8330184" y="2468880"/>
            <a:ext cx="3081528" cy="1655064"/>
          </a:xfrm>
          <a:prstGeom prst="rect">
            <a:avLst/>
          </a:prstGeom>
          <a:noFill/>
          <a:ln/>
        </p:spPr>
        <p:txBody>
          <a:bodyPr wrap="square" lIns="0" tIns="0" rIns="0" bIns="0" rtlCol="0" anchor="t"/>
          <a:lstStyle/>
          <a:p>
            <a:pPr marL="342900" indent="-342900">
              <a:lnSpc>
                <a:spcPts val="1518"/>
              </a:lnSpc>
              <a:buSzPct val="100000"/>
              <a:buChar char="•"/>
            </a:pPr>
            <a:r>
              <a:rPr lang="en-US" sz="1150" dirty="0">
                <a:solidFill>
                  <a:srgbClr val="9DB2C8"/>
                </a:solidFill>
                <a:latin typeface="Segoe UI" pitchFamily="34" charset="0"/>
                <a:ea typeface="Segoe UI" pitchFamily="34" charset="-122"/>
                <a:cs typeface="Segoe UI" pitchFamily="34" charset="-120"/>
              </a:rPr>
              <a:t>The line closes more times than the work itself requires.</a:t>
            </a:r>
            <a:endParaRPr lang="en-US" sz="1150" dirty="0"/>
          </a:p>
          <a:p>
            <a:pPr marL="342900" indent="-342900">
              <a:lnSpc>
                <a:spcPts val="1518"/>
              </a:lnSpc>
              <a:buSzPct val="100000"/>
              <a:buChar char="•"/>
            </a:pPr>
            <a:r>
              <a:rPr lang="en-US" sz="1150" dirty="0">
                <a:solidFill>
                  <a:srgbClr val="9DB2C8"/>
                </a:solidFill>
                <a:latin typeface="Segoe UI" pitchFamily="34" charset="0"/>
                <a:ea typeface="Segoe UI" pitchFamily="34" charset="-122"/>
                <a:cs typeface="Segoe UI" pitchFamily="34" charset="-120"/>
              </a:rPr>
              <a:t>Overdue safety-critical work waits behind routine work.</a:t>
            </a:r>
            <a:endParaRPr lang="en-US" sz="1150" dirty="0"/>
          </a:p>
          <a:p>
            <a:pPr marL="342900" indent="-342900">
              <a:lnSpc>
                <a:spcPts val="1518"/>
              </a:lnSpc>
              <a:buSzPct val="100000"/>
              <a:buChar char="•"/>
            </a:pPr>
            <a:r>
              <a:rPr lang="en-US" sz="1150" dirty="0">
                <a:solidFill>
                  <a:srgbClr val="9DB2C8"/>
                </a:solidFill>
                <a:latin typeface="Segoe UI" pitchFamily="34" charset="0"/>
                <a:ea typeface="Segoe UI" pitchFamily="34" charset="-122"/>
                <a:cs typeface="Segoe UI" pitchFamily="34" charset="-120"/>
              </a:rPr>
              <a:t>Train operations absorb avoidable downtime.</a:t>
            </a:r>
            <a:endParaRPr lang="en-US" sz="1150" dirty="0"/>
          </a:p>
        </p:txBody>
      </p:sp>
      <p:sp>
        <p:nvSpPr>
          <p:cNvPr id="17" name="Shape 15"/>
          <p:cNvSpPr/>
          <p:nvPr/>
        </p:nvSpPr>
        <p:spPr>
          <a:xfrm>
            <a:off x="502920" y="4480560"/>
            <a:ext cx="11201400" cy="1463040"/>
          </a:xfrm>
          <a:prstGeom prst="roundRect">
            <a:avLst>
              <a:gd name="adj" fmla="val 5000"/>
            </a:avLst>
          </a:prstGeom>
          <a:solidFill>
            <a:srgbClr val="10243B"/>
          </a:solidFill>
          <a:ln w="12700">
            <a:solidFill>
              <a:srgbClr val="223449"/>
            </a:solidFill>
            <a:prstDash val="solid"/>
          </a:ln>
        </p:spPr>
      </p:sp>
      <p:sp>
        <p:nvSpPr>
          <p:cNvPr id="18" name="Text 16"/>
          <p:cNvSpPr/>
          <p:nvPr/>
        </p:nvSpPr>
        <p:spPr>
          <a:xfrm>
            <a:off x="777240" y="4617720"/>
            <a:ext cx="10607040" cy="237744"/>
          </a:xfrm>
          <a:prstGeom prst="rect">
            <a:avLst/>
          </a:prstGeom>
          <a:noFill/>
          <a:ln/>
        </p:spPr>
        <p:txBody>
          <a:bodyPr wrap="square" rtlCol="0" anchor="ctr"/>
          <a:lstStyle/>
          <a:p>
            <a:pPr indent="0" marL="0">
              <a:buNone/>
            </a:pPr>
            <a:r>
              <a:rPr lang="en-US" sz="1000" b="1" spc="120" kern="0" dirty="0">
                <a:solidFill>
                  <a:srgbClr val="3B9BE8"/>
                </a:solidFill>
                <a:latin typeface="Segoe UI" pitchFamily="34" charset="0"/>
                <a:ea typeface="Segoe UI" pitchFamily="34" charset="-122"/>
                <a:cs typeface="Segoe UI" pitchFamily="34" charset="-120"/>
              </a:rPr>
              <a:t>WHAT THE PROBLEM STATEMENT ASKS FOR</a:t>
            </a:r>
            <a:endParaRPr lang="en-US" sz="1000" dirty="0"/>
          </a:p>
        </p:txBody>
      </p:sp>
      <p:sp>
        <p:nvSpPr>
          <p:cNvPr id="19" name="Text 17"/>
          <p:cNvSpPr/>
          <p:nvPr/>
        </p:nvSpPr>
        <p:spPr>
          <a:xfrm>
            <a:off x="777240" y="4892040"/>
            <a:ext cx="10652760" cy="914400"/>
          </a:xfrm>
          <a:prstGeom prst="rect">
            <a:avLst/>
          </a:prstGeom>
          <a:noFill/>
          <a:ln/>
        </p:spPr>
        <p:txBody>
          <a:bodyPr wrap="square" rtlCol="0" anchor="ctr"/>
          <a:lstStyle/>
          <a:p>
            <a:pPr indent="0" marL="0">
              <a:buNone/>
            </a:pPr>
            <a:r>
              <a:rPr lang="en-US" sz="1250" i="1" dirty="0">
                <a:solidFill>
                  <a:srgbClr val="F1F6FC"/>
                </a:solidFill>
                <a:latin typeface="Segoe UI" pitchFamily="34" charset="0"/>
                <a:ea typeface="Segoe UI" pitchFamily="34" charset="-122"/>
                <a:cs typeface="Segoe UI" pitchFamily="34" charset="-120"/>
              </a:rPr>
              <a:t>"Develop an Automatic Block Planning system that integrates maintenance, defects and corridor data to generate optimized block schedules. The system should prioritize maintenance activities to minimize asset downtime and maximize the availability of critical infrastructure, ensuring uninterrupted train operations."</a:t>
            </a:r>
            <a:endParaRPr lang="en-US" sz="125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819A"/>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84048"/>
            <a:ext cx="9144000" cy="237744"/>
          </a:xfrm>
          <a:prstGeom prst="rect">
            <a:avLst/>
          </a:prstGeom>
          <a:noFill/>
          <a:ln/>
        </p:spPr>
        <p:txBody>
          <a:bodyPr wrap="square" rtlCol="0" anchor="ctr"/>
          <a:lstStyle/>
          <a:p>
            <a:pPr indent="0" marL="0">
              <a:buNone/>
            </a:pPr>
            <a:r>
              <a:rPr lang="en-US" sz="1100" b="1" spc="160" kern="0" dirty="0">
                <a:solidFill>
                  <a:srgbClr val="3B9BE8"/>
                </a:solidFill>
                <a:latin typeface="Segoe UI" pitchFamily="34" charset="0"/>
                <a:ea typeface="Segoe UI" pitchFamily="34" charset="-122"/>
                <a:cs typeface="Segoe UI" pitchFamily="34" charset="-120"/>
              </a:rPr>
              <a:t>THE SOLUTION</a:t>
            </a:r>
            <a:endParaRPr lang="en-US" sz="1100" dirty="0"/>
          </a:p>
        </p:txBody>
      </p:sp>
      <p:sp>
        <p:nvSpPr>
          <p:cNvPr id="3" name="Text 1"/>
          <p:cNvSpPr/>
          <p:nvPr/>
        </p:nvSpPr>
        <p:spPr>
          <a:xfrm>
            <a:off x="502920" y="658368"/>
            <a:ext cx="11155680" cy="566928"/>
          </a:xfrm>
          <a:prstGeom prst="rect">
            <a:avLst/>
          </a:prstGeom>
          <a:noFill/>
          <a:ln/>
        </p:spPr>
        <p:txBody>
          <a:bodyPr wrap="square" rtlCol="0" anchor="ctr"/>
          <a:lstStyle/>
          <a:p>
            <a:pPr indent="0" marL="0">
              <a:buNone/>
            </a:pPr>
            <a:r>
              <a:rPr lang="en-US" sz="3000" b="1" dirty="0">
                <a:solidFill>
                  <a:srgbClr val="F1F6FC"/>
                </a:solidFill>
                <a:latin typeface="Segoe UI" pitchFamily="34" charset="0"/>
                <a:ea typeface="Segoe UI" pitchFamily="34" charset="-122"/>
                <a:cs typeface="Segoe UI" pitchFamily="34" charset="-120"/>
              </a:rPr>
              <a:t>One pipeline, from six feeds to a safe block plan</a:t>
            </a:r>
            <a:endParaRPr lang="en-US" sz="3000" dirty="0"/>
          </a:p>
        </p:txBody>
      </p:sp>
      <p:sp>
        <p:nvSpPr>
          <p:cNvPr id="4" name="Text 2"/>
          <p:cNvSpPr/>
          <p:nvPr/>
        </p:nvSpPr>
        <p:spPr>
          <a:xfrm>
            <a:off x="502920" y="1280160"/>
            <a:ext cx="11155680" cy="365760"/>
          </a:xfrm>
          <a:prstGeom prst="rect">
            <a:avLst/>
          </a:prstGeom>
          <a:noFill/>
          <a:ln/>
        </p:spPr>
        <p:txBody>
          <a:bodyPr wrap="square" rtlCol="0" anchor="ctr"/>
          <a:lstStyle/>
          <a:p>
            <a:pPr indent="0" marL="0">
              <a:buNone/>
            </a:pPr>
            <a:r>
              <a:rPr lang="en-US" sz="1300" dirty="0">
                <a:solidFill>
                  <a:srgbClr val="9DB2C8"/>
                </a:solidFill>
                <a:latin typeface="Segoe UI" pitchFamily="34" charset="0"/>
                <a:ea typeface="Segoe UI" pitchFamily="34" charset="-122"/>
                <a:cs typeface="Segoe UI" pitchFamily="34" charset="-120"/>
              </a:rPr>
              <a:t>The same inputs also build a department-by-department baseline, so the improvement is measured, never claimed.</a:t>
            </a:r>
            <a:endParaRPr lang="en-US" sz="1300" dirty="0"/>
          </a:p>
        </p:txBody>
      </p:sp>
      <p:sp>
        <p:nvSpPr>
          <p:cNvPr id="5" name="Shape 3"/>
          <p:cNvSpPr/>
          <p:nvPr/>
        </p:nvSpPr>
        <p:spPr>
          <a:xfrm>
            <a:off x="502920" y="1874520"/>
            <a:ext cx="2103120" cy="2286000"/>
          </a:xfrm>
          <a:prstGeom prst="roundRect">
            <a:avLst>
              <a:gd name="adj" fmla="val 3478"/>
            </a:avLst>
          </a:prstGeom>
          <a:solidFill>
            <a:srgbClr val="132133"/>
          </a:solidFill>
          <a:ln w="12700">
            <a:solidFill>
              <a:srgbClr val="223449"/>
            </a:solidFill>
            <a:prstDash val="solid"/>
          </a:ln>
        </p:spPr>
      </p:sp>
      <p:sp>
        <p:nvSpPr>
          <p:cNvPr id="6" name="Shape 4"/>
          <p:cNvSpPr/>
          <p:nvPr/>
        </p:nvSpPr>
        <p:spPr>
          <a:xfrm>
            <a:off x="667512" y="2057400"/>
            <a:ext cx="365760" cy="365760"/>
          </a:xfrm>
          <a:prstGeom prst="ellipse">
            <a:avLst/>
          </a:prstGeom>
          <a:solidFill>
            <a:srgbClr val="3B9BE8"/>
          </a:solidFill>
          <a:ln/>
        </p:spPr>
      </p:sp>
      <p:sp>
        <p:nvSpPr>
          <p:cNvPr id="7" name="Text 5"/>
          <p:cNvSpPr/>
          <p:nvPr/>
        </p:nvSpPr>
        <p:spPr>
          <a:xfrm>
            <a:off x="667512" y="2057400"/>
            <a:ext cx="365760" cy="365760"/>
          </a:xfrm>
          <a:prstGeom prst="rect">
            <a:avLst/>
          </a:prstGeom>
          <a:noFill/>
          <a:ln/>
        </p:spPr>
        <p:txBody>
          <a:bodyPr wrap="square" rtlCol="0" anchor="ctr"/>
          <a:lstStyle/>
          <a:p>
            <a:pPr algn="ctr" indent="0" marL="0">
              <a:buNone/>
            </a:pPr>
            <a:r>
              <a:rPr lang="en-US" sz="1300" b="1" dirty="0">
                <a:solidFill>
                  <a:srgbClr val="0B1524"/>
                </a:solidFill>
                <a:latin typeface="Segoe UI" pitchFamily="34" charset="0"/>
                <a:ea typeface="Segoe UI" pitchFamily="34" charset="-122"/>
                <a:cs typeface="Segoe UI" pitchFamily="34" charset="-120"/>
              </a:rPr>
              <a:t>1</a:t>
            </a:r>
            <a:endParaRPr lang="en-US" sz="1300" dirty="0"/>
          </a:p>
        </p:txBody>
      </p:sp>
      <p:sp>
        <p:nvSpPr>
          <p:cNvPr id="8" name="Text 6"/>
          <p:cNvSpPr/>
          <p:nvPr/>
        </p:nvSpPr>
        <p:spPr>
          <a:xfrm>
            <a:off x="667512" y="2514600"/>
            <a:ext cx="1773936" cy="292608"/>
          </a:xfrm>
          <a:prstGeom prst="rect">
            <a:avLst/>
          </a:prstGeom>
          <a:noFill/>
          <a:ln/>
        </p:spPr>
        <p:txBody>
          <a:bodyPr wrap="square" lIns="0" tIns="0" rIns="0" bIns="0" rtlCol="0" anchor="ctr"/>
          <a:lstStyle/>
          <a:p>
            <a:pPr indent="0" marL="0">
              <a:buNone/>
            </a:pPr>
            <a:r>
              <a:rPr lang="en-US" sz="1350" b="1" dirty="0">
                <a:solidFill>
                  <a:srgbClr val="F1F6FC"/>
                </a:solidFill>
                <a:latin typeface="Segoe UI" pitchFamily="34" charset="0"/>
                <a:ea typeface="Segoe UI" pitchFamily="34" charset="-122"/>
                <a:cs typeface="Segoe UI" pitchFamily="34" charset="-120"/>
              </a:rPr>
              <a:t>Integrate</a:t>
            </a:r>
            <a:endParaRPr lang="en-US" sz="1350" dirty="0"/>
          </a:p>
        </p:txBody>
      </p:sp>
      <p:sp>
        <p:nvSpPr>
          <p:cNvPr id="9" name="Text 7"/>
          <p:cNvSpPr/>
          <p:nvPr/>
        </p:nvSpPr>
        <p:spPr>
          <a:xfrm>
            <a:off x="667512" y="2843784"/>
            <a:ext cx="1773936" cy="1170432"/>
          </a:xfrm>
          <a:prstGeom prst="rect">
            <a:avLst/>
          </a:prstGeom>
          <a:noFill/>
          <a:ln/>
        </p:spPr>
        <p:txBody>
          <a:bodyPr wrap="square" lIns="0" tIns="0" rIns="0" bIns="0" rtlCol="0" anchor="t"/>
          <a:lstStyle/>
          <a:p>
            <a:pPr indent="0" marL="0">
              <a:lnSpc>
                <a:spcPts val="1300"/>
              </a:lnSpc>
              <a:buNone/>
            </a:pPr>
            <a:r>
              <a:rPr lang="en-US" sz="1000" dirty="0">
                <a:solidFill>
                  <a:srgbClr val="9DB2C8"/>
                </a:solidFill>
                <a:latin typeface="Segoe UI" pitchFamily="34" charset="0"/>
                <a:ea typeface="Segoe UI" pitchFamily="34" charset="-122"/>
                <a:cs typeface="Segoe UI" pitchFamily="34" charset="-120"/>
              </a:rPr>
              <a:t>Six adapters normalise TMS, SMMS and TDMS work with COA windows, protected train paths and the goods forecast.</a:t>
            </a:r>
            <a:endParaRPr lang="en-US" sz="1000" dirty="0"/>
          </a:p>
        </p:txBody>
      </p:sp>
      <p:sp>
        <p:nvSpPr>
          <p:cNvPr id="10" name="Text 8"/>
          <p:cNvSpPr/>
          <p:nvPr/>
        </p:nvSpPr>
        <p:spPr>
          <a:xfrm>
            <a:off x="2624328" y="2880360"/>
            <a:ext cx="384048" cy="256032"/>
          </a:xfrm>
          <a:prstGeom prst="rect">
            <a:avLst/>
          </a:prstGeom>
          <a:noFill/>
          <a:ln/>
        </p:spPr>
        <p:txBody>
          <a:bodyPr wrap="square" rtlCol="0" anchor="ctr"/>
          <a:lstStyle/>
          <a:p>
            <a:pPr algn="ctr" indent="0" marL="0">
              <a:buNone/>
            </a:pPr>
            <a:r>
              <a:rPr lang="en-US" sz="1100" dirty="0">
                <a:solidFill>
                  <a:srgbClr val="6B819A"/>
                </a:solidFill>
                <a:latin typeface="Segoe UI" pitchFamily="34" charset="0"/>
                <a:ea typeface="Segoe UI" pitchFamily="34" charset="-122"/>
                <a:cs typeface="Segoe UI" pitchFamily="34" charset="-120"/>
              </a:rPr>
              <a:t>▶</a:t>
            </a:r>
            <a:endParaRPr lang="en-US" sz="1100" dirty="0"/>
          </a:p>
        </p:txBody>
      </p:sp>
      <p:sp>
        <p:nvSpPr>
          <p:cNvPr id="11" name="Shape 9"/>
          <p:cNvSpPr/>
          <p:nvPr/>
        </p:nvSpPr>
        <p:spPr>
          <a:xfrm>
            <a:off x="2770632" y="1874520"/>
            <a:ext cx="2103120" cy="2286000"/>
          </a:xfrm>
          <a:prstGeom prst="roundRect">
            <a:avLst>
              <a:gd name="adj" fmla="val 3478"/>
            </a:avLst>
          </a:prstGeom>
          <a:solidFill>
            <a:srgbClr val="132133"/>
          </a:solidFill>
          <a:ln w="12700">
            <a:solidFill>
              <a:srgbClr val="223449"/>
            </a:solidFill>
            <a:prstDash val="solid"/>
          </a:ln>
        </p:spPr>
      </p:sp>
      <p:sp>
        <p:nvSpPr>
          <p:cNvPr id="12" name="Shape 10"/>
          <p:cNvSpPr/>
          <p:nvPr/>
        </p:nvSpPr>
        <p:spPr>
          <a:xfrm>
            <a:off x="2935224" y="2057400"/>
            <a:ext cx="365760" cy="365760"/>
          </a:xfrm>
          <a:prstGeom prst="ellipse">
            <a:avLst/>
          </a:prstGeom>
          <a:solidFill>
            <a:srgbClr val="A78BFA"/>
          </a:solidFill>
          <a:ln/>
        </p:spPr>
      </p:sp>
      <p:sp>
        <p:nvSpPr>
          <p:cNvPr id="13" name="Text 11"/>
          <p:cNvSpPr/>
          <p:nvPr/>
        </p:nvSpPr>
        <p:spPr>
          <a:xfrm>
            <a:off x="2935224" y="2057400"/>
            <a:ext cx="365760" cy="365760"/>
          </a:xfrm>
          <a:prstGeom prst="rect">
            <a:avLst/>
          </a:prstGeom>
          <a:noFill/>
          <a:ln/>
        </p:spPr>
        <p:txBody>
          <a:bodyPr wrap="square" rtlCol="0" anchor="ctr"/>
          <a:lstStyle/>
          <a:p>
            <a:pPr algn="ctr" indent="0" marL="0">
              <a:buNone/>
            </a:pPr>
            <a:r>
              <a:rPr lang="en-US" sz="1300" b="1" dirty="0">
                <a:solidFill>
                  <a:srgbClr val="0B1524"/>
                </a:solidFill>
                <a:latin typeface="Segoe UI" pitchFamily="34" charset="0"/>
                <a:ea typeface="Segoe UI" pitchFamily="34" charset="-122"/>
                <a:cs typeface="Segoe UI" pitchFamily="34" charset="-120"/>
              </a:rPr>
              <a:t>2</a:t>
            </a:r>
            <a:endParaRPr lang="en-US" sz="1300" dirty="0"/>
          </a:p>
        </p:txBody>
      </p:sp>
      <p:sp>
        <p:nvSpPr>
          <p:cNvPr id="14" name="Text 12"/>
          <p:cNvSpPr/>
          <p:nvPr/>
        </p:nvSpPr>
        <p:spPr>
          <a:xfrm>
            <a:off x="2935224" y="2514600"/>
            <a:ext cx="1773936" cy="292608"/>
          </a:xfrm>
          <a:prstGeom prst="rect">
            <a:avLst/>
          </a:prstGeom>
          <a:noFill/>
          <a:ln/>
        </p:spPr>
        <p:txBody>
          <a:bodyPr wrap="square" lIns="0" tIns="0" rIns="0" bIns="0" rtlCol="0" anchor="ctr"/>
          <a:lstStyle/>
          <a:p>
            <a:pPr indent="0" marL="0">
              <a:buNone/>
            </a:pPr>
            <a:r>
              <a:rPr lang="en-US" sz="1350" b="1" dirty="0">
                <a:solidFill>
                  <a:srgbClr val="F1F6FC"/>
                </a:solidFill>
                <a:latin typeface="Segoe UI" pitchFamily="34" charset="0"/>
                <a:ea typeface="Segoe UI" pitchFamily="34" charset="-122"/>
                <a:cs typeface="Segoe UI" pitchFamily="34" charset="-120"/>
              </a:rPr>
              <a:t>Prioritise</a:t>
            </a:r>
            <a:endParaRPr lang="en-US" sz="1350" dirty="0"/>
          </a:p>
        </p:txBody>
      </p:sp>
      <p:sp>
        <p:nvSpPr>
          <p:cNvPr id="15" name="Text 13"/>
          <p:cNvSpPr/>
          <p:nvPr/>
        </p:nvSpPr>
        <p:spPr>
          <a:xfrm>
            <a:off x="2935224" y="2843784"/>
            <a:ext cx="1773936" cy="1170432"/>
          </a:xfrm>
          <a:prstGeom prst="rect">
            <a:avLst/>
          </a:prstGeom>
          <a:noFill/>
          <a:ln/>
        </p:spPr>
        <p:txBody>
          <a:bodyPr wrap="square" lIns="0" tIns="0" rIns="0" bIns="0" rtlCol="0" anchor="t"/>
          <a:lstStyle/>
          <a:p>
            <a:pPr indent="0" marL="0">
              <a:lnSpc>
                <a:spcPts val="1300"/>
              </a:lnSpc>
              <a:buNone/>
            </a:pPr>
            <a:r>
              <a:rPr lang="en-US" sz="1000" dirty="0">
                <a:solidFill>
                  <a:srgbClr val="9DB2C8"/>
                </a:solidFill>
                <a:latin typeface="Segoe UI" pitchFamily="34" charset="0"/>
                <a:ea typeface="Segoe UI" pitchFamily="34" charset="-122"/>
                <a:cs typeface="Segoe UI" pitchFamily="34" charset="-120"/>
              </a:rPr>
              <a:t>A logistic-regression risk model scores every task 0–100, with a transparent weighted rule engine as the declared fallback.</a:t>
            </a:r>
            <a:endParaRPr lang="en-US" sz="1000" dirty="0"/>
          </a:p>
        </p:txBody>
      </p:sp>
      <p:sp>
        <p:nvSpPr>
          <p:cNvPr id="16" name="Text 14"/>
          <p:cNvSpPr/>
          <p:nvPr/>
        </p:nvSpPr>
        <p:spPr>
          <a:xfrm>
            <a:off x="4892040" y="2880360"/>
            <a:ext cx="384048" cy="256032"/>
          </a:xfrm>
          <a:prstGeom prst="rect">
            <a:avLst/>
          </a:prstGeom>
          <a:noFill/>
          <a:ln/>
        </p:spPr>
        <p:txBody>
          <a:bodyPr wrap="square" rtlCol="0" anchor="ctr"/>
          <a:lstStyle/>
          <a:p>
            <a:pPr algn="ctr" indent="0" marL="0">
              <a:buNone/>
            </a:pPr>
            <a:r>
              <a:rPr lang="en-US" sz="1100" dirty="0">
                <a:solidFill>
                  <a:srgbClr val="6B819A"/>
                </a:solidFill>
                <a:latin typeface="Segoe UI" pitchFamily="34" charset="0"/>
                <a:ea typeface="Segoe UI" pitchFamily="34" charset="-122"/>
                <a:cs typeface="Segoe UI" pitchFamily="34" charset="-120"/>
              </a:rPr>
              <a:t>▶</a:t>
            </a:r>
            <a:endParaRPr lang="en-US" sz="1100" dirty="0"/>
          </a:p>
        </p:txBody>
      </p:sp>
      <p:sp>
        <p:nvSpPr>
          <p:cNvPr id="17" name="Shape 15"/>
          <p:cNvSpPr/>
          <p:nvPr/>
        </p:nvSpPr>
        <p:spPr>
          <a:xfrm>
            <a:off x="5038344" y="1874520"/>
            <a:ext cx="2103120" cy="2286000"/>
          </a:xfrm>
          <a:prstGeom prst="roundRect">
            <a:avLst>
              <a:gd name="adj" fmla="val 3478"/>
            </a:avLst>
          </a:prstGeom>
          <a:solidFill>
            <a:srgbClr val="132133"/>
          </a:solidFill>
          <a:ln w="12700">
            <a:solidFill>
              <a:srgbClr val="223449"/>
            </a:solidFill>
            <a:prstDash val="solid"/>
          </a:ln>
        </p:spPr>
      </p:sp>
      <p:sp>
        <p:nvSpPr>
          <p:cNvPr id="18" name="Shape 16"/>
          <p:cNvSpPr/>
          <p:nvPr/>
        </p:nvSpPr>
        <p:spPr>
          <a:xfrm>
            <a:off x="5202936" y="2057400"/>
            <a:ext cx="365760" cy="365760"/>
          </a:xfrm>
          <a:prstGeom prst="ellipse">
            <a:avLst/>
          </a:prstGeom>
          <a:solidFill>
            <a:srgbClr val="2DD4BF"/>
          </a:solidFill>
          <a:ln/>
        </p:spPr>
      </p:sp>
      <p:sp>
        <p:nvSpPr>
          <p:cNvPr id="19" name="Text 17"/>
          <p:cNvSpPr/>
          <p:nvPr/>
        </p:nvSpPr>
        <p:spPr>
          <a:xfrm>
            <a:off x="5202936" y="2057400"/>
            <a:ext cx="365760" cy="365760"/>
          </a:xfrm>
          <a:prstGeom prst="rect">
            <a:avLst/>
          </a:prstGeom>
          <a:noFill/>
          <a:ln/>
        </p:spPr>
        <p:txBody>
          <a:bodyPr wrap="square" rtlCol="0" anchor="ctr"/>
          <a:lstStyle/>
          <a:p>
            <a:pPr algn="ctr" indent="0" marL="0">
              <a:buNone/>
            </a:pPr>
            <a:r>
              <a:rPr lang="en-US" sz="1300" b="1" dirty="0">
                <a:solidFill>
                  <a:srgbClr val="0B1524"/>
                </a:solidFill>
                <a:latin typeface="Segoe UI" pitchFamily="34" charset="0"/>
                <a:ea typeface="Segoe UI" pitchFamily="34" charset="-122"/>
                <a:cs typeface="Segoe UI" pitchFamily="34" charset="-120"/>
              </a:rPr>
              <a:t>3</a:t>
            </a:r>
            <a:endParaRPr lang="en-US" sz="1300" dirty="0"/>
          </a:p>
        </p:txBody>
      </p:sp>
      <p:sp>
        <p:nvSpPr>
          <p:cNvPr id="20" name="Text 18"/>
          <p:cNvSpPr/>
          <p:nvPr/>
        </p:nvSpPr>
        <p:spPr>
          <a:xfrm>
            <a:off x="5202936" y="2514600"/>
            <a:ext cx="1773936" cy="292608"/>
          </a:xfrm>
          <a:prstGeom prst="rect">
            <a:avLst/>
          </a:prstGeom>
          <a:noFill/>
          <a:ln/>
        </p:spPr>
        <p:txBody>
          <a:bodyPr wrap="square" lIns="0" tIns="0" rIns="0" bIns="0" rtlCol="0" anchor="ctr"/>
          <a:lstStyle/>
          <a:p>
            <a:pPr indent="0" marL="0">
              <a:buNone/>
            </a:pPr>
            <a:r>
              <a:rPr lang="en-US" sz="1350" b="1" dirty="0">
                <a:solidFill>
                  <a:srgbClr val="F1F6FC"/>
                </a:solidFill>
                <a:latin typeface="Segoe UI" pitchFamily="34" charset="0"/>
                <a:ea typeface="Segoe UI" pitchFamily="34" charset="-122"/>
                <a:cs typeface="Segoe UI" pitchFamily="34" charset="-120"/>
              </a:rPr>
              <a:t>Find safe time</a:t>
            </a:r>
            <a:endParaRPr lang="en-US" sz="1350" dirty="0"/>
          </a:p>
        </p:txBody>
      </p:sp>
      <p:sp>
        <p:nvSpPr>
          <p:cNvPr id="21" name="Text 19"/>
          <p:cNvSpPr/>
          <p:nvPr/>
        </p:nvSpPr>
        <p:spPr>
          <a:xfrm>
            <a:off x="5202936" y="2843784"/>
            <a:ext cx="1773936" cy="1170432"/>
          </a:xfrm>
          <a:prstGeom prst="rect">
            <a:avLst/>
          </a:prstGeom>
          <a:noFill/>
          <a:ln/>
        </p:spPr>
        <p:txBody>
          <a:bodyPr wrap="square" lIns="0" tIns="0" rIns="0" bIns="0" rtlCol="0" anchor="t"/>
          <a:lstStyle/>
          <a:p>
            <a:pPr indent="0" marL="0">
              <a:lnSpc>
                <a:spcPts val="1300"/>
              </a:lnSpc>
              <a:buNone/>
            </a:pPr>
            <a:r>
              <a:rPr lang="en-US" sz="1000" dirty="0">
                <a:solidFill>
                  <a:srgbClr val="9DB2C8"/>
                </a:solidFill>
                <a:latin typeface="Segoe UI" pitchFamily="34" charset="0"/>
                <a:ea typeface="Segoe UI" pitchFamily="34" charset="-122"/>
                <a:cs typeface="Segoe UI" pitchFamily="34" charset="-120"/>
              </a:rPr>
              <a:t>Protected passenger movements plus a configurable buffer are cut out of every window; each rejection carries a reason code.</a:t>
            </a:r>
            <a:endParaRPr lang="en-US" sz="1000" dirty="0"/>
          </a:p>
        </p:txBody>
      </p:sp>
      <p:sp>
        <p:nvSpPr>
          <p:cNvPr id="22" name="Text 20"/>
          <p:cNvSpPr/>
          <p:nvPr/>
        </p:nvSpPr>
        <p:spPr>
          <a:xfrm>
            <a:off x="7159752" y="2880360"/>
            <a:ext cx="384048" cy="256032"/>
          </a:xfrm>
          <a:prstGeom prst="rect">
            <a:avLst/>
          </a:prstGeom>
          <a:noFill/>
          <a:ln/>
        </p:spPr>
        <p:txBody>
          <a:bodyPr wrap="square" rtlCol="0" anchor="ctr"/>
          <a:lstStyle/>
          <a:p>
            <a:pPr algn="ctr" indent="0" marL="0">
              <a:buNone/>
            </a:pPr>
            <a:r>
              <a:rPr lang="en-US" sz="1100" dirty="0">
                <a:solidFill>
                  <a:srgbClr val="6B819A"/>
                </a:solidFill>
                <a:latin typeface="Segoe UI" pitchFamily="34" charset="0"/>
                <a:ea typeface="Segoe UI" pitchFamily="34" charset="-122"/>
                <a:cs typeface="Segoe UI" pitchFamily="34" charset="-120"/>
              </a:rPr>
              <a:t>▶</a:t>
            </a:r>
            <a:endParaRPr lang="en-US" sz="1100" dirty="0"/>
          </a:p>
        </p:txBody>
      </p:sp>
      <p:sp>
        <p:nvSpPr>
          <p:cNvPr id="23" name="Shape 21"/>
          <p:cNvSpPr/>
          <p:nvPr/>
        </p:nvSpPr>
        <p:spPr>
          <a:xfrm>
            <a:off x="7306056" y="1874520"/>
            <a:ext cx="2103120" cy="2286000"/>
          </a:xfrm>
          <a:prstGeom prst="roundRect">
            <a:avLst>
              <a:gd name="adj" fmla="val 3478"/>
            </a:avLst>
          </a:prstGeom>
          <a:solidFill>
            <a:srgbClr val="132133"/>
          </a:solidFill>
          <a:ln w="12700">
            <a:solidFill>
              <a:srgbClr val="223449"/>
            </a:solidFill>
            <a:prstDash val="solid"/>
          </a:ln>
        </p:spPr>
      </p:sp>
      <p:sp>
        <p:nvSpPr>
          <p:cNvPr id="24" name="Shape 22"/>
          <p:cNvSpPr/>
          <p:nvPr/>
        </p:nvSpPr>
        <p:spPr>
          <a:xfrm>
            <a:off x="7470648" y="2057400"/>
            <a:ext cx="365760" cy="365760"/>
          </a:xfrm>
          <a:prstGeom prst="ellipse">
            <a:avLst/>
          </a:prstGeom>
          <a:solidFill>
            <a:srgbClr val="F0A93B"/>
          </a:solidFill>
          <a:ln/>
        </p:spPr>
      </p:sp>
      <p:sp>
        <p:nvSpPr>
          <p:cNvPr id="25" name="Text 23"/>
          <p:cNvSpPr/>
          <p:nvPr/>
        </p:nvSpPr>
        <p:spPr>
          <a:xfrm>
            <a:off x="7470648" y="2057400"/>
            <a:ext cx="365760" cy="365760"/>
          </a:xfrm>
          <a:prstGeom prst="rect">
            <a:avLst/>
          </a:prstGeom>
          <a:noFill/>
          <a:ln/>
        </p:spPr>
        <p:txBody>
          <a:bodyPr wrap="square" rtlCol="0" anchor="ctr"/>
          <a:lstStyle/>
          <a:p>
            <a:pPr algn="ctr" indent="0" marL="0">
              <a:buNone/>
            </a:pPr>
            <a:r>
              <a:rPr lang="en-US" sz="1300" b="1" dirty="0">
                <a:solidFill>
                  <a:srgbClr val="0B1524"/>
                </a:solidFill>
                <a:latin typeface="Segoe UI" pitchFamily="34" charset="0"/>
                <a:ea typeface="Segoe UI" pitchFamily="34" charset="-122"/>
                <a:cs typeface="Segoe UI" pitchFamily="34" charset="-120"/>
              </a:rPr>
              <a:t>4</a:t>
            </a:r>
            <a:endParaRPr lang="en-US" sz="1300" dirty="0"/>
          </a:p>
        </p:txBody>
      </p:sp>
      <p:sp>
        <p:nvSpPr>
          <p:cNvPr id="26" name="Text 24"/>
          <p:cNvSpPr/>
          <p:nvPr/>
        </p:nvSpPr>
        <p:spPr>
          <a:xfrm>
            <a:off x="7470648" y="2514600"/>
            <a:ext cx="1773936" cy="292608"/>
          </a:xfrm>
          <a:prstGeom prst="rect">
            <a:avLst/>
          </a:prstGeom>
          <a:noFill/>
          <a:ln/>
        </p:spPr>
        <p:txBody>
          <a:bodyPr wrap="square" lIns="0" tIns="0" rIns="0" bIns="0" rtlCol="0" anchor="ctr"/>
          <a:lstStyle/>
          <a:p>
            <a:pPr indent="0" marL="0">
              <a:buNone/>
            </a:pPr>
            <a:r>
              <a:rPr lang="en-US" sz="1350" b="1" dirty="0">
                <a:solidFill>
                  <a:srgbClr val="F1F6FC"/>
                </a:solidFill>
                <a:latin typeface="Segoe UI" pitchFamily="34" charset="0"/>
                <a:ea typeface="Segoe UI" pitchFamily="34" charset="-122"/>
                <a:cs typeface="Segoe UI" pitchFamily="34" charset="-120"/>
              </a:rPr>
              <a:t>Optimise</a:t>
            </a:r>
            <a:endParaRPr lang="en-US" sz="1350" dirty="0"/>
          </a:p>
        </p:txBody>
      </p:sp>
      <p:sp>
        <p:nvSpPr>
          <p:cNvPr id="27" name="Text 25"/>
          <p:cNvSpPr/>
          <p:nvPr/>
        </p:nvSpPr>
        <p:spPr>
          <a:xfrm>
            <a:off x="7470648" y="2843784"/>
            <a:ext cx="1773936" cy="1170432"/>
          </a:xfrm>
          <a:prstGeom prst="rect">
            <a:avLst/>
          </a:prstGeom>
          <a:noFill/>
          <a:ln/>
        </p:spPr>
        <p:txBody>
          <a:bodyPr wrap="square" lIns="0" tIns="0" rIns="0" bIns="0" rtlCol="0" anchor="t"/>
          <a:lstStyle/>
          <a:p>
            <a:pPr indent="0" marL="0">
              <a:lnSpc>
                <a:spcPts val="1300"/>
              </a:lnSpc>
              <a:buNone/>
            </a:pPr>
            <a:r>
              <a:rPr lang="en-US" sz="1000" dirty="0">
                <a:solidFill>
                  <a:srgbClr val="9DB2C8"/>
                </a:solidFill>
                <a:latin typeface="Segoe UI" pitchFamily="34" charset="0"/>
                <a:ea typeface="Segoe UI" pitchFamily="34" charset="-122"/>
                <a:cs typeface="Segoe UI" pitchFamily="34" charset="-120"/>
              </a:rPr>
              <a:t>A GLPK MILP picks which jobs go where and bundles compatible ENG/TRD/S&amp;T work into a single possession.</a:t>
            </a:r>
            <a:endParaRPr lang="en-US" sz="1000" dirty="0"/>
          </a:p>
        </p:txBody>
      </p:sp>
      <p:sp>
        <p:nvSpPr>
          <p:cNvPr id="28" name="Text 26"/>
          <p:cNvSpPr/>
          <p:nvPr/>
        </p:nvSpPr>
        <p:spPr>
          <a:xfrm>
            <a:off x="9427464" y="2880360"/>
            <a:ext cx="384048" cy="256032"/>
          </a:xfrm>
          <a:prstGeom prst="rect">
            <a:avLst/>
          </a:prstGeom>
          <a:noFill/>
          <a:ln/>
        </p:spPr>
        <p:txBody>
          <a:bodyPr wrap="square" rtlCol="0" anchor="ctr"/>
          <a:lstStyle/>
          <a:p>
            <a:pPr algn="ctr" indent="0" marL="0">
              <a:buNone/>
            </a:pPr>
            <a:r>
              <a:rPr lang="en-US" sz="1100" dirty="0">
                <a:solidFill>
                  <a:srgbClr val="6B819A"/>
                </a:solidFill>
                <a:latin typeface="Segoe UI" pitchFamily="34" charset="0"/>
                <a:ea typeface="Segoe UI" pitchFamily="34" charset="-122"/>
                <a:cs typeface="Segoe UI" pitchFamily="34" charset="-120"/>
              </a:rPr>
              <a:t>▶</a:t>
            </a:r>
            <a:endParaRPr lang="en-US" sz="1100" dirty="0"/>
          </a:p>
        </p:txBody>
      </p:sp>
      <p:sp>
        <p:nvSpPr>
          <p:cNvPr id="29" name="Shape 27"/>
          <p:cNvSpPr/>
          <p:nvPr/>
        </p:nvSpPr>
        <p:spPr>
          <a:xfrm>
            <a:off x="9573768" y="1874520"/>
            <a:ext cx="2103120" cy="2286000"/>
          </a:xfrm>
          <a:prstGeom prst="roundRect">
            <a:avLst>
              <a:gd name="adj" fmla="val 3478"/>
            </a:avLst>
          </a:prstGeom>
          <a:solidFill>
            <a:srgbClr val="132133"/>
          </a:solidFill>
          <a:ln w="12700">
            <a:solidFill>
              <a:srgbClr val="223449"/>
            </a:solidFill>
            <a:prstDash val="solid"/>
          </a:ln>
        </p:spPr>
      </p:sp>
      <p:sp>
        <p:nvSpPr>
          <p:cNvPr id="30" name="Shape 28"/>
          <p:cNvSpPr/>
          <p:nvPr/>
        </p:nvSpPr>
        <p:spPr>
          <a:xfrm>
            <a:off x="9738360" y="2057400"/>
            <a:ext cx="365760" cy="365760"/>
          </a:xfrm>
          <a:prstGeom prst="ellipse">
            <a:avLst/>
          </a:prstGeom>
          <a:solidFill>
            <a:srgbClr val="34D399"/>
          </a:solidFill>
          <a:ln/>
        </p:spPr>
      </p:sp>
      <p:sp>
        <p:nvSpPr>
          <p:cNvPr id="31" name="Text 29"/>
          <p:cNvSpPr/>
          <p:nvPr/>
        </p:nvSpPr>
        <p:spPr>
          <a:xfrm>
            <a:off x="9738360" y="2057400"/>
            <a:ext cx="365760" cy="365760"/>
          </a:xfrm>
          <a:prstGeom prst="rect">
            <a:avLst/>
          </a:prstGeom>
          <a:noFill/>
          <a:ln/>
        </p:spPr>
        <p:txBody>
          <a:bodyPr wrap="square" rtlCol="0" anchor="ctr"/>
          <a:lstStyle/>
          <a:p>
            <a:pPr algn="ctr" indent="0" marL="0">
              <a:buNone/>
            </a:pPr>
            <a:r>
              <a:rPr lang="en-US" sz="1300" b="1" dirty="0">
                <a:solidFill>
                  <a:srgbClr val="0B1524"/>
                </a:solidFill>
                <a:latin typeface="Segoe UI" pitchFamily="34" charset="0"/>
                <a:ea typeface="Segoe UI" pitchFamily="34" charset="-122"/>
                <a:cs typeface="Segoe UI" pitchFamily="34" charset="-120"/>
              </a:rPr>
              <a:t>5</a:t>
            </a:r>
            <a:endParaRPr lang="en-US" sz="1300" dirty="0"/>
          </a:p>
        </p:txBody>
      </p:sp>
      <p:sp>
        <p:nvSpPr>
          <p:cNvPr id="32" name="Text 30"/>
          <p:cNvSpPr/>
          <p:nvPr/>
        </p:nvSpPr>
        <p:spPr>
          <a:xfrm>
            <a:off x="9738360" y="2514600"/>
            <a:ext cx="1773936" cy="292608"/>
          </a:xfrm>
          <a:prstGeom prst="rect">
            <a:avLst/>
          </a:prstGeom>
          <a:noFill/>
          <a:ln/>
        </p:spPr>
        <p:txBody>
          <a:bodyPr wrap="square" lIns="0" tIns="0" rIns="0" bIns="0" rtlCol="0" anchor="ctr"/>
          <a:lstStyle/>
          <a:p>
            <a:pPr indent="0" marL="0">
              <a:buNone/>
            </a:pPr>
            <a:r>
              <a:rPr lang="en-US" sz="1350" b="1" dirty="0">
                <a:solidFill>
                  <a:srgbClr val="F1F6FC"/>
                </a:solidFill>
                <a:latin typeface="Segoe UI" pitchFamily="34" charset="0"/>
                <a:ea typeface="Segoe UI" pitchFamily="34" charset="-122"/>
                <a:cs typeface="Segoe UI" pitchFamily="34" charset="-120"/>
              </a:rPr>
              <a:t>Re-check</a:t>
            </a:r>
            <a:endParaRPr lang="en-US" sz="1350" dirty="0"/>
          </a:p>
        </p:txBody>
      </p:sp>
      <p:sp>
        <p:nvSpPr>
          <p:cNvPr id="33" name="Text 31"/>
          <p:cNvSpPr/>
          <p:nvPr/>
        </p:nvSpPr>
        <p:spPr>
          <a:xfrm>
            <a:off x="9738360" y="2843784"/>
            <a:ext cx="1773936" cy="1170432"/>
          </a:xfrm>
          <a:prstGeom prst="rect">
            <a:avLst/>
          </a:prstGeom>
          <a:noFill/>
          <a:ln/>
        </p:spPr>
        <p:txBody>
          <a:bodyPr wrap="square" lIns="0" tIns="0" rIns="0" bIns="0" rtlCol="0" anchor="t"/>
          <a:lstStyle/>
          <a:p>
            <a:pPr indent="0" marL="0">
              <a:lnSpc>
                <a:spcPts val="1300"/>
              </a:lnSpc>
              <a:buNone/>
            </a:pPr>
            <a:r>
              <a:rPr lang="en-US" sz="1000" dirty="0">
                <a:solidFill>
                  <a:srgbClr val="9DB2C8"/>
                </a:solidFill>
                <a:latin typeface="Segoe UI" pitchFamily="34" charset="0"/>
                <a:ea typeface="Segoe UI" pitchFamily="34" charset="-122"/>
                <a:cs typeface="Segoe UI" pitchFamily="34" charset="-120"/>
              </a:rPr>
              <a:t>An independent validator re-derives every rule and throws away an unsafe plan; the manual baseline runs on identical inputs.</a:t>
            </a:r>
            <a:endParaRPr lang="en-US" sz="1000" dirty="0"/>
          </a:p>
        </p:txBody>
      </p:sp>
      <p:sp>
        <p:nvSpPr>
          <p:cNvPr id="34" name="Shape 32"/>
          <p:cNvSpPr/>
          <p:nvPr/>
        </p:nvSpPr>
        <p:spPr>
          <a:xfrm>
            <a:off x="502920" y="4343400"/>
            <a:ext cx="5532120" cy="1463040"/>
          </a:xfrm>
          <a:prstGeom prst="roundRect">
            <a:avLst>
              <a:gd name="adj" fmla="val 5000"/>
            </a:avLst>
          </a:prstGeom>
          <a:solidFill>
            <a:srgbClr val="132133"/>
          </a:solidFill>
          <a:ln w="12700">
            <a:solidFill>
              <a:srgbClr val="223449"/>
            </a:solidFill>
            <a:prstDash val="solid"/>
          </a:ln>
        </p:spPr>
      </p:sp>
      <p:sp>
        <p:nvSpPr>
          <p:cNvPr id="35" name="Shape 33"/>
          <p:cNvSpPr/>
          <p:nvPr/>
        </p:nvSpPr>
        <p:spPr>
          <a:xfrm>
            <a:off x="502920" y="4526280"/>
            <a:ext cx="45720" cy="256032"/>
          </a:xfrm>
          <a:prstGeom prst="rect">
            <a:avLst/>
          </a:prstGeom>
          <a:solidFill>
            <a:srgbClr val="F0616D"/>
          </a:solidFill>
          <a:ln/>
        </p:spPr>
      </p:sp>
      <p:sp>
        <p:nvSpPr>
          <p:cNvPr id="36" name="Text 34"/>
          <p:cNvSpPr/>
          <p:nvPr/>
        </p:nvSpPr>
        <p:spPr>
          <a:xfrm>
            <a:off x="722376" y="4507992"/>
            <a:ext cx="5129784" cy="274320"/>
          </a:xfrm>
          <a:prstGeom prst="rect">
            <a:avLst/>
          </a:prstGeom>
          <a:noFill/>
          <a:ln/>
        </p:spPr>
        <p:txBody>
          <a:bodyPr wrap="square" lIns="0" tIns="0" rIns="0" bIns="0" rtlCol="0" anchor="ctr"/>
          <a:lstStyle/>
          <a:p>
            <a:pPr indent="0" marL="0">
              <a:buNone/>
            </a:pPr>
            <a:r>
              <a:rPr lang="en-US" sz="1350" b="1" dirty="0">
                <a:solidFill>
                  <a:srgbClr val="F1F6FC"/>
                </a:solidFill>
                <a:latin typeface="Segoe UI" pitchFamily="34" charset="0"/>
                <a:ea typeface="Segoe UI" pitchFamily="34" charset="-122"/>
                <a:cs typeface="Segoe UI" pitchFamily="34" charset="-120"/>
              </a:rPr>
              <a:t>Hard constraints, never relaxed</a:t>
            </a:r>
            <a:endParaRPr lang="en-US" sz="1350" dirty="0"/>
          </a:p>
        </p:txBody>
      </p:sp>
      <p:sp>
        <p:nvSpPr>
          <p:cNvPr id="37" name="Text 35"/>
          <p:cNvSpPr/>
          <p:nvPr/>
        </p:nvSpPr>
        <p:spPr>
          <a:xfrm>
            <a:off x="740664" y="4892040"/>
            <a:ext cx="5093208" cy="786384"/>
          </a:xfrm>
          <a:prstGeom prst="rect">
            <a:avLst/>
          </a:prstGeom>
          <a:noFill/>
          <a:ln/>
        </p:spPr>
        <p:txBody>
          <a:bodyPr wrap="square" lIns="0" tIns="0" rIns="0" bIns="0" rtlCol="0" anchor="t"/>
          <a:lstStyle/>
          <a:p>
            <a:pPr marL="342900" indent="-342900">
              <a:lnSpc>
                <a:spcPts val="1188"/>
              </a:lnSpc>
              <a:buSzPct val="100000"/>
              <a:buChar char="•"/>
            </a:pPr>
            <a:r>
              <a:rPr lang="en-US" sz="900" dirty="0">
                <a:solidFill>
                  <a:srgbClr val="9DB2C8"/>
                </a:solidFill>
                <a:latin typeface="Segoe UI" pitchFamily="34" charset="0"/>
                <a:ea typeface="Segoe UI" pitchFamily="34" charset="-122"/>
                <a:cs typeface="Segoe UI" pitchFamily="34" charset="-120"/>
              </a:rPr>
              <a:t>A block may never overlap a protected train path plus its safety buffer.</a:t>
            </a:r>
            <a:endParaRPr lang="en-US" sz="900" dirty="0"/>
          </a:p>
          <a:p>
            <a:pPr marL="342900" indent="-342900">
              <a:lnSpc>
                <a:spcPts val="1188"/>
              </a:lnSpc>
              <a:buSzPct val="100000"/>
              <a:buChar char="•"/>
            </a:pPr>
            <a:r>
              <a:rPr lang="en-US" sz="900" dirty="0">
                <a:solidFill>
                  <a:srgbClr val="9DB2C8"/>
                </a:solidFill>
                <a:latin typeface="Segoe UI" pitchFamily="34" charset="0"/>
                <a:ea typeface="Segoe UI" pitchFamily="34" charset="-122"/>
                <a:cs typeface="Segoe UI" pitchFamily="34" charset="-120"/>
              </a:rPr>
              <a:t>Traction work without power isolation, S&amp;T work without a disconnection: rejected.</a:t>
            </a:r>
            <a:endParaRPr lang="en-US" sz="900" dirty="0"/>
          </a:p>
          <a:p>
            <a:pPr marL="342900" indent="-342900">
              <a:lnSpc>
                <a:spcPts val="1188"/>
              </a:lnSpc>
              <a:buSzPct val="100000"/>
              <a:buChar char="•"/>
            </a:pPr>
            <a:r>
              <a:rPr lang="en-US" sz="900" dirty="0">
                <a:solidFill>
                  <a:srgbClr val="9DB2C8"/>
                </a:solidFill>
                <a:latin typeface="Segoe UI" pitchFamily="34" charset="0"/>
                <a:ea typeface="Segoe UI" pitchFamily="34" charset="-122"/>
                <a:cs typeface="Segoe UI" pitchFamily="34" charset="-120"/>
              </a:rPr>
              <a:t>A task that does not fit the window stays unscheduled, with its reason shown.</a:t>
            </a:r>
            <a:endParaRPr lang="en-US" sz="900" dirty="0"/>
          </a:p>
        </p:txBody>
      </p:sp>
      <p:sp>
        <p:nvSpPr>
          <p:cNvPr id="38" name="Shape 36"/>
          <p:cNvSpPr/>
          <p:nvPr/>
        </p:nvSpPr>
        <p:spPr>
          <a:xfrm>
            <a:off x="6190488" y="4343400"/>
            <a:ext cx="5532120" cy="1463040"/>
          </a:xfrm>
          <a:prstGeom prst="roundRect">
            <a:avLst>
              <a:gd name="adj" fmla="val 5000"/>
            </a:avLst>
          </a:prstGeom>
          <a:solidFill>
            <a:srgbClr val="132133"/>
          </a:solidFill>
          <a:ln w="12700">
            <a:solidFill>
              <a:srgbClr val="223449"/>
            </a:solidFill>
            <a:prstDash val="solid"/>
          </a:ln>
        </p:spPr>
      </p:sp>
      <p:sp>
        <p:nvSpPr>
          <p:cNvPr id="39" name="Shape 37"/>
          <p:cNvSpPr/>
          <p:nvPr/>
        </p:nvSpPr>
        <p:spPr>
          <a:xfrm>
            <a:off x="6190488" y="4526280"/>
            <a:ext cx="45720" cy="256032"/>
          </a:xfrm>
          <a:prstGeom prst="rect">
            <a:avLst/>
          </a:prstGeom>
          <a:solidFill>
            <a:srgbClr val="2DD4BF"/>
          </a:solidFill>
          <a:ln/>
        </p:spPr>
      </p:sp>
      <p:sp>
        <p:nvSpPr>
          <p:cNvPr id="40" name="Text 38"/>
          <p:cNvSpPr/>
          <p:nvPr/>
        </p:nvSpPr>
        <p:spPr>
          <a:xfrm>
            <a:off x="6409944" y="4507992"/>
            <a:ext cx="5129784" cy="274320"/>
          </a:xfrm>
          <a:prstGeom prst="rect">
            <a:avLst/>
          </a:prstGeom>
          <a:noFill/>
          <a:ln/>
        </p:spPr>
        <p:txBody>
          <a:bodyPr wrap="square" lIns="0" tIns="0" rIns="0" bIns="0" rtlCol="0" anchor="ctr"/>
          <a:lstStyle/>
          <a:p>
            <a:pPr indent="0" marL="0">
              <a:buNone/>
            </a:pPr>
            <a:r>
              <a:rPr lang="en-US" sz="1350" b="1" dirty="0">
                <a:solidFill>
                  <a:srgbClr val="F1F6FC"/>
                </a:solidFill>
                <a:latin typeface="Segoe UI" pitchFamily="34" charset="0"/>
                <a:ea typeface="Segoe UI" pitchFamily="34" charset="-122"/>
                <a:cs typeface="Segoe UI" pitchFamily="34" charset="-120"/>
              </a:rPr>
              <a:t>Answers a judge can check live</a:t>
            </a:r>
            <a:endParaRPr lang="en-US" sz="1350" dirty="0"/>
          </a:p>
        </p:txBody>
      </p:sp>
      <p:sp>
        <p:nvSpPr>
          <p:cNvPr id="41" name="Text 39"/>
          <p:cNvSpPr/>
          <p:nvPr/>
        </p:nvSpPr>
        <p:spPr>
          <a:xfrm>
            <a:off x="6428232" y="4892040"/>
            <a:ext cx="5093208" cy="786384"/>
          </a:xfrm>
          <a:prstGeom prst="rect">
            <a:avLst/>
          </a:prstGeom>
          <a:noFill/>
          <a:ln/>
        </p:spPr>
        <p:txBody>
          <a:bodyPr wrap="square" lIns="0" tIns="0" rIns="0" bIns="0" rtlCol="0" anchor="t"/>
          <a:lstStyle/>
          <a:p>
            <a:pPr marL="342900" indent="-342900">
              <a:lnSpc>
                <a:spcPts val="1122"/>
              </a:lnSpc>
              <a:buSzPct val="100000"/>
              <a:buChar char="•"/>
            </a:pPr>
            <a:r>
              <a:rPr lang="en-US" sz="850" dirty="0">
                <a:solidFill>
                  <a:srgbClr val="9DB2C8"/>
                </a:solidFill>
                <a:latin typeface="Segoe UI" pitchFamily="34" charset="0"/>
                <a:ea typeface="Segoe UI" pitchFamily="34" charset="-122"/>
                <a:cs typeface="Segoe UI" pitchFamily="34" charset="-120"/>
              </a:rPr>
              <a:t>Weights, train buffer and slot size each live in one config object — change one, re-run.</a:t>
            </a:r>
            <a:endParaRPr lang="en-US" sz="850" dirty="0"/>
          </a:p>
          <a:p>
            <a:pPr marL="342900" indent="-342900">
              <a:lnSpc>
                <a:spcPts val="1122"/>
              </a:lnSpc>
              <a:buSzPct val="100000"/>
              <a:buChar char="•"/>
            </a:pPr>
            <a:r>
              <a:rPr lang="en-US" sz="850" dirty="0">
                <a:solidFill>
                  <a:srgbClr val="9DB2C8"/>
                </a:solidFill>
                <a:latin typeface="Segoe UI" pitchFamily="34" charset="0"/>
                <a:ea typeface="Segoe UI" pitchFamily="34" charset="-122"/>
                <a:cs typeface="Segoe UI" pitchFamily="34" charset="-120"/>
              </a:rPr>
              <a:t>Every adapter is swappable (MOCK / JSON / REST) if a real feed is unavailable.</a:t>
            </a:r>
            <a:endParaRPr lang="en-US" sz="850" dirty="0"/>
          </a:p>
          <a:p>
            <a:pPr marL="342900" indent="-342900">
              <a:lnSpc>
                <a:spcPts val="1122"/>
              </a:lnSpc>
              <a:buSzPct val="100000"/>
              <a:buChar char="•"/>
            </a:pPr>
            <a:r>
              <a:rPr lang="en-US" sz="850" dirty="0">
                <a:solidFill>
                  <a:srgbClr val="9DB2C8"/>
                </a:solidFill>
                <a:latin typeface="Segoe UI" pitchFamily="34" charset="0"/>
                <a:ea typeface="Segoe UI" pitchFamily="34" charset="-122"/>
                <a:cs typeface="Segoe UI" pitchFamily="34" charset="-120"/>
              </a:rPr>
              <a:t>Solver status is reported as returned: OPTIMAL, FEASIBLE, FALLBACK_FEASIBLE, INFEASIBLE, FAILED.</a:t>
            </a:r>
            <a:endParaRPr lang="en-US" sz="85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819A"/>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84048"/>
            <a:ext cx="9144000" cy="237744"/>
          </a:xfrm>
          <a:prstGeom prst="rect">
            <a:avLst/>
          </a:prstGeom>
          <a:noFill/>
          <a:ln/>
        </p:spPr>
        <p:txBody>
          <a:bodyPr wrap="square" rtlCol="0" anchor="ctr"/>
          <a:lstStyle/>
          <a:p>
            <a:pPr indent="0" marL="0">
              <a:buNone/>
            </a:pPr>
            <a:r>
              <a:rPr lang="en-US" sz="1100" b="1" spc="160" kern="0" dirty="0">
                <a:solidFill>
                  <a:srgbClr val="3B9BE8"/>
                </a:solidFill>
                <a:latin typeface="Segoe UI" pitchFamily="34" charset="0"/>
                <a:ea typeface="Segoe UI" pitchFamily="34" charset="-122"/>
                <a:cs typeface="Segoe UI" pitchFamily="34" charset="-120"/>
              </a:rPr>
              <a:t>STEP 1 · INTEGRATION</a:t>
            </a:r>
            <a:endParaRPr lang="en-US" sz="1100" dirty="0"/>
          </a:p>
        </p:txBody>
      </p:sp>
      <p:sp>
        <p:nvSpPr>
          <p:cNvPr id="3" name="Text 1"/>
          <p:cNvSpPr/>
          <p:nvPr/>
        </p:nvSpPr>
        <p:spPr>
          <a:xfrm>
            <a:off x="502920" y="658368"/>
            <a:ext cx="11155680" cy="566928"/>
          </a:xfrm>
          <a:prstGeom prst="rect">
            <a:avLst/>
          </a:prstGeom>
          <a:noFill/>
          <a:ln/>
        </p:spPr>
        <p:txBody>
          <a:bodyPr wrap="square" rtlCol="0" anchor="ctr"/>
          <a:lstStyle/>
          <a:p>
            <a:pPr indent="0" marL="0">
              <a:buNone/>
            </a:pPr>
            <a:r>
              <a:rPr lang="en-US" sz="3000" b="1" dirty="0">
                <a:solidFill>
                  <a:srgbClr val="F1F6FC"/>
                </a:solidFill>
                <a:latin typeface="Segoe UI" pitchFamily="34" charset="0"/>
                <a:ea typeface="Segoe UI" pitchFamily="34" charset="-122"/>
                <a:cs typeface="Segoe UI" pitchFamily="34" charset="-120"/>
              </a:rPr>
              <a:t>All six required inputs, loaded and counted</a:t>
            </a:r>
            <a:endParaRPr lang="en-US" sz="3000" dirty="0"/>
          </a:p>
        </p:txBody>
      </p:sp>
      <p:sp>
        <p:nvSpPr>
          <p:cNvPr id="4" name="Text 2"/>
          <p:cNvSpPr/>
          <p:nvPr/>
        </p:nvSpPr>
        <p:spPr>
          <a:xfrm>
            <a:off x="502920" y="1280160"/>
            <a:ext cx="11155680" cy="365760"/>
          </a:xfrm>
          <a:prstGeom prst="rect">
            <a:avLst/>
          </a:prstGeom>
          <a:noFill/>
          <a:ln/>
        </p:spPr>
        <p:txBody>
          <a:bodyPr wrap="square" rtlCol="0" anchor="ctr"/>
          <a:lstStyle/>
          <a:p>
            <a:pPr indent="0" marL="0">
              <a:buNone/>
            </a:pPr>
            <a:r>
              <a:rPr lang="en-US" sz="1300" dirty="0">
                <a:solidFill>
                  <a:srgbClr val="9DB2C8"/>
                </a:solidFill>
                <a:latin typeface="Segoe UI" pitchFamily="34" charset="0"/>
                <a:ea typeface="Segoe UI" pitchFamily="34" charset="-122"/>
                <a:cs typeface="Segoe UI" pitchFamily="34" charset="-120"/>
              </a:rPr>
              <a:t>Each adapter validates, maps external section and asset codes onto canonical records, and upserts without duplication.</a:t>
            </a:r>
            <a:endParaRPr lang="en-US" sz="1300" dirty="0"/>
          </a:p>
        </p:txBody>
      </p:sp>
      <p:pic>
        <p:nvPicPr>
          <p:cNvPr id="5" name="Image 0" descr="D:\ai-block-planning\presentation\assets\sources.png">    </p:cNvPr>
          <p:cNvPicPr>
            <a:picLocks noChangeAspect="1"/>
          </p:cNvPicPr>
          <p:nvPr/>
        </p:nvPicPr>
        <p:blipFill>
          <a:blip r:embed="rId1"/>
          <a:stretch>
            <a:fillRect/>
          </a:stretch>
        </p:blipFill>
        <p:spPr>
          <a:xfrm>
            <a:off x="502920" y="1810512"/>
            <a:ext cx="5806440" cy="4032250"/>
          </a:xfrm>
          <a:prstGeom prst="rect">
            <a:avLst/>
          </a:prstGeom>
        </p:spPr>
      </p:pic>
      <p:sp>
        <p:nvSpPr>
          <p:cNvPr id="6" name="Shape 3"/>
          <p:cNvSpPr/>
          <p:nvPr/>
        </p:nvSpPr>
        <p:spPr>
          <a:xfrm>
            <a:off x="502920" y="1810512"/>
            <a:ext cx="5806440" cy="4032250"/>
          </a:xfrm>
          <a:prstGeom prst="rect">
            <a:avLst/>
          </a:prstGeom>
          <a:ln w="12700">
            <a:solidFill>
              <a:srgbClr val="223449"/>
            </a:solidFill>
            <a:prstDash val="solid"/>
          </a:ln>
        </p:spPr>
      </p:sp>
      <p:sp>
        <p:nvSpPr>
          <p:cNvPr id="7" name="Text 4"/>
          <p:cNvSpPr/>
          <p:nvPr/>
        </p:nvSpPr>
        <p:spPr>
          <a:xfrm>
            <a:off x="502920" y="5897626"/>
            <a:ext cx="5806440" cy="256032"/>
          </a:xfrm>
          <a:prstGeom prst="rect">
            <a:avLst/>
          </a:prstGeom>
          <a:noFill/>
          <a:ln/>
        </p:spPr>
        <p:txBody>
          <a:bodyPr wrap="square" rtlCol="0" anchor="ctr"/>
          <a:lstStyle/>
          <a:p>
            <a:pPr algn="ctr" indent="0" marL="0">
              <a:buNone/>
            </a:pPr>
            <a:r>
              <a:rPr lang="en-US" sz="950" i="1" dirty="0">
                <a:solidFill>
                  <a:srgbClr val="6B819A"/>
                </a:solidFill>
                <a:latin typeface="Segoe UI" pitchFamily="34" charset="0"/>
                <a:ea typeface="Segoe UI" pitchFamily="34" charset="-122"/>
                <a:cs typeface="Segoe UI" pitchFamily="34" charset="-120"/>
              </a:rPr>
              <a:t>Data sources — 6/6 sources current, 2,489 records, 0 requiring attention</a:t>
            </a:r>
            <a:endParaRPr lang="en-US" sz="950" dirty="0"/>
          </a:p>
        </p:txBody>
      </p:sp>
      <p:sp>
        <p:nvSpPr>
          <p:cNvPr id="8" name="Shape 5"/>
          <p:cNvSpPr/>
          <p:nvPr/>
        </p:nvSpPr>
        <p:spPr>
          <a:xfrm>
            <a:off x="6537960" y="1810512"/>
            <a:ext cx="5184648" cy="2880360"/>
          </a:xfrm>
          <a:prstGeom prst="roundRect">
            <a:avLst>
              <a:gd name="adj" fmla="val 2540"/>
            </a:avLst>
          </a:prstGeom>
          <a:solidFill>
            <a:srgbClr val="132133"/>
          </a:solidFill>
          <a:ln w="12700">
            <a:solidFill>
              <a:srgbClr val="223449"/>
            </a:solidFill>
            <a:prstDash val="solid"/>
          </a:ln>
        </p:spPr>
      </p:sp>
      <p:sp>
        <p:nvSpPr>
          <p:cNvPr id="9" name="Text 6"/>
          <p:cNvSpPr/>
          <p:nvPr/>
        </p:nvSpPr>
        <p:spPr>
          <a:xfrm>
            <a:off x="6766560" y="1947672"/>
            <a:ext cx="4727448" cy="237744"/>
          </a:xfrm>
          <a:prstGeom prst="rect">
            <a:avLst/>
          </a:prstGeom>
          <a:noFill/>
          <a:ln/>
        </p:spPr>
        <p:txBody>
          <a:bodyPr wrap="square" lIns="0" tIns="0" rIns="0" bIns="0" rtlCol="0" anchor="ctr"/>
          <a:lstStyle/>
          <a:p>
            <a:pPr indent="0" marL="0">
              <a:buNone/>
            </a:pPr>
            <a:r>
              <a:rPr lang="en-US" sz="1000" b="1" spc="120" kern="0" dirty="0">
                <a:solidFill>
                  <a:srgbClr val="6B819A"/>
                </a:solidFill>
                <a:latin typeface="Segoe UI" pitchFamily="34" charset="0"/>
                <a:ea typeface="Segoe UI" pitchFamily="34" charset="-122"/>
                <a:cs typeface="Segoe UI" pitchFamily="34" charset="-120"/>
              </a:rPr>
              <a:t>RECORDS LOADED</a:t>
            </a:r>
            <a:endParaRPr lang="en-US" sz="1000" dirty="0"/>
          </a:p>
        </p:txBody>
      </p:sp>
      <p:sp>
        <p:nvSpPr>
          <p:cNvPr id="10" name="Shape 7"/>
          <p:cNvSpPr/>
          <p:nvPr/>
        </p:nvSpPr>
        <p:spPr>
          <a:xfrm>
            <a:off x="6766560" y="2340864"/>
            <a:ext cx="45720" cy="274320"/>
          </a:xfrm>
          <a:prstGeom prst="rect">
            <a:avLst/>
          </a:prstGeom>
          <a:solidFill>
            <a:srgbClr val="3B9BE8"/>
          </a:solidFill>
          <a:ln/>
        </p:spPr>
      </p:sp>
      <p:sp>
        <p:nvSpPr>
          <p:cNvPr id="11" name="Text 8"/>
          <p:cNvSpPr/>
          <p:nvPr/>
        </p:nvSpPr>
        <p:spPr>
          <a:xfrm>
            <a:off x="6922008" y="2313432"/>
            <a:ext cx="2377440" cy="182880"/>
          </a:xfrm>
          <a:prstGeom prst="rect">
            <a:avLst/>
          </a:prstGeom>
          <a:noFill/>
          <a:ln/>
        </p:spPr>
        <p:txBody>
          <a:bodyPr wrap="square" lIns="0" tIns="0" rIns="0" bIns="0" rtlCol="0" anchor="ctr"/>
          <a:lstStyle/>
          <a:p>
            <a:pPr indent="0" marL="0">
              <a:buNone/>
            </a:pPr>
            <a:r>
              <a:rPr lang="en-US" sz="1050" b="1" dirty="0">
                <a:solidFill>
                  <a:srgbClr val="F1F6FC"/>
                </a:solidFill>
                <a:latin typeface="Segoe UI" pitchFamily="34" charset="0"/>
                <a:ea typeface="Segoe UI" pitchFamily="34" charset="-122"/>
                <a:cs typeface="Segoe UI" pitchFamily="34" charset="-120"/>
              </a:rPr>
              <a:t>TMS</a:t>
            </a:r>
            <a:endParaRPr lang="en-US" sz="1050" dirty="0"/>
          </a:p>
        </p:txBody>
      </p:sp>
      <p:sp>
        <p:nvSpPr>
          <p:cNvPr id="12" name="Text 9"/>
          <p:cNvSpPr/>
          <p:nvPr/>
        </p:nvSpPr>
        <p:spPr>
          <a:xfrm>
            <a:off x="6922008" y="2478024"/>
            <a:ext cx="2834640" cy="164592"/>
          </a:xfrm>
          <a:prstGeom prst="rect">
            <a:avLst/>
          </a:prstGeom>
          <a:noFill/>
          <a:ln/>
        </p:spPr>
        <p:txBody>
          <a:bodyPr wrap="square" lIns="0" tIns="0" rIns="0" bIns="0" rtlCol="0" anchor="ctr"/>
          <a:lstStyle/>
          <a:p>
            <a:pPr indent="0" marL="0">
              <a:buNone/>
            </a:pPr>
            <a:r>
              <a:rPr lang="en-US" sz="800" dirty="0">
                <a:solidFill>
                  <a:srgbClr val="6B819A"/>
                </a:solidFill>
                <a:latin typeface="Segoe UI" pitchFamily="34" charset="0"/>
                <a:ea typeface="Segoe UI" pitchFamily="34" charset="-122"/>
                <a:cs typeface="Segoe UI" pitchFamily="34" charset="-120"/>
              </a:rPr>
              <a:t>Track Management System</a:t>
            </a:r>
            <a:endParaRPr lang="en-US" sz="800" dirty="0"/>
          </a:p>
        </p:txBody>
      </p:sp>
      <p:sp>
        <p:nvSpPr>
          <p:cNvPr id="13" name="Text 10"/>
          <p:cNvSpPr/>
          <p:nvPr/>
        </p:nvSpPr>
        <p:spPr>
          <a:xfrm>
            <a:off x="9829800" y="2331720"/>
            <a:ext cx="1645920" cy="256032"/>
          </a:xfrm>
          <a:prstGeom prst="rect">
            <a:avLst/>
          </a:prstGeom>
          <a:noFill/>
          <a:ln/>
        </p:spPr>
        <p:txBody>
          <a:bodyPr wrap="square" lIns="0" tIns="0" rIns="0" bIns="0" rtlCol="0" anchor="ctr"/>
          <a:lstStyle/>
          <a:p>
            <a:pPr algn="r" indent="0" marL="0">
              <a:buNone/>
            </a:pPr>
            <a:r>
              <a:rPr lang="en-US" sz="1250" b="1" dirty="0">
                <a:solidFill>
                  <a:srgbClr val="3B9BE8"/>
                </a:solidFill>
                <a:latin typeface="Segoe UI" pitchFamily="34" charset="0"/>
                <a:ea typeface="Segoe UI" pitchFamily="34" charset="-122"/>
                <a:cs typeface="Segoe UI" pitchFamily="34" charset="-120"/>
              </a:rPr>
              <a:t>68</a:t>
            </a:r>
            <a:endParaRPr lang="en-US" sz="1250" dirty="0"/>
          </a:p>
        </p:txBody>
      </p:sp>
      <p:sp>
        <p:nvSpPr>
          <p:cNvPr id="14" name="Shape 11"/>
          <p:cNvSpPr/>
          <p:nvPr/>
        </p:nvSpPr>
        <p:spPr>
          <a:xfrm>
            <a:off x="6766560" y="2724912"/>
            <a:ext cx="45720" cy="274320"/>
          </a:xfrm>
          <a:prstGeom prst="rect">
            <a:avLst/>
          </a:prstGeom>
          <a:solidFill>
            <a:srgbClr val="A78BFA"/>
          </a:solidFill>
          <a:ln/>
        </p:spPr>
      </p:sp>
      <p:sp>
        <p:nvSpPr>
          <p:cNvPr id="15" name="Text 12"/>
          <p:cNvSpPr/>
          <p:nvPr/>
        </p:nvSpPr>
        <p:spPr>
          <a:xfrm>
            <a:off x="6922008" y="2697480"/>
            <a:ext cx="2377440" cy="182880"/>
          </a:xfrm>
          <a:prstGeom prst="rect">
            <a:avLst/>
          </a:prstGeom>
          <a:noFill/>
          <a:ln/>
        </p:spPr>
        <p:txBody>
          <a:bodyPr wrap="square" lIns="0" tIns="0" rIns="0" bIns="0" rtlCol="0" anchor="ctr"/>
          <a:lstStyle/>
          <a:p>
            <a:pPr indent="0" marL="0">
              <a:buNone/>
            </a:pPr>
            <a:r>
              <a:rPr lang="en-US" sz="1050" b="1" dirty="0">
                <a:solidFill>
                  <a:srgbClr val="F1F6FC"/>
                </a:solidFill>
                <a:latin typeface="Segoe UI" pitchFamily="34" charset="0"/>
                <a:ea typeface="Segoe UI" pitchFamily="34" charset="-122"/>
                <a:cs typeface="Segoe UI" pitchFamily="34" charset="-120"/>
              </a:rPr>
              <a:t>SMMS</a:t>
            </a:r>
            <a:endParaRPr lang="en-US" sz="1050" dirty="0"/>
          </a:p>
        </p:txBody>
      </p:sp>
      <p:sp>
        <p:nvSpPr>
          <p:cNvPr id="16" name="Text 13"/>
          <p:cNvSpPr/>
          <p:nvPr/>
        </p:nvSpPr>
        <p:spPr>
          <a:xfrm>
            <a:off x="6922008" y="2862072"/>
            <a:ext cx="2834640" cy="164592"/>
          </a:xfrm>
          <a:prstGeom prst="rect">
            <a:avLst/>
          </a:prstGeom>
          <a:noFill/>
          <a:ln/>
        </p:spPr>
        <p:txBody>
          <a:bodyPr wrap="square" lIns="0" tIns="0" rIns="0" bIns="0" rtlCol="0" anchor="ctr"/>
          <a:lstStyle/>
          <a:p>
            <a:pPr indent="0" marL="0">
              <a:buNone/>
            </a:pPr>
            <a:r>
              <a:rPr lang="en-US" sz="800" dirty="0">
                <a:solidFill>
                  <a:srgbClr val="6B819A"/>
                </a:solidFill>
                <a:latin typeface="Segoe UI" pitchFamily="34" charset="0"/>
                <a:ea typeface="Segoe UI" pitchFamily="34" charset="-122"/>
                <a:cs typeface="Segoe UI" pitchFamily="34" charset="-120"/>
              </a:rPr>
              <a:t>Signalling Maintenance &amp; Mgmt</a:t>
            </a:r>
            <a:endParaRPr lang="en-US" sz="800" dirty="0"/>
          </a:p>
        </p:txBody>
      </p:sp>
      <p:sp>
        <p:nvSpPr>
          <p:cNvPr id="17" name="Text 14"/>
          <p:cNvSpPr/>
          <p:nvPr/>
        </p:nvSpPr>
        <p:spPr>
          <a:xfrm>
            <a:off x="9829800" y="2715768"/>
            <a:ext cx="1645920" cy="256032"/>
          </a:xfrm>
          <a:prstGeom prst="rect">
            <a:avLst/>
          </a:prstGeom>
          <a:noFill/>
          <a:ln/>
        </p:spPr>
        <p:txBody>
          <a:bodyPr wrap="square" lIns="0" tIns="0" rIns="0" bIns="0" rtlCol="0" anchor="ctr"/>
          <a:lstStyle/>
          <a:p>
            <a:pPr algn="r" indent="0" marL="0">
              <a:buNone/>
            </a:pPr>
            <a:r>
              <a:rPr lang="en-US" sz="1250" b="1" dirty="0">
                <a:solidFill>
                  <a:srgbClr val="A78BFA"/>
                </a:solidFill>
                <a:latin typeface="Segoe UI" pitchFamily="34" charset="0"/>
                <a:ea typeface="Segoe UI" pitchFamily="34" charset="-122"/>
                <a:cs typeface="Segoe UI" pitchFamily="34" charset="-120"/>
              </a:rPr>
              <a:t>60</a:t>
            </a:r>
            <a:endParaRPr lang="en-US" sz="1250" dirty="0"/>
          </a:p>
        </p:txBody>
      </p:sp>
      <p:sp>
        <p:nvSpPr>
          <p:cNvPr id="18" name="Shape 15"/>
          <p:cNvSpPr/>
          <p:nvPr/>
        </p:nvSpPr>
        <p:spPr>
          <a:xfrm>
            <a:off x="6766560" y="3108960"/>
            <a:ext cx="45720" cy="274320"/>
          </a:xfrm>
          <a:prstGeom prst="rect">
            <a:avLst/>
          </a:prstGeom>
          <a:solidFill>
            <a:srgbClr val="F0A93B"/>
          </a:solidFill>
          <a:ln/>
        </p:spPr>
      </p:sp>
      <p:sp>
        <p:nvSpPr>
          <p:cNvPr id="19" name="Text 16"/>
          <p:cNvSpPr/>
          <p:nvPr/>
        </p:nvSpPr>
        <p:spPr>
          <a:xfrm>
            <a:off x="6922008" y="3081528"/>
            <a:ext cx="2377440" cy="182880"/>
          </a:xfrm>
          <a:prstGeom prst="rect">
            <a:avLst/>
          </a:prstGeom>
          <a:noFill/>
          <a:ln/>
        </p:spPr>
        <p:txBody>
          <a:bodyPr wrap="square" lIns="0" tIns="0" rIns="0" bIns="0" rtlCol="0" anchor="ctr"/>
          <a:lstStyle/>
          <a:p>
            <a:pPr indent="0" marL="0">
              <a:buNone/>
            </a:pPr>
            <a:r>
              <a:rPr lang="en-US" sz="1050" b="1" dirty="0">
                <a:solidFill>
                  <a:srgbClr val="F1F6FC"/>
                </a:solidFill>
                <a:latin typeface="Segoe UI" pitchFamily="34" charset="0"/>
                <a:ea typeface="Segoe UI" pitchFamily="34" charset="-122"/>
                <a:cs typeface="Segoe UI" pitchFamily="34" charset="-120"/>
              </a:rPr>
              <a:t>TDMS</a:t>
            </a:r>
            <a:endParaRPr lang="en-US" sz="1050" dirty="0"/>
          </a:p>
        </p:txBody>
      </p:sp>
      <p:sp>
        <p:nvSpPr>
          <p:cNvPr id="20" name="Text 17"/>
          <p:cNvSpPr/>
          <p:nvPr/>
        </p:nvSpPr>
        <p:spPr>
          <a:xfrm>
            <a:off x="6922008" y="3246120"/>
            <a:ext cx="2834640" cy="164592"/>
          </a:xfrm>
          <a:prstGeom prst="rect">
            <a:avLst/>
          </a:prstGeom>
          <a:noFill/>
          <a:ln/>
        </p:spPr>
        <p:txBody>
          <a:bodyPr wrap="square" lIns="0" tIns="0" rIns="0" bIns="0" rtlCol="0" anchor="ctr"/>
          <a:lstStyle/>
          <a:p>
            <a:pPr indent="0" marL="0">
              <a:buNone/>
            </a:pPr>
            <a:r>
              <a:rPr lang="en-US" sz="800" dirty="0">
                <a:solidFill>
                  <a:srgbClr val="6B819A"/>
                </a:solidFill>
                <a:latin typeface="Segoe UI" pitchFamily="34" charset="0"/>
                <a:ea typeface="Segoe UI" pitchFamily="34" charset="-122"/>
                <a:cs typeface="Segoe UI" pitchFamily="34" charset="-120"/>
              </a:rPr>
              <a:t>Traction Distribution Mgmt</a:t>
            </a:r>
            <a:endParaRPr lang="en-US" sz="800" dirty="0"/>
          </a:p>
        </p:txBody>
      </p:sp>
      <p:sp>
        <p:nvSpPr>
          <p:cNvPr id="21" name="Text 18"/>
          <p:cNvSpPr/>
          <p:nvPr/>
        </p:nvSpPr>
        <p:spPr>
          <a:xfrm>
            <a:off x="9829800" y="3099816"/>
            <a:ext cx="1645920" cy="256032"/>
          </a:xfrm>
          <a:prstGeom prst="rect">
            <a:avLst/>
          </a:prstGeom>
          <a:noFill/>
          <a:ln/>
        </p:spPr>
        <p:txBody>
          <a:bodyPr wrap="square" lIns="0" tIns="0" rIns="0" bIns="0" rtlCol="0" anchor="ctr"/>
          <a:lstStyle/>
          <a:p>
            <a:pPr algn="r" indent="0" marL="0">
              <a:buNone/>
            </a:pPr>
            <a:r>
              <a:rPr lang="en-US" sz="1250" b="1" dirty="0">
                <a:solidFill>
                  <a:srgbClr val="F0A93B"/>
                </a:solidFill>
                <a:latin typeface="Segoe UI" pitchFamily="34" charset="0"/>
                <a:ea typeface="Segoe UI" pitchFamily="34" charset="-122"/>
                <a:cs typeface="Segoe UI" pitchFamily="34" charset="-120"/>
              </a:rPr>
              <a:t>59</a:t>
            </a:r>
            <a:endParaRPr lang="en-US" sz="1250" dirty="0"/>
          </a:p>
        </p:txBody>
      </p:sp>
      <p:sp>
        <p:nvSpPr>
          <p:cNvPr id="22" name="Shape 19"/>
          <p:cNvSpPr/>
          <p:nvPr/>
        </p:nvSpPr>
        <p:spPr>
          <a:xfrm>
            <a:off x="6766560" y="3493008"/>
            <a:ext cx="45720" cy="274320"/>
          </a:xfrm>
          <a:prstGeom prst="rect">
            <a:avLst/>
          </a:prstGeom>
          <a:solidFill>
            <a:srgbClr val="2DD4BF"/>
          </a:solidFill>
          <a:ln/>
        </p:spPr>
      </p:sp>
      <p:sp>
        <p:nvSpPr>
          <p:cNvPr id="23" name="Text 20"/>
          <p:cNvSpPr/>
          <p:nvPr/>
        </p:nvSpPr>
        <p:spPr>
          <a:xfrm>
            <a:off x="6922008" y="3465576"/>
            <a:ext cx="2377440" cy="182880"/>
          </a:xfrm>
          <a:prstGeom prst="rect">
            <a:avLst/>
          </a:prstGeom>
          <a:noFill/>
          <a:ln/>
        </p:spPr>
        <p:txBody>
          <a:bodyPr wrap="square" lIns="0" tIns="0" rIns="0" bIns="0" rtlCol="0" anchor="ctr"/>
          <a:lstStyle/>
          <a:p>
            <a:pPr indent="0" marL="0">
              <a:buNone/>
            </a:pPr>
            <a:r>
              <a:rPr lang="en-US" sz="1050" b="1" dirty="0">
                <a:solidFill>
                  <a:srgbClr val="F1F6FC"/>
                </a:solidFill>
                <a:latin typeface="Segoe UI" pitchFamily="34" charset="0"/>
                <a:ea typeface="Segoe UI" pitchFamily="34" charset="-122"/>
                <a:cs typeface="Segoe UI" pitchFamily="34" charset="-120"/>
              </a:rPr>
              <a:t>COA</a:t>
            </a:r>
            <a:endParaRPr lang="en-US" sz="1050" dirty="0"/>
          </a:p>
        </p:txBody>
      </p:sp>
      <p:sp>
        <p:nvSpPr>
          <p:cNvPr id="24" name="Text 21"/>
          <p:cNvSpPr/>
          <p:nvPr/>
        </p:nvSpPr>
        <p:spPr>
          <a:xfrm>
            <a:off x="6922008" y="3630168"/>
            <a:ext cx="2834640" cy="164592"/>
          </a:xfrm>
          <a:prstGeom prst="rect">
            <a:avLst/>
          </a:prstGeom>
          <a:noFill/>
          <a:ln/>
        </p:spPr>
        <p:txBody>
          <a:bodyPr wrap="square" lIns="0" tIns="0" rIns="0" bIns="0" rtlCol="0" anchor="ctr"/>
          <a:lstStyle/>
          <a:p>
            <a:pPr indent="0" marL="0">
              <a:buNone/>
            </a:pPr>
            <a:r>
              <a:rPr lang="en-US" sz="800" dirty="0">
                <a:solidFill>
                  <a:srgbClr val="6B819A"/>
                </a:solidFill>
                <a:latin typeface="Segoe UI" pitchFamily="34" charset="0"/>
                <a:ea typeface="Segoe UI" pitchFamily="34" charset="-122"/>
                <a:cs typeface="Segoe UI" pitchFamily="34" charset="-120"/>
              </a:rPr>
              <a:t>Control Office Application</a:t>
            </a:r>
            <a:endParaRPr lang="en-US" sz="800" dirty="0"/>
          </a:p>
        </p:txBody>
      </p:sp>
      <p:sp>
        <p:nvSpPr>
          <p:cNvPr id="25" name="Text 22"/>
          <p:cNvSpPr/>
          <p:nvPr/>
        </p:nvSpPr>
        <p:spPr>
          <a:xfrm>
            <a:off x="9829800" y="3483864"/>
            <a:ext cx="1645920" cy="256032"/>
          </a:xfrm>
          <a:prstGeom prst="rect">
            <a:avLst/>
          </a:prstGeom>
          <a:noFill/>
          <a:ln/>
        </p:spPr>
        <p:txBody>
          <a:bodyPr wrap="square" lIns="0" tIns="0" rIns="0" bIns="0" rtlCol="0" anchor="ctr"/>
          <a:lstStyle/>
          <a:p>
            <a:pPr algn="r" indent="0" marL="0">
              <a:buNone/>
            </a:pPr>
            <a:r>
              <a:rPr lang="en-US" sz="1250" b="1" dirty="0">
                <a:solidFill>
                  <a:srgbClr val="2DD4BF"/>
                </a:solidFill>
                <a:latin typeface="Segoe UI" pitchFamily="34" charset="0"/>
                <a:ea typeface="Segoe UI" pitchFamily="34" charset="-122"/>
                <a:cs typeface="Segoe UI" pitchFamily="34" charset="-120"/>
              </a:rPr>
              <a:t>315</a:t>
            </a:r>
            <a:endParaRPr lang="en-US" sz="1250" dirty="0"/>
          </a:p>
        </p:txBody>
      </p:sp>
      <p:sp>
        <p:nvSpPr>
          <p:cNvPr id="26" name="Shape 23"/>
          <p:cNvSpPr/>
          <p:nvPr/>
        </p:nvSpPr>
        <p:spPr>
          <a:xfrm>
            <a:off x="6766560" y="3877056"/>
            <a:ext cx="45720" cy="274320"/>
          </a:xfrm>
          <a:prstGeom prst="rect">
            <a:avLst/>
          </a:prstGeom>
          <a:solidFill>
            <a:srgbClr val="34D399"/>
          </a:solidFill>
          <a:ln/>
        </p:spPr>
      </p:sp>
      <p:sp>
        <p:nvSpPr>
          <p:cNvPr id="27" name="Text 24"/>
          <p:cNvSpPr/>
          <p:nvPr/>
        </p:nvSpPr>
        <p:spPr>
          <a:xfrm>
            <a:off x="6922008" y="3849624"/>
            <a:ext cx="2377440" cy="182880"/>
          </a:xfrm>
          <a:prstGeom prst="rect">
            <a:avLst/>
          </a:prstGeom>
          <a:noFill/>
          <a:ln/>
        </p:spPr>
        <p:txBody>
          <a:bodyPr wrap="square" lIns="0" tIns="0" rIns="0" bIns="0" rtlCol="0" anchor="ctr"/>
          <a:lstStyle/>
          <a:p>
            <a:pPr indent="0" marL="0">
              <a:buNone/>
            </a:pPr>
            <a:r>
              <a:rPr lang="en-US" sz="1050" b="1" dirty="0">
                <a:solidFill>
                  <a:srgbClr val="F1F6FC"/>
                </a:solidFill>
                <a:latin typeface="Segoe UI" pitchFamily="34" charset="0"/>
                <a:ea typeface="Segoe UI" pitchFamily="34" charset="-122"/>
                <a:cs typeface="Segoe UI" pitchFamily="34" charset="-120"/>
              </a:rPr>
              <a:t>TIMETABLE</a:t>
            </a:r>
            <a:endParaRPr lang="en-US" sz="1050" dirty="0"/>
          </a:p>
        </p:txBody>
      </p:sp>
      <p:sp>
        <p:nvSpPr>
          <p:cNvPr id="28" name="Text 25"/>
          <p:cNvSpPr/>
          <p:nvPr/>
        </p:nvSpPr>
        <p:spPr>
          <a:xfrm>
            <a:off x="6922008" y="4014216"/>
            <a:ext cx="2834640" cy="164592"/>
          </a:xfrm>
          <a:prstGeom prst="rect">
            <a:avLst/>
          </a:prstGeom>
          <a:noFill/>
          <a:ln/>
        </p:spPr>
        <p:txBody>
          <a:bodyPr wrap="square" lIns="0" tIns="0" rIns="0" bIns="0" rtlCol="0" anchor="ctr"/>
          <a:lstStyle/>
          <a:p>
            <a:pPr indent="0" marL="0">
              <a:buNone/>
            </a:pPr>
            <a:r>
              <a:rPr lang="en-US" sz="800" dirty="0">
                <a:solidFill>
                  <a:srgbClr val="6B819A"/>
                </a:solidFill>
                <a:latin typeface="Segoe UI" pitchFamily="34" charset="0"/>
                <a:ea typeface="Segoe UI" pitchFamily="34" charset="-122"/>
                <a:cs typeface="Segoe UI" pitchFamily="34" charset="-120"/>
              </a:rPr>
              <a:t>Train Time Table</a:t>
            </a:r>
            <a:endParaRPr lang="en-US" sz="800" dirty="0"/>
          </a:p>
        </p:txBody>
      </p:sp>
      <p:sp>
        <p:nvSpPr>
          <p:cNvPr id="29" name="Text 26"/>
          <p:cNvSpPr/>
          <p:nvPr/>
        </p:nvSpPr>
        <p:spPr>
          <a:xfrm>
            <a:off x="9829800" y="3867912"/>
            <a:ext cx="1645920" cy="256032"/>
          </a:xfrm>
          <a:prstGeom prst="rect">
            <a:avLst/>
          </a:prstGeom>
          <a:noFill/>
          <a:ln/>
        </p:spPr>
        <p:txBody>
          <a:bodyPr wrap="square" lIns="0" tIns="0" rIns="0" bIns="0" rtlCol="0" anchor="ctr"/>
          <a:lstStyle/>
          <a:p>
            <a:pPr algn="r" indent="0" marL="0">
              <a:buNone/>
            </a:pPr>
            <a:r>
              <a:rPr lang="en-US" sz="1250" b="1" dirty="0">
                <a:solidFill>
                  <a:srgbClr val="34D399"/>
                </a:solidFill>
                <a:latin typeface="Segoe UI" pitchFamily="34" charset="0"/>
                <a:ea typeface="Segoe UI" pitchFamily="34" charset="-122"/>
                <a:cs typeface="Segoe UI" pitchFamily="34" charset="-120"/>
              </a:rPr>
              <a:t>1,007</a:t>
            </a:r>
            <a:endParaRPr lang="en-US" sz="1250" dirty="0"/>
          </a:p>
        </p:txBody>
      </p:sp>
      <p:sp>
        <p:nvSpPr>
          <p:cNvPr id="30" name="Shape 27"/>
          <p:cNvSpPr/>
          <p:nvPr/>
        </p:nvSpPr>
        <p:spPr>
          <a:xfrm>
            <a:off x="6766560" y="4261104"/>
            <a:ext cx="45720" cy="274320"/>
          </a:xfrm>
          <a:prstGeom prst="rect">
            <a:avLst/>
          </a:prstGeom>
          <a:solidFill>
            <a:srgbClr val="F0616D"/>
          </a:solidFill>
          <a:ln/>
        </p:spPr>
      </p:sp>
      <p:sp>
        <p:nvSpPr>
          <p:cNvPr id="31" name="Text 28"/>
          <p:cNvSpPr/>
          <p:nvPr/>
        </p:nvSpPr>
        <p:spPr>
          <a:xfrm>
            <a:off x="6922008" y="4233672"/>
            <a:ext cx="2377440" cy="182880"/>
          </a:xfrm>
          <a:prstGeom prst="rect">
            <a:avLst/>
          </a:prstGeom>
          <a:noFill/>
          <a:ln/>
        </p:spPr>
        <p:txBody>
          <a:bodyPr wrap="square" lIns="0" tIns="0" rIns="0" bIns="0" rtlCol="0" anchor="ctr"/>
          <a:lstStyle/>
          <a:p>
            <a:pPr indent="0" marL="0">
              <a:buNone/>
            </a:pPr>
            <a:r>
              <a:rPr lang="en-US" sz="1050" b="1" dirty="0">
                <a:solidFill>
                  <a:srgbClr val="F1F6FC"/>
                </a:solidFill>
                <a:latin typeface="Segoe UI" pitchFamily="34" charset="0"/>
                <a:ea typeface="Segoe UI" pitchFamily="34" charset="-122"/>
                <a:cs typeface="Segoe UI" pitchFamily="34" charset="-120"/>
              </a:rPr>
              <a:t>GOODS_FORECAST</a:t>
            </a:r>
            <a:endParaRPr lang="en-US" sz="1050" dirty="0"/>
          </a:p>
        </p:txBody>
      </p:sp>
      <p:sp>
        <p:nvSpPr>
          <p:cNvPr id="32" name="Text 29"/>
          <p:cNvSpPr/>
          <p:nvPr/>
        </p:nvSpPr>
        <p:spPr>
          <a:xfrm>
            <a:off x="6922008" y="4398264"/>
            <a:ext cx="2834640" cy="164592"/>
          </a:xfrm>
          <a:prstGeom prst="rect">
            <a:avLst/>
          </a:prstGeom>
          <a:noFill/>
          <a:ln/>
        </p:spPr>
        <p:txBody>
          <a:bodyPr wrap="square" lIns="0" tIns="0" rIns="0" bIns="0" rtlCol="0" anchor="ctr"/>
          <a:lstStyle/>
          <a:p>
            <a:pPr indent="0" marL="0">
              <a:buNone/>
            </a:pPr>
            <a:r>
              <a:rPr lang="en-US" sz="800" dirty="0">
                <a:solidFill>
                  <a:srgbClr val="6B819A"/>
                </a:solidFill>
                <a:latin typeface="Segoe UI" pitchFamily="34" charset="0"/>
                <a:ea typeface="Segoe UI" pitchFamily="34" charset="-122"/>
                <a:cs typeface="Segoe UI" pitchFamily="34" charset="-120"/>
              </a:rPr>
              <a:t>Goods-train forecast</a:t>
            </a:r>
            <a:endParaRPr lang="en-US" sz="800" dirty="0"/>
          </a:p>
        </p:txBody>
      </p:sp>
      <p:sp>
        <p:nvSpPr>
          <p:cNvPr id="33" name="Text 30"/>
          <p:cNvSpPr/>
          <p:nvPr/>
        </p:nvSpPr>
        <p:spPr>
          <a:xfrm>
            <a:off x="9829800" y="4251960"/>
            <a:ext cx="1645920" cy="256032"/>
          </a:xfrm>
          <a:prstGeom prst="rect">
            <a:avLst/>
          </a:prstGeom>
          <a:noFill/>
          <a:ln/>
        </p:spPr>
        <p:txBody>
          <a:bodyPr wrap="square" lIns="0" tIns="0" rIns="0" bIns="0" rtlCol="0" anchor="ctr"/>
          <a:lstStyle/>
          <a:p>
            <a:pPr algn="r" indent="0" marL="0">
              <a:buNone/>
            </a:pPr>
            <a:r>
              <a:rPr lang="en-US" sz="1250" b="1" dirty="0">
                <a:solidFill>
                  <a:srgbClr val="F0616D"/>
                </a:solidFill>
                <a:latin typeface="Segoe UI" pitchFamily="34" charset="0"/>
                <a:ea typeface="Segoe UI" pitchFamily="34" charset="-122"/>
                <a:cs typeface="Segoe UI" pitchFamily="34" charset="-120"/>
              </a:rPr>
              <a:t>980</a:t>
            </a:r>
            <a:endParaRPr lang="en-US" sz="1250" dirty="0"/>
          </a:p>
        </p:txBody>
      </p:sp>
      <p:sp>
        <p:nvSpPr>
          <p:cNvPr id="34" name="Shape 31"/>
          <p:cNvSpPr/>
          <p:nvPr/>
        </p:nvSpPr>
        <p:spPr>
          <a:xfrm>
            <a:off x="6537960" y="4828032"/>
            <a:ext cx="5184648" cy="1298448"/>
          </a:xfrm>
          <a:prstGeom prst="roundRect">
            <a:avLst>
              <a:gd name="adj" fmla="val 5634"/>
            </a:avLst>
          </a:prstGeom>
          <a:solidFill>
            <a:srgbClr val="132133"/>
          </a:solidFill>
          <a:ln w="12700">
            <a:solidFill>
              <a:srgbClr val="223449"/>
            </a:solidFill>
            <a:prstDash val="solid"/>
          </a:ln>
        </p:spPr>
      </p:sp>
      <p:sp>
        <p:nvSpPr>
          <p:cNvPr id="35" name="Shape 32"/>
          <p:cNvSpPr/>
          <p:nvPr/>
        </p:nvSpPr>
        <p:spPr>
          <a:xfrm>
            <a:off x="6537960" y="5010912"/>
            <a:ext cx="45720" cy="256032"/>
          </a:xfrm>
          <a:prstGeom prst="rect">
            <a:avLst/>
          </a:prstGeom>
          <a:solidFill>
            <a:srgbClr val="3B9BE8"/>
          </a:solidFill>
          <a:ln/>
        </p:spPr>
      </p:sp>
      <p:sp>
        <p:nvSpPr>
          <p:cNvPr id="36" name="Text 33"/>
          <p:cNvSpPr/>
          <p:nvPr/>
        </p:nvSpPr>
        <p:spPr>
          <a:xfrm>
            <a:off x="6757416" y="4992624"/>
            <a:ext cx="4782312" cy="274320"/>
          </a:xfrm>
          <a:prstGeom prst="rect">
            <a:avLst/>
          </a:prstGeom>
          <a:noFill/>
          <a:ln/>
        </p:spPr>
        <p:txBody>
          <a:bodyPr wrap="square" lIns="0" tIns="0" rIns="0" bIns="0" rtlCol="0" anchor="ctr"/>
          <a:lstStyle/>
          <a:p>
            <a:pPr indent="0" marL="0">
              <a:buNone/>
            </a:pPr>
            <a:r>
              <a:rPr lang="en-US" sz="1350" b="1" dirty="0">
                <a:solidFill>
                  <a:srgbClr val="F1F6FC"/>
                </a:solidFill>
                <a:latin typeface="Segoe UI" pitchFamily="34" charset="0"/>
                <a:ea typeface="Segoe UI" pitchFamily="34" charset="-122"/>
                <a:cs typeface="Segoe UI" pitchFamily="34" charset="-120"/>
              </a:rPr>
              <a:t>What each adapter guarantees</a:t>
            </a:r>
            <a:endParaRPr lang="en-US" sz="1350" dirty="0"/>
          </a:p>
        </p:txBody>
      </p:sp>
      <p:sp>
        <p:nvSpPr>
          <p:cNvPr id="37" name="Text 34"/>
          <p:cNvSpPr/>
          <p:nvPr/>
        </p:nvSpPr>
        <p:spPr>
          <a:xfrm>
            <a:off x="6775704" y="5376672"/>
            <a:ext cx="4745736" cy="621792"/>
          </a:xfrm>
          <a:prstGeom prst="rect">
            <a:avLst/>
          </a:prstGeom>
          <a:noFill/>
          <a:ln/>
        </p:spPr>
        <p:txBody>
          <a:bodyPr wrap="square" lIns="0" tIns="0" rIns="0" bIns="0" rtlCol="0" anchor="t"/>
          <a:lstStyle/>
          <a:p>
            <a:pPr marL="342900" indent="-342900">
              <a:lnSpc>
                <a:spcPts val="1188"/>
              </a:lnSpc>
              <a:buSzPct val="100000"/>
              <a:buChar char="•"/>
            </a:pPr>
            <a:r>
              <a:rPr lang="en-US" sz="900" dirty="0">
                <a:solidFill>
                  <a:srgbClr val="9DB2C8"/>
                </a:solidFill>
                <a:latin typeface="Segoe UI" pitchFamily="34" charset="0"/>
                <a:ea typeface="Segoe UI" pitchFamily="34" charset="-122"/>
                <a:cs typeface="Segoe UI" pitchFamily="34" charset="-120"/>
              </a:rPr>
              <a:t>Zod-validated input; accepted and rejected counts recorded per sync run.</a:t>
            </a:r>
            <a:endParaRPr lang="en-US" sz="900" dirty="0"/>
          </a:p>
          <a:p>
            <a:pPr marL="342900" indent="-342900">
              <a:lnSpc>
                <a:spcPts val="1188"/>
              </a:lnSpc>
              <a:buSzPct val="100000"/>
              <a:buChar char="•"/>
            </a:pPr>
            <a:r>
              <a:rPr lang="en-US" sz="900" dirty="0">
                <a:solidFill>
                  <a:srgbClr val="9DB2C8"/>
                </a:solidFill>
                <a:latin typeface="Segoe UI" pitchFamily="34" charset="0"/>
                <a:ea typeface="Segoe UI" pitchFamily="34" charset="-122"/>
                <a:cs typeface="Segoe UI" pitchFamily="34" charset="-120"/>
              </a:rPr>
              <a:t>Idempotent upsert — re-loading a feed changes nothing.</a:t>
            </a:r>
            <a:endParaRPr lang="en-US" sz="900" dirty="0"/>
          </a:p>
          <a:p>
            <a:pPr marL="342900" indent="-342900">
              <a:lnSpc>
                <a:spcPts val="1188"/>
              </a:lnSpc>
              <a:buSzPct val="100000"/>
              <a:buChar char="•"/>
            </a:pPr>
            <a:r>
              <a:rPr lang="en-US" sz="900" dirty="0">
                <a:solidFill>
                  <a:srgbClr val="9DB2C8"/>
                </a:solidFill>
                <a:latin typeface="Segoe UI" pitchFamily="34" charset="0"/>
                <a:ea typeface="Segoe UI" pitchFamily="34" charset="-122"/>
                <a:cs typeface="Segoe UI" pitchFamily="34" charset="-120"/>
              </a:rPr>
              <a:t>Fixtures are deterministic and labelled synthetic on every screen.</a:t>
            </a:r>
            <a:endParaRPr lang="en-US" sz="9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819A"/>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84048"/>
            <a:ext cx="9144000" cy="237744"/>
          </a:xfrm>
          <a:prstGeom prst="rect">
            <a:avLst/>
          </a:prstGeom>
          <a:noFill/>
          <a:ln/>
        </p:spPr>
        <p:txBody>
          <a:bodyPr wrap="square" rtlCol="0" anchor="ctr"/>
          <a:lstStyle/>
          <a:p>
            <a:pPr indent="0" marL="0">
              <a:buNone/>
            </a:pPr>
            <a:r>
              <a:rPr lang="en-US" sz="1100" b="1" spc="160" kern="0" dirty="0">
                <a:solidFill>
                  <a:srgbClr val="3B9BE8"/>
                </a:solidFill>
                <a:latin typeface="Segoe UI" pitchFamily="34" charset="0"/>
                <a:ea typeface="Segoe UI" pitchFamily="34" charset="-122"/>
                <a:cs typeface="Segoe UI" pitchFamily="34" charset="-120"/>
              </a:rPr>
              <a:t>STEP 2 · AI PRIORITISATION</a:t>
            </a:r>
            <a:endParaRPr lang="en-US" sz="1100" dirty="0"/>
          </a:p>
        </p:txBody>
      </p:sp>
      <p:sp>
        <p:nvSpPr>
          <p:cNvPr id="3" name="Text 1"/>
          <p:cNvSpPr/>
          <p:nvPr/>
        </p:nvSpPr>
        <p:spPr>
          <a:xfrm>
            <a:off x="502920" y="658368"/>
            <a:ext cx="11155680" cy="566928"/>
          </a:xfrm>
          <a:prstGeom prst="rect">
            <a:avLst/>
          </a:prstGeom>
          <a:noFill/>
          <a:ln/>
        </p:spPr>
        <p:txBody>
          <a:bodyPr wrap="square" rtlCol="0" anchor="ctr"/>
          <a:lstStyle/>
          <a:p>
            <a:pPr indent="0" marL="0">
              <a:buNone/>
            </a:pPr>
            <a:r>
              <a:rPr lang="en-US" sz="3000" b="1" dirty="0">
                <a:solidFill>
                  <a:srgbClr val="F1F6FC"/>
                </a:solidFill>
                <a:latin typeface="Segoe UI" pitchFamily="34" charset="0"/>
                <a:ea typeface="Segoe UI" pitchFamily="34" charset="-122"/>
                <a:cs typeface="Segoe UI" pitchFamily="34" charset="-120"/>
              </a:rPr>
              <a:t>A risk score you can argue with</a:t>
            </a:r>
            <a:endParaRPr lang="en-US" sz="3000" dirty="0"/>
          </a:p>
        </p:txBody>
      </p:sp>
      <p:sp>
        <p:nvSpPr>
          <p:cNvPr id="4" name="Text 2"/>
          <p:cNvSpPr/>
          <p:nvPr/>
        </p:nvSpPr>
        <p:spPr>
          <a:xfrm>
            <a:off x="502920" y="1280160"/>
            <a:ext cx="11155680" cy="365760"/>
          </a:xfrm>
          <a:prstGeom prst="rect">
            <a:avLst/>
          </a:prstGeom>
          <a:noFill/>
          <a:ln/>
        </p:spPr>
        <p:txBody>
          <a:bodyPr wrap="square" rtlCol="0" anchor="ctr"/>
          <a:lstStyle/>
          <a:p>
            <a:pPr indent="0" marL="0">
              <a:buNone/>
            </a:pPr>
            <a:r>
              <a:rPr lang="en-US" sz="1300" dirty="0">
                <a:solidFill>
                  <a:srgbClr val="9DB2C8"/>
                </a:solidFill>
                <a:latin typeface="Segoe UI" pitchFamily="34" charset="0"/>
                <a:ea typeface="Segoe UI" pitchFamily="34" charset="-122"/>
                <a:cs typeface="Segoe UI" pitchFamily="34" charset="-120"/>
              </a:rPr>
              <a:t>Every task carries a 0–100 estimate of failure, escalation or an operating restriction if the work is deferred — plus the factors behind it.</a:t>
            </a:r>
            <a:endParaRPr lang="en-US" sz="1300" dirty="0"/>
          </a:p>
        </p:txBody>
      </p:sp>
      <p:pic>
        <p:nvPicPr>
          <p:cNvPr id="5" name="Image 0" descr="D:\ai-block-planning\presentation\assets\maintenance.png">    </p:cNvPr>
          <p:cNvPicPr>
            <a:picLocks noChangeAspect="1"/>
          </p:cNvPicPr>
          <p:nvPr/>
        </p:nvPicPr>
        <p:blipFill>
          <a:blip r:embed="rId1"/>
          <a:stretch>
            <a:fillRect/>
          </a:stretch>
        </p:blipFill>
        <p:spPr>
          <a:xfrm>
            <a:off x="502920" y="1810512"/>
            <a:ext cx="5806440" cy="4032250"/>
          </a:xfrm>
          <a:prstGeom prst="rect">
            <a:avLst/>
          </a:prstGeom>
        </p:spPr>
      </p:pic>
      <p:sp>
        <p:nvSpPr>
          <p:cNvPr id="6" name="Shape 3"/>
          <p:cNvSpPr/>
          <p:nvPr/>
        </p:nvSpPr>
        <p:spPr>
          <a:xfrm>
            <a:off x="502920" y="1810512"/>
            <a:ext cx="5806440" cy="4032250"/>
          </a:xfrm>
          <a:prstGeom prst="rect">
            <a:avLst/>
          </a:prstGeom>
          <a:ln w="12700">
            <a:solidFill>
              <a:srgbClr val="223449"/>
            </a:solidFill>
            <a:prstDash val="solid"/>
          </a:ln>
        </p:spPr>
      </p:sp>
      <p:sp>
        <p:nvSpPr>
          <p:cNvPr id="7" name="Text 4"/>
          <p:cNvSpPr/>
          <p:nvPr/>
        </p:nvSpPr>
        <p:spPr>
          <a:xfrm>
            <a:off x="502920" y="5897626"/>
            <a:ext cx="5806440" cy="256032"/>
          </a:xfrm>
          <a:prstGeom prst="rect">
            <a:avLst/>
          </a:prstGeom>
          <a:noFill/>
          <a:ln/>
        </p:spPr>
        <p:txBody>
          <a:bodyPr wrap="square" rtlCol="0" anchor="ctr"/>
          <a:lstStyle/>
          <a:p>
            <a:pPr algn="ctr" indent="0" marL="0">
              <a:buNone/>
            </a:pPr>
            <a:r>
              <a:rPr lang="en-US" sz="950" i="1" dirty="0">
                <a:solidFill>
                  <a:srgbClr val="6B819A"/>
                </a:solidFill>
                <a:latin typeface="Segoe UI" pitchFamily="34" charset="0"/>
                <a:ea typeface="Segoe UI" pitchFamily="34" charset="-122"/>
                <a:cs typeface="Segoe UI" pitchFamily="34" charset="-120"/>
              </a:rPr>
              <a:t>Maintenance backlog — 187 tasks, 29 critical, 38 overdue, all 187 scored</a:t>
            </a:r>
            <a:endParaRPr lang="en-US" sz="950" dirty="0"/>
          </a:p>
        </p:txBody>
      </p:sp>
      <p:sp>
        <p:nvSpPr>
          <p:cNvPr id="8" name="Shape 5"/>
          <p:cNvSpPr/>
          <p:nvPr/>
        </p:nvSpPr>
        <p:spPr>
          <a:xfrm>
            <a:off x="6537960" y="1810512"/>
            <a:ext cx="5184648" cy="2240280"/>
          </a:xfrm>
          <a:prstGeom prst="roundRect">
            <a:avLst>
              <a:gd name="adj" fmla="val 3265"/>
            </a:avLst>
          </a:prstGeom>
          <a:solidFill>
            <a:srgbClr val="132133"/>
          </a:solidFill>
          <a:ln w="12700">
            <a:solidFill>
              <a:srgbClr val="223449"/>
            </a:solidFill>
            <a:prstDash val="solid"/>
          </a:ln>
        </p:spPr>
      </p:sp>
      <p:sp>
        <p:nvSpPr>
          <p:cNvPr id="9" name="Text 6"/>
          <p:cNvSpPr/>
          <p:nvPr/>
        </p:nvSpPr>
        <p:spPr>
          <a:xfrm>
            <a:off x="6766560" y="1947672"/>
            <a:ext cx="4727448" cy="237744"/>
          </a:xfrm>
          <a:prstGeom prst="rect">
            <a:avLst/>
          </a:prstGeom>
          <a:noFill/>
          <a:ln/>
        </p:spPr>
        <p:txBody>
          <a:bodyPr wrap="square" lIns="0" tIns="0" rIns="0" bIns="0" rtlCol="0" anchor="ctr"/>
          <a:lstStyle/>
          <a:p>
            <a:pPr indent="0" marL="0">
              <a:buNone/>
            </a:pPr>
            <a:r>
              <a:rPr lang="en-US" sz="1000" b="1" spc="120" kern="0" dirty="0">
                <a:solidFill>
                  <a:srgbClr val="A78BFA"/>
                </a:solidFill>
                <a:latin typeface="Segoe UI" pitchFamily="34" charset="0"/>
                <a:ea typeface="Segoe UI" pitchFamily="34" charset="-122"/>
                <a:cs typeface="Segoe UI" pitchFamily="34" charset="-120"/>
              </a:rPr>
              <a:t>LEARNED MODEL (LEVEL 2)</a:t>
            </a:r>
            <a:endParaRPr lang="en-US" sz="1000" dirty="0"/>
          </a:p>
        </p:txBody>
      </p:sp>
      <p:sp>
        <p:nvSpPr>
          <p:cNvPr id="10" name="Text 7"/>
          <p:cNvSpPr/>
          <p:nvPr/>
        </p:nvSpPr>
        <p:spPr>
          <a:xfrm>
            <a:off x="6766560" y="2212848"/>
            <a:ext cx="4727448" cy="402336"/>
          </a:xfrm>
          <a:prstGeom prst="rect">
            <a:avLst/>
          </a:prstGeom>
          <a:noFill/>
          <a:ln/>
        </p:spPr>
        <p:txBody>
          <a:bodyPr wrap="square" lIns="0" tIns="0" rIns="0" bIns="0" rtlCol="0" anchor="ctr"/>
          <a:lstStyle/>
          <a:p>
            <a:pPr indent="0" marL="0">
              <a:lnSpc>
                <a:spcPts val="1300"/>
              </a:lnSpc>
              <a:buNone/>
            </a:pPr>
            <a:r>
              <a:rPr lang="en-US" sz="1050" dirty="0">
                <a:solidFill>
                  <a:srgbClr val="9DB2C8"/>
                </a:solidFill>
                <a:latin typeface="Segoe UI" pitchFamily="34" charset="0"/>
                <a:ea typeface="Segoe UI" pitchFamily="34" charset="-122"/>
                <a:cs typeface="Segoe UI" pitchFamily="34" charset="-120"/>
              </a:rPr>
              <a:t>Logistic regression in plain JavaScript, trained on maintenance history with a time-based split.</a:t>
            </a:r>
            <a:endParaRPr lang="en-US" sz="1050" dirty="0"/>
          </a:p>
        </p:txBody>
      </p:sp>
      <p:sp>
        <p:nvSpPr>
          <p:cNvPr id="11" name="Text 8"/>
          <p:cNvSpPr/>
          <p:nvPr/>
        </p:nvSpPr>
        <p:spPr>
          <a:xfrm>
            <a:off x="6766560" y="2670048"/>
            <a:ext cx="2743200" cy="237744"/>
          </a:xfrm>
          <a:prstGeom prst="rect">
            <a:avLst/>
          </a:prstGeom>
          <a:noFill/>
          <a:ln/>
        </p:spPr>
        <p:txBody>
          <a:bodyPr wrap="square" lIns="0" tIns="0" rIns="0" bIns="0" rtlCol="0" anchor="ctr"/>
          <a:lstStyle/>
          <a:p>
            <a:pPr indent="0" marL="0">
              <a:buNone/>
            </a:pPr>
            <a:r>
              <a:rPr lang="en-US" sz="1050" dirty="0">
                <a:solidFill>
                  <a:srgbClr val="9DB2C8"/>
                </a:solidFill>
                <a:latin typeface="Segoe UI" pitchFamily="34" charset="0"/>
                <a:ea typeface="Segoe UI" pitchFamily="34" charset="-122"/>
                <a:cs typeface="Segoe UI" pitchFamily="34" charset="-120"/>
              </a:rPr>
              <a:t>Validation accuracy</a:t>
            </a:r>
            <a:endParaRPr lang="en-US" sz="1050" dirty="0"/>
          </a:p>
        </p:txBody>
      </p:sp>
      <p:sp>
        <p:nvSpPr>
          <p:cNvPr id="12" name="Text 9"/>
          <p:cNvSpPr/>
          <p:nvPr/>
        </p:nvSpPr>
        <p:spPr>
          <a:xfrm>
            <a:off x="9555480" y="2670048"/>
            <a:ext cx="1938528" cy="237744"/>
          </a:xfrm>
          <a:prstGeom prst="rect">
            <a:avLst/>
          </a:prstGeom>
          <a:noFill/>
          <a:ln/>
        </p:spPr>
        <p:txBody>
          <a:bodyPr wrap="square" lIns="0" tIns="0" rIns="0" bIns="0" rtlCol="0" anchor="ctr"/>
          <a:lstStyle/>
          <a:p>
            <a:pPr algn="r" indent="0" marL="0">
              <a:buNone/>
            </a:pPr>
            <a:r>
              <a:rPr lang="en-US" sz="1050" b="1" dirty="0">
                <a:solidFill>
                  <a:srgbClr val="F1F6FC"/>
                </a:solidFill>
                <a:latin typeface="Segoe UI" pitchFamily="34" charset="0"/>
                <a:ea typeface="Segoe UI" pitchFamily="34" charset="-122"/>
                <a:cs typeface="Segoe UI" pitchFamily="34" charset="-120"/>
              </a:rPr>
              <a:t>75.4%</a:t>
            </a:r>
            <a:endParaRPr lang="en-US" sz="1050" dirty="0"/>
          </a:p>
        </p:txBody>
      </p:sp>
      <p:sp>
        <p:nvSpPr>
          <p:cNvPr id="13" name="Text 10"/>
          <p:cNvSpPr/>
          <p:nvPr/>
        </p:nvSpPr>
        <p:spPr>
          <a:xfrm>
            <a:off x="6766560" y="2935224"/>
            <a:ext cx="2743200" cy="237744"/>
          </a:xfrm>
          <a:prstGeom prst="rect">
            <a:avLst/>
          </a:prstGeom>
          <a:noFill/>
          <a:ln/>
        </p:spPr>
        <p:txBody>
          <a:bodyPr wrap="square" lIns="0" tIns="0" rIns="0" bIns="0" rtlCol="0" anchor="ctr"/>
          <a:lstStyle/>
          <a:p>
            <a:pPr indent="0" marL="0">
              <a:buNone/>
            </a:pPr>
            <a:r>
              <a:rPr lang="en-US" sz="1050" dirty="0">
                <a:solidFill>
                  <a:srgbClr val="9DB2C8"/>
                </a:solidFill>
                <a:latin typeface="Segoe UI" pitchFamily="34" charset="0"/>
                <a:ea typeface="Segoe UI" pitchFamily="34" charset="-122"/>
                <a:cs typeface="Segoe UI" pitchFamily="34" charset="-120"/>
              </a:rPr>
              <a:t>ROC AUC</a:t>
            </a:r>
            <a:endParaRPr lang="en-US" sz="1050" dirty="0"/>
          </a:p>
        </p:txBody>
      </p:sp>
      <p:sp>
        <p:nvSpPr>
          <p:cNvPr id="14" name="Text 11"/>
          <p:cNvSpPr/>
          <p:nvPr/>
        </p:nvSpPr>
        <p:spPr>
          <a:xfrm>
            <a:off x="9555480" y="2935224"/>
            <a:ext cx="1938528" cy="237744"/>
          </a:xfrm>
          <a:prstGeom prst="rect">
            <a:avLst/>
          </a:prstGeom>
          <a:noFill/>
          <a:ln/>
        </p:spPr>
        <p:txBody>
          <a:bodyPr wrap="square" lIns="0" tIns="0" rIns="0" bIns="0" rtlCol="0" anchor="ctr"/>
          <a:lstStyle/>
          <a:p>
            <a:pPr algn="r" indent="0" marL="0">
              <a:buNone/>
            </a:pPr>
            <a:r>
              <a:rPr lang="en-US" sz="1050" b="1" dirty="0">
                <a:solidFill>
                  <a:srgbClr val="F1F6FC"/>
                </a:solidFill>
                <a:latin typeface="Segoe UI" pitchFamily="34" charset="0"/>
                <a:ea typeface="Segoe UI" pitchFamily="34" charset="-122"/>
                <a:cs typeface="Segoe UI" pitchFamily="34" charset="-120"/>
              </a:rPr>
              <a:t>0.8161</a:t>
            </a:r>
            <a:endParaRPr lang="en-US" sz="1050" dirty="0"/>
          </a:p>
        </p:txBody>
      </p:sp>
      <p:sp>
        <p:nvSpPr>
          <p:cNvPr id="15" name="Text 12"/>
          <p:cNvSpPr/>
          <p:nvPr/>
        </p:nvSpPr>
        <p:spPr>
          <a:xfrm>
            <a:off x="6766560" y="3200400"/>
            <a:ext cx="2743200" cy="237744"/>
          </a:xfrm>
          <a:prstGeom prst="rect">
            <a:avLst/>
          </a:prstGeom>
          <a:noFill/>
          <a:ln/>
        </p:spPr>
        <p:txBody>
          <a:bodyPr wrap="square" lIns="0" tIns="0" rIns="0" bIns="0" rtlCol="0" anchor="ctr"/>
          <a:lstStyle/>
          <a:p>
            <a:pPr indent="0" marL="0">
              <a:buNone/>
            </a:pPr>
            <a:r>
              <a:rPr lang="en-US" sz="1050" dirty="0">
                <a:solidFill>
                  <a:srgbClr val="9DB2C8"/>
                </a:solidFill>
                <a:latin typeface="Segoe UI" pitchFamily="34" charset="0"/>
                <a:ea typeface="Segoe UI" pitchFamily="34" charset="-122"/>
                <a:cs typeface="Segoe UI" pitchFamily="34" charset="-120"/>
              </a:rPr>
              <a:t>Log loss</a:t>
            </a:r>
            <a:endParaRPr lang="en-US" sz="1050" dirty="0"/>
          </a:p>
        </p:txBody>
      </p:sp>
      <p:sp>
        <p:nvSpPr>
          <p:cNvPr id="16" name="Text 13"/>
          <p:cNvSpPr/>
          <p:nvPr/>
        </p:nvSpPr>
        <p:spPr>
          <a:xfrm>
            <a:off x="9555480" y="3200400"/>
            <a:ext cx="1938528" cy="237744"/>
          </a:xfrm>
          <a:prstGeom prst="rect">
            <a:avLst/>
          </a:prstGeom>
          <a:noFill/>
          <a:ln/>
        </p:spPr>
        <p:txBody>
          <a:bodyPr wrap="square" lIns="0" tIns="0" rIns="0" bIns="0" rtlCol="0" anchor="ctr"/>
          <a:lstStyle/>
          <a:p>
            <a:pPr algn="r" indent="0" marL="0">
              <a:buNone/>
            </a:pPr>
            <a:r>
              <a:rPr lang="en-US" sz="1050" b="1" dirty="0">
                <a:solidFill>
                  <a:srgbClr val="F1F6FC"/>
                </a:solidFill>
                <a:latin typeface="Segoe UI" pitchFamily="34" charset="0"/>
                <a:ea typeface="Segoe UI" pitchFamily="34" charset="-122"/>
                <a:cs typeface="Segoe UI" pitchFamily="34" charset="-120"/>
              </a:rPr>
              <a:t>0.5227</a:t>
            </a:r>
            <a:endParaRPr lang="en-US" sz="1050" dirty="0"/>
          </a:p>
        </p:txBody>
      </p:sp>
      <p:sp>
        <p:nvSpPr>
          <p:cNvPr id="17" name="Text 14"/>
          <p:cNvSpPr/>
          <p:nvPr/>
        </p:nvSpPr>
        <p:spPr>
          <a:xfrm>
            <a:off x="6766560" y="3465576"/>
            <a:ext cx="2743200" cy="237744"/>
          </a:xfrm>
          <a:prstGeom prst="rect">
            <a:avLst/>
          </a:prstGeom>
          <a:noFill/>
          <a:ln/>
        </p:spPr>
        <p:txBody>
          <a:bodyPr wrap="square" lIns="0" tIns="0" rIns="0" bIns="0" rtlCol="0" anchor="ctr"/>
          <a:lstStyle/>
          <a:p>
            <a:pPr indent="0" marL="0">
              <a:buNone/>
            </a:pPr>
            <a:r>
              <a:rPr lang="en-US" sz="1050" dirty="0">
                <a:solidFill>
                  <a:srgbClr val="9DB2C8"/>
                </a:solidFill>
                <a:latin typeface="Segoe UI" pitchFamily="34" charset="0"/>
                <a:ea typeface="Segoe UI" pitchFamily="34" charset="-122"/>
                <a:cs typeface="Segoe UI" pitchFamily="34" charset="-120"/>
              </a:rPr>
              <a:t>Train / validation rows</a:t>
            </a:r>
            <a:endParaRPr lang="en-US" sz="1050" dirty="0"/>
          </a:p>
        </p:txBody>
      </p:sp>
      <p:sp>
        <p:nvSpPr>
          <p:cNvPr id="18" name="Text 15"/>
          <p:cNvSpPr/>
          <p:nvPr/>
        </p:nvSpPr>
        <p:spPr>
          <a:xfrm>
            <a:off x="9555480" y="3465576"/>
            <a:ext cx="1938528" cy="237744"/>
          </a:xfrm>
          <a:prstGeom prst="rect">
            <a:avLst/>
          </a:prstGeom>
          <a:noFill/>
          <a:ln/>
        </p:spPr>
        <p:txBody>
          <a:bodyPr wrap="square" lIns="0" tIns="0" rIns="0" bIns="0" rtlCol="0" anchor="ctr"/>
          <a:lstStyle/>
          <a:p>
            <a:pPr algn="r" indent="0" marL="0">
              <a:buNone/>
            </a:pPr>
            <a:r>
              <a:rPr lang="en-US" sz="1050" b="1" dirty="0">
                <a:solidFill>
                  <a:srgbClr val="F1F6FC"/>
                </a:solidFill>
                <a:latin typeface="Segoe UI" pitchFamily="34" charset="0"/>
                <a:ea typeface="Segoe UI" pitchFamily="34" charset="-122"/>
                <a:cs typeface="Segoe UI" pitchFamily="34" charset="-120"/>
              </a:rPr>
              <a:t>1650 / 550</a:t>
            </a:r>
            <a:endParaRPr lang="en-US" sz="1050" dirty="0"/>
          </a:p>
        </p:txBody>
      </p:sp>
      <p:sp>
        <p:nvSpPr>
          <p:cNvPr id="19" name="Text 16"/>
          <p:cNvSpPr/>
          <p:nvPr/>
        </p:nvSpPr>
        <p:spPr>
          <a:xfrm>
            <a:off x="6766560" y="3739896"/>
            <a:ext cx="4727448" cy="237744"/>
          </a:xfrm>
          <a:prstGeom prst="rect">
            <a:avLst/>
          </a:prstGeom>
          <a:noFill/>
          <a:ln/>
        </p:spPr>
        <p:txBody>
          <a:bodyPr wrap="square" lIns="0" tIns="0" rIns="0" bIns="0" rtlCol="0" anchor="ctr"/>
          <a:lstStyle/>
          <a:p>
            <a:pPr indent="0" marL="0">
              <a:buNone/>
            </a:pPr>
            <a:r>
              <a:rPr lang="en-US" sz="850" i="1" dirty="0">
                <a:solidFill>
                  <a:srgbClr val="6B819A"/>
                </a:solidFill>
                <a:latin typeface="Segoe UI" pitchFamily="34" charset="0"/>
                <a:ea typeface="Segoe UI" pitchFamily="34" charset="-122"/>
                <a:cs typeface="Segoe UI" pitchFamily="34" charset="-120"/>
              </a:rPr>
              <a:t>Trained on synthetic history — reported as SYNTHETIC, not production accuracy.</a:t>
            </a:r>
            <a:endParaRPr lang="en-US" sz="850" dirty="0"/>
          </a:p>
        </p:txBody>
      </p:sp>
      <p:sp>
        <p:nvSpPr>
          <p:cNvPr id="20" name="Shape 17"/>
          <p:cNvSpPr/>
          <p:nvPr/>
        </p:nvSpPr>
        <p:spPr>
          <a:xfrm>
            <a:off x="6537960" y="4187952"/>
            <a:ext cx="5184648" cy="1938528"/>
          </a:xfrm>
          <a:prstGeom prst="roundRect">
            <a:avLst>
              <a:gd name="adj" fmla="val 3774"/>
            </a:avLst>
          </a:prstGeom>
          <a:solidFill>
            <a:srgbClr val="132133"/>
          </a:solidFill>
          <a:ln w="12700">
            <a:solidFill>
              <a:srgbClr val="223449"/>
            </a:solidFill>
            <a:prstDash val="solid"/>
          </a:ln>
        </p:spPr>
      </p:sp>
      <p:sp>
        <p:nvSpPr>
          <p:cNvPr id="21" name="Shape 18"/>
          <p:cNvSpPr/>
          <p:nvPr/>
        </p:nvSpPr>
        <p:spPr>
          <a:xfrm>
            <a:off x="6537960" y="4370832"/>
            <a:ext cx="45720" cy="256032"/>
          </a:xfrm>
          <a:prstGeom prst="rect">
            <a:avLst/>
          </a:prstGeom>
          <a:solidFill>
            <a:srgbClr val="3B9BE8"/>
          </a:solidFill>
          <a:ln/>
        </p:spPr>
      </p:sp>
      <p:sp>
        <p:nvSpPr>
          <p:cNvPr id="22" name="Text 19"/>
          <p:cNvSpPr/>
          <p:nvPr/>
        </p:nvSpPr>
        <p:spPr>
          <a:xfrm>
            <a:off x="6757416" y="4352544"/>
            <a:ext cx="4782312" cy="274320"/>
          </a:xfrm>
          <a:prstGeom prst="rect">
            <a:avLst/>
          </a:prstGeom>
          <a:noFill/>
          <a:ln/>
        </p:spPr>
        <p:txBody>
          <a:bodyPr wrap="square" lIns="0" tIns="0" rIns="0" bIns="0" rtlCol="0" anchor="ctr"/>
          <a:lstStyle/>
          <a:p>
            <a:pPr indent="0" marL="0">
              <a:buNone/>
            </a:pPr>
            <a:r>
              <a:rPr lang="en-US" sz="1350" b="1" dirty="0">
                <a:solidFill>
                  <a:srgbClr val="F1F6FC"/>
                </a:solidFill>
                <a:latin typeface="Segoe UI" pitchFamily="34" charset="0"/>
                <a:ea typeface="Segoe UI" pitchFamily="34" charset="-122"/>
                <a:cs typeface="Segoe UI" pitchFamily="34" charset="-120"/>
              </a:rPr>
              <a:t>Fallbacks that keep it honest</a:t>
            </a:r>
            <a:endParaRPr lang="en-US" sz="1350" dirty="0"/>
          </a:p>
        </p:txBody>
      </p:sp>
      <p:sp>
        <p:nvSpPr>
          <p:cNvPr id="23" name="Text 20"/>
          <p:cNvSpPr/>
          <p:nvPr/>
        </p:nvSpPr>
        <p:spPr>
          <a:xfrm>
            <a:off x="6775704" y="4736592"/>
            <a:ext cx="4745736" cy="1261872"/>
          </a:xfrm>
          <a:prstGeom prst="rect">
            <a:avLst/>
          </a:prstGeom>
          <a:noFill/>
          <a:ln/>
        </p:spPr>
        <p:txBody>
          <a:bodyPr wrap="square" lIns="0" tIns="0" rIns="0" bIns="0" rtlCol="0" anchor="t"/>
          <a:lstStyle/>
          <a:p>
            <a:pPr marL="342900" indent="-342900">
              <a:lnSpc>
                <a:spcPts val="1122"/>
              </a:lnSpc>
              <a:buSzPct val="100000"/>
              <a:buChar char="•"/>
            </a:pPr>
            <a:r>
              <a:rPr lang="en-US" sz="850" dirty="0">
                <a:solidFill>
                  <a:srgbClr val="9DB2C8"/>
                </a:solidFill>
                <a:latin typeface="Segoe UI" pitchFamily="34" charset="0"/>
                <a:ea typeface="Segoe UI" pitchFamily="34" charset="-122"/>
                <a:cs typeface="Segoe UI" pitchFamily="34" charset="-120"/>
              </a:rPr>
              <a:t>Rule engine (Level 1): weighted sum of severity, asset criticality, overdue days, safety flag, speed restriction, corridor importance and repeat defects.</a:t>
            </a:r>
            <a:endParaRPr lang="en-US" sz="850" dirty="0"/>
          </a:p>
          <a:p>
            <a:pPr marL="342900" indent="-342900">
              <a:lnSpc>
                <a:spcPts val="1122"/>
              </a:lnSpc>
              <a:buSzPct val="100000"/>
              <a:buChar char="•"/>
            </a:pPr>
            <a:r>
              <a:rPr lang="en-US" sz="850" dirty="0">
                <a:solidFill>
                  <a:srgbClr val="9DB2C8"/>
                </a:solidFill>
                <a:latin typeface="Segoe UI" pitchFamily="34" charset="0"/>
                <a:ea typeface="Segoe UI" pitchFamily="34" charset="-122"/>
                <a:cs typeface="Segoe UI" pitchFamily="34" charset="-120"/>
              </a:rPr>
              <a:t>Used whenever history is thin or the model fails to load — always labelled RULE_FALLBACK.</a:t>
            </a:r>
            <a:endParaRPr lang="en-US" sz="850" dirty="0"/>
          </a:p>
          <a:p>
            <a:pPr marL="342900" indent="-342900">
              <a:lnSpc>
                <a:spcPts val="1122"/>
              </a:lnSpc>
              <a:buSzPct val="100000"/>
              <a:buChar char="•"/>
            </a:pPr>
            <a:r>
              <a:rPr lang="en-US" sz="850" dirty="0">
                <a:solidFill>
                  <a:srgbClr val="9DB2C8"/>
                </a:solidFill>
                <a:latin typeface="Segoe UI" pitchFamily="34" charset="0"/>
                <a:ea typeface="Segoe UI" pitchFamily="34" charset="-122"/>
                <a:cs typeface="Segoe UI" pitchFamily="34" charset="-120"/>
              </a:rPr>
              <a:t>Duration engine: historical median and P90 per task type and department.</a:t>
            </a:r>
            <a:endParaRPr lang="en-US" sz="850" dirty="0"/>
          </a:p>
          <a:p>
            <a:pPr marL="342900" indent="-342900">
              <a:lnSpc>
                <a:spcPts val="1122"/>
              </a:lnSpc>
              <a:buSzPct val="100000"/>
              <a:buChar char="•"/>
            </a:pPr>
            <a:r>
              <a:rPr lang="en-US" sz="850" dirty="0">
                <a:solidFill>
                  <a:srgbClr val="9DB2C8"/>
                </a:solidFill>
                <a:latin typeface="Segoe UI" pitchFamily="34" charset="0"/>
                <a:ea typeface="Segoe UI" pitchFamily="34" charset="-122"/>
                <a:cs typeface="Segoe UI" pitchFamily="34" charset="-120"/>
              </a:rPr>
              <a:t>P90 drives feasibility; requested, predicted and sample count are all shown.</a:t>
            </a:r>
            <a:endParaRPr lang="en-US" sz="85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819A"/>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84048"/>
            <a:ext cx="9144000" cy="237744"/>
          </a:xfrm>
          <a:prstGeom prst="rect">
            <a:avLst/>
          </a:prstGeom>
          <a:noFill/>
          <a:ln/>
        </p:spPr>
        <p:txBody>
          <a:bodyPr wrap="square" rtlCol="0" anchor="ctr"/>
          <a:lstStyle/>
          <a:p>
            <a:pPr indent="0" marL="0">
              <a:buNone/>
            </a:pPr>
            <a:r>
              <a:rPr lang="en-US" sz="1100" b="1" spc="160" kern="0" dirty="0">
                <a:solidFill>
                  <a:srgbClr val="3B9BE8"/>
                </a:solidFill>
                <a:latin typeface="Segoe UI" pitchFamily="34" charset="0"/>
                <a:ea typeface="Segoe UI" pitchFamily="34" charset="-122"/>
                <a:cs typeface="Segoe UI" pitchFamily="34" charset="-120"/>
              </a:rPr>
              <a:t>STEP 3 · CANDIDATE WINDOWS</a:t>
            </a:r>
            <a:endParaRPr lang="en-US" sz="1100" dirty="0"/>
          </a:p>
        </p:txBody>
      </p:sp>
      <p:sp>
        <p:nvSpPr>
          <p:cNvPr id="3" name="Text 1"/>
          <p:cNvSpPr/>
          <p:nvPr/>
        </p:nvSpPr>
        <p:spPr>
          <a:xfrm>
            <a:off x="502920" y="658368"/>
            <a:ext cx="11155680" cy="566928"/>
          </a:xfrm>
          <a:prstGeom prst="rect">
            <a:avLst/>
          </a:prstGeom>
          <a:noFill/>
          <a:ln/>
        </p:spPr>
        <p:txBody>
          <a:bodyPr wrap="square" rtlCol="0" anchor="ctr"/>
          <a:lstStyle/>
          <a:p>
            <a:pPr indent="0" marL="0">
              <a:buNone/>
            </a:pPr>
            <a:r>
              <a:rPr lang="en-US" sz="3000" b="1" dirty="0">
                <a:solidFill>
                  <a:srgbClr val="F1F6FC"/>
                </a:solidFill>
                <a:latin typeface="Segoe UI" pitchFamily="34" charset="0"/>
                <a:ea typeface="Segoe UI" pitchFamily="34" charset="-122"/>
                <a:cs typeface="Segoe UI" pitchFamily="34" charset="-120"/>
              </a:rPr>
              <a:t>Only the time that is genuinely safe</a:t>
            </a:r>
            <a:endParaRPr lang="en-US" sz="3000" dirty="0"/>
          </a:p>
        </p:txBody>
      </p:sp>
      <p:sp>
        <p:nvSpPr>
          <p:cNvPr id="4" name="Text 2"/>
          <p:cNvSpPr/>
          <p:nvPr/>
        </p:nvSpPr>
        <p:spPr>
          <a:xfrm>
            <a:off x="502920" y="1280160"/>
            <a:ext cx="11155680" cy="365760"/>
          </a:xfrm>
          <a:prstGeom prst="rect">
            <a:avLst/>
          </a:prstGeom>
          <a:noFill/>
          <a:ln/>
        </p:spPr>
        <p:txBody>
          <a:bodyPr wrap="square" rtlCol="0" anchor="ctr"/>
          <a:lstStyle/>
          <a:p>
            <a:pPr indent="0" marL="0">
              <a:buNone/>
            </a:pPr>
            <a:r>
              <a:rPr lang="en-US" sz="1300" dirty="0">
                <a:solidFill>
                  <a:srgbClr val="9DB2C8"/>
                </a:solidFill>
                <a:latin typeface="Segoe UI" pitchFamily="34" charset="0"/>
                <a:ea typeface="Segoe UI" pitchFamily="34" charset="-122"/>
                <a:cs typeface="Segoe UI" pitchFamily="34" charset="-120"/>
              </a:rPr>
              <a:t>Half-open intervals, protected trains and their buffer subtracted, freight pressure priced in — then the optimiser sees what is left.</a:t>
            </a:r>
            <a:endParaRPr lang="en-US" sz="1300" dirty="0"/>
          </a:p>
        </p:txBody>
      </p:sp>
      <p:pic>
        <p:nvPicPr>
          <p:cNvPr id="5" name="Image 0" descr="D:\ai-block-planning\presentation\assets\planner.png">    </p:cNvPr>
          <p:cNvPicPr>
            <a:picLocks noChangeAspect="1"/>
          </p:cNvPicPr>
          <p:nvPr/>
        </p:nvPicPr>
        <p:blipFill>
          <a:blip r:embed="rId1"/>
          <a:stretch>
            <a:fillRect/>
          </a:stretch>
        </p:blipFill>
        <p:spPr>
          <a:xfrm>
            <a:off x="502920" y="1810512"/>
            <a:ext cx="5806440" cy="4032250"/>
          </a:xfrm>
          <a:prstGeom prst="rect">
            <a:avLst/>
          </a:prstGeom>
        </p:spPr>
      </p:pic>
      <p:sp>
        <p:nvSpPr>
          <p:cNvPr id="6" name="Shape 3"/>
          <p:cNvSpPr/>
          <p:nvPr/>
        </p:nvSpPr>
        <p:spPr>
          <a:xfrm>
            <a:off x="502920" y="1810512"/>
            <a:ext cx="5806440" cy="4032250"/>
          </a:xfrm>
          <a:prstGeom prst="rect">
            <a:avLst/>
          </a:prstGeom>
          <a:ln w="12700">
            <a:solidFill>
              <a:srgbClr val="223449"/>
            </a:solidFill>
            <a:prstDash val="solid"/>
          </a:ln>
        </p:spPr>
      </p:sp>
      <p:sp>
        <p:nvSpPr>
          <p:cNvPr id="7" name="Text 4"/>
          <p:cNvSpPr/>
          <p:nvPr/>
        </p:nvSpPr>
        <p:spPr>
          <a:xfrm>
            <a:off x="502920" y="5897626"/>
            <a:ext cx="5806440" cy="256032"/>
          </a:xfrm>
          <a:prstGeom prst="rect">
            <a:avLst/>
          </a:prstGeom>
          <a:noFill/>
          <a:ln/>
        </p:spPr>
        <p:txBody>
          <a:bodyPr wrap="square" rtlCol="0" anchor="ctr"/>
          <a:lstStyle/>
          <a:p>
            <a:pPr algn="ctr" indent="0" marL="0">
              <a:buNone/>
            </a:pPr>
            <a:r>
              <a:rPr lang="en-US" sz="950" i="1" dirty="0">
                <a:solidFill>
                  <a:srgbClr val="6B819A"/>
                </a:solidFill>
                <a:latin typeface="Segoe UI" pitchFamily="34" charset="0"/>
                <a:ea typeface="Segoe UI" pitchFamily="34" charset="-122"/>
                <a:cs typeface="Segoe UI" pitchFamily="34" charset="-120"/>
              </a:rPr>
              <a:t>Block planner — horizon, corridor scope, and the five stages that run on Generate</a:t>
            </a:r>
            <a:endParaRPr lang="en-US" sz="950" dirty="0"/>
          </a:p>
        </p:txBody>
      </p:sp>
      <p:sp>
        <p:nvSpPr>
          <p:cNvPr id="8" name="Shape 5"/>
          <p:cNvSpPr/>
          <p:nvPr/>
        </p:nvSpPr>
        <p:spPr>
          <a:xfrm>
            <a:off x="6537960" y="1810512"/>
            <a:ext cx="5184648" cy="2011680"/>
          </a:xfrm>
          <a:prstGeom prst="roundRect">
            <a:avLst>
              <a:gd name="adj" fmla="val 3636"/>
            </a:avLst>
          </a:prstGeom>
          <a:solidFill>
            <a:srgbClr val="132133"/>
          </a:solidFill>
          <a:ln w="12700">
            <a:solidFill>
              <a:srgbClr val="223449"/>
            </a:solidFill>
            <a:prstDash val="solid"/>
          </a:ln>
        </p:spPr>
      </p:sp>
      <p:sp>
        <p:nvSpPr>
          <p:cNvPr id="9" name="Shape 6"/>
          <p:cNvSpPr/>
          <p:nvPr/>
        </p:nvSpPr>
        <p:spPr>
          <a:xfrm>
            <a:off x="6537960" y="1993392"/>
            <a:ext cx="45720" cy="256032"/>
          </a:xfrm>
          <a:prstGeom prst="rect">
            <a:avLst/>
          </a:prstGeom>
          <a:solidFill>
            <a:srgbClr val="2DD4BF"/>
          </a:solidFill>
          <a:ln/>
        </p:spPr>
      </p:sp>
      <p:sp>
        <p:nvSpPr>
          <p:cNvPr id="10" name="Text 7"/>
          <p:cNvSpPr/>
          <p:nvPr/>
        </p:nvSpPr>
        <p:spPr>
          <a:xfrm>
            <a:off x="6757416" y="1975104"/>
            <a:ext cx="4782312" cy="274320"/>
          </a:xfrm>
          <a:prstGeom prst="rect">
            <a:avLst/>
          </a:prstGeom>
          <a:noFill/>
          <a:ln/>
        </p:spPr>
        <p:txBody>
          <a:bodyPr wrap="square" lIns="0" tIns="0" rIns="0" bIns="0" rtlCol="0" anchor="ctr"/>
          <a:lstStyle/>
          <a:p>
            <a:pPr indent="0" marL="0">
              <a:buNone/>
            </a:pPr>
            <a:r>
              <a:rPr lang="en-US" sz="1350" b="1" dirty="0">
                <a:solidFill>
                  <a:srgbClr val="F1F6FC"/>
                </a:solidFill>
                <a:latin typeface="Segoe UI" pitchFamily="34" charset="0"/>
                <a:ea typeface="Segoe UI" pitchFamily="34" charset="-122"/>
                <a:cs typeface="Segoe UI" pitchFamily="34" charset="-120"/>
              </a:rPr>
              <a:t>Interval arithmetic, unit-tested</a:t>
            </a:r>
            <a:endParaRPr lang="en-US" sz="1350" dirty="0"/>
          </a:p>
        </p:txBody>
      </p:sp>
      <p:sp>
        <p:nvSpPr>
          <p:cNvPr id="11" name="Text 8"/>
          <p:cNvSpPr/>
          <p:nvPr/>
        </p:nvSpPr>
        <p:spPr>
          <a:xfrm>
            <a:off x="6775704" y="2359152"/>
            <a:ext cx="4745736" cy="1335024"/>
          </a:xfrm>
          <a:prstGeom prst="rect">
            <a:avLst/>
          </a:prstGeom>
          <a:noFill/>
          <a:ln/>
        </p:spPr>
        <p:txBody>
          <a:bodyPr wrap="square" lIns="0" tIns="0" rIns="0" bIns="0" rtlCol="0" anchor="t"/>
          <a:lstStyle/>
          <a:p>
            <a:pPr marL="342900" indent="-342900">
              <a:lnSpc>
                <a:spcPts val="1518"/>
              </a:lnSpc>
              <a:buSzPct val="100000"/>
              <a:buChar char="•"/>
            </a:pPr>
            <a:r>
              <a:rPr lang="en-US" sz="1150" dirty="0">
                <a:solidFill>
                  <a:srgbClr val="9DB2C8"/>
                </a:solidFill>
                <a:latin typeface="Segoe UI" pitchFamily="34" charset="0"/>
                <a:ea typeface="Segoe UI" pitchFamily="34" charset="-122"/>
                <a:cs typeface="Segoe UI" pitchFamily="34" charset="-120"/>
              </a:rPr>
              <a:t>No overlap, full overlap, partial at start, partial at end.</a:t>
            </a:r>
            <a:endParaRPr lang="en-US" sz="1150" dirty="0"/>
          </a:p>
          <a:p>
            <a:pPr marL="342900" indent="-342900">
              <a:lnSpc>
                <a:spcPts val="1518"/>
              </a:lnSpc>
              <a:buSzPct val="100000"/>
              <a:buChar char="•"/>
            </a:pPr>
            <a:r>
              <a:rPr lang="en-US" sz="1150" dirty="0">
                <a:solidFill>
                  <a:srgbClr val="9DB2C8"/>
                </a:solidFill>
                <a:latin typeface="Segoe UI" pitchFamily="34" charset="0"/>
                <a:ea typeface="Segoe UI" pitchFamily="34" charset="-122"/>
                <a:cs typeface="Segoe UI" pitchFamily="34" charset="-120"/>
              </a:rPr>
              <a:t>One train splitting a window; several trains splitting a window.</a:t>
            </a:r>
            <a:endParaRPr lang="en-US" sz="1150" dirty="0"/>
          </a:p>
          <a:p>
            <a:pPr marL="342900" indent="-342900">
              <a:lnSpc>
                <a:spcPts val="1518"/>
              </a:lnSpc>
              <a:buSzPct val="100000"/>
              <a:buChar char="•"/>
            </a:pPr>
            <a:r>
              <a:rPr lang="en-US" sz="1150" dirty="0">
                <a:solidFill>
                  <a:srgbClr val="9DB2C8"/>
                </a:solidFill>
                <a:latin typeface="Segoe UI" pitchFamily="34" charset="0"/>
                <a:ea typeface="Segoe UI" pitchFamily="34" charset="-122"/>
                <a:cs typeface="Segoe UI" pitchFamily="34" charset="-120"/>
              </a:rPr>
              <a:t>Touching intervals — [start, end) never double-counts a boundary minute.</a:t>
            </a:r>
            <a:endParaRPr lang="en-US" sz="1150" dirty="0"/>
          </a:p>
        </p:txBody>
      </p:sp>
      <p:sp>
        <p:nvSpPr>
          <p:cNvPr id="12" name="Shape 9"/>
          <p:cNvSpPr/>
          <p:nvPr/>
        </p:nvSpPr>
        <p:spPr>
          <a:xfrm>
            <a:off x="6537960" y="3959352"/>
            <a:ext cx="5184648" cy="2167128"/>
          </a:xfrm>
          <a:prstGeom prst="roundRect">
            <a:avLst>
              <a:gd name="adj" fmla="val 3376"/>
            </a:avLst>
          </a:prstGeom>
          <a:solidFill>
            <a:srgbClr val="132133"/>
          </a:solidFill>
          <a:ln w="12700">
            <a:solidFill>
              <a:srgbClr val="223449"/>
            </a:solidFill>
            <a:prstDash val="solid"/>
          </a:ln>
        </p:spPr>
      </p:sp>
      <p:sp>
        <p:nvSpPr>
          <p:cNvPr id="13" name="Text 10"/>
          <p:cNvSpPr/>
          <p:nvPr/>
        </p:nvSpPr>
        <p:spPr>
          <a:xfrm>
            <a:off x="6766560" y="4096512"/>
            <a:ext cx="4727448" cy="237744"/>
          </a:xfrm>
          <a:prstGeom prst="rect">
            <a:avLst/>
          </a:prstGeom>
          <a:noFill/>
          <a:ln/>
        </p:spPr>
        <p:txBody>
          <a:bodyPr wrap="square" lIns="0" tIns="0" rIns="0" bIns="0" rtlCol="0" anchor="ctr"/>
          <a:lstStyle/>
          <a:p>
            <a:pPr indent="0" marL="0">
              <a:buNone/>
            </a:pPr>
            <a:r>
              <a:rPr lang="en-US" sz="1000" b="1" spc="120" kern="0" dirty="0">
                <a:solidFill>
                  <a:srgbClr val="F0A93B"/>
                </a:solidFill>
                <a:latin typeface="Segoe UI" pitchFamily="34" charset="0"/>
                <a:ea typeface="Segoe UI" pitchFamily="34" charset="-122"/>
                <a:cs typeface="Segoe UI" pitchFamily="34" charset="-120"/>
              </a:rPr>
              <a:t>WHY A TASK GETS REJECTED</a:t>
            </a:r>
            <a:endParaRPr lang="en-US" sz="1000" dirty="0"/>
          </a:p>
        </p:txBody>
      </p:sp>
      <p:sp>
        <p:nvSpPr>
          <p:cNvPr id="14" name="Text 11"/>
          <p:cNvSpPr/>
          <p:nvPr/>
        </p:nvSpPr>
        <p:spPr>
          <a:xfrm>
            <a:off x="6830568" y="4370832"/>
            <a:ext cx="4636008" cy="1371600"/>
          </a:xfrm>
          <a:prstGeom prst="rect">
            <a:avLst/>
          </a:prstGeom>
          <a:noFill/>
          <a:ln/>
        </p:spPr>
        <p:txBody>
          <a:bodyPr wrap="square" lIns="0" tIns="0" rIns="0" bIns="0" rtlCol="0" anchor="t"/>
          <a:lstStyle/>
          <a:p>
            <a:pPr marL="342900" indent="-342900">
              <a:lnSpc>
                <a:spcPts val="1320"/>
              </a:lnSpc>
              <a:buSzPct val="100000"/>
              <a:buChar char="•"/>
            </a:pPr>
            <a:r>
              <a:rPr lang="en-US" sz="1000" dirty="0">
                <a:solidFill>
                  <a:srgbClr val="9DB2C8"/>
                </a:solidFill>
                <a:latin typeface="Segoe UI" pitchFamily="34" charset="0"/>
                <a:ea typeface="Segoe UI" pitchFamily="34" charset="-122"/>
                <a:cs typeface="Segoe UI" pitchFamily="34" charset="-120"/>
              </a:rPr>
              <a:t>NO_BLOCK_WINDOW</a:t>
            </a:r>
            <a:endParaRPr lang="en-US" sz="1000" dirty="0"/>
          </a:p>
          <a:p>
            <a:pPr marL="342900" indent="-342900">
              <a:lnSpc>
                <a:spcPts val="1320"/>
              </a:lnSpc>
              <a:buSzPct val="100000"/>
              <a:buChar char="•"/>
            </a:pPr>
            <a:r>
              <a:rPr lang="en-US" sz="1000" dirty="0">
                <a:solidFill>
                  <a:srgbClr val="9DB2C8"/>
                </a:solidFill>
                <a:latin typeface="Segoe UI" pitchFamily="34" charset="0"/>
                <a:ea typeface="Segoe UI" pitchFamily="34" charset="-122"/>
                <a:cs typeface="Segoe UI" pitchFamily="34" charset="-120"/>
              </a:rPr>
              <a:t>TRAIN_CONFLICT</a:t>
            </a:r>
            <a:endParaRPr lang="en-US" sz="1000" dirty="0"/>
          </a:p>
          <a:p>
            <a:pPr marL="342900" indent="-342900">
              <a:lnSpc>
                <a:spcPts val="1320"/>
              </a:lnSpc>
              <a:buSzPct val="100000"/>
              <a:buChar char="•"/>
            </a:pPr>
            <a:r>
              <a:rPr lang="en-US" sz="1000" dirty="0">
                <a:solidFill>
                  <a:srgbClr val="9DB2C8"/>
                </a:solidFill>
                <a:latin typeface="Segoe UI" pitchFamily="34" charset="0"/>
                <a:ea typeface="Segoe UI" pitchFamily="34" charset="-122"/>
                <a:cs typeface="Segoe UI" pitchFamily="34" charset="-120"/>
              </a:rPr>
              <a:t>INSUFFICIENT_DURATION</a:t>
            </a:r>
            <a:endParaRPr lang="en-US" sz="1000" dirty="0"/>
          </a:p>
          <a:p>
            <a:pPr marL="342900" indent="-342900">
              <a:lnSpc>
                <a:spcPts val="1320"/>
              </a:lnSpc>
              <a:buSzPct val="100000"/>
              <a:buChar char="•"/>
            </a:pPr>
            <a:r>
              <a:rPr lang="en-US" sz="1000" dirty="0">
                <a:solidFill>
                  <a:srgbClr val="9DB2C8"/>
                </a:solidFill>
                <a:latin typeface="Segoe UI" pitchFamily="34" charset="0"/>
                <a:ea typeface="Segoe UI" pitchFamily="34" charset="-122"/>
                <a:cs typeface="Segoe UI" pitchFamily="34" charset="-120"/>
              </a:rPr>
              <a:t>POWER_ISOLATION_UNAVAILABLE</a:t>
            </a:r>
            <a:endParaRPr lang="en-US" sz="1000" dirty="0"/>
          </a:p>
          <a:p>
            <a:pPr marL="342900" indent="-342900">
              <a:lnSpc>
                <a:spcPts val="1320"/>
              </a:lnSpc>
              <a:buSzPct val="100000"/>
              <a:buChar char="•"/>
            </a:pPr>
            <a:r>
              <a:rPr lang="en-US" sz="1000" dirty="0">
                <a:solidFill>
                  <a:srgbClr val="9DB2C8"/>
                </a:solidFill>
                <a:latin typeface="Segoe UI" pitchFamily="34" charset="0"/>
                <a:ea typeface="Segoe UI" pitchFamily="34" charset="-122"/>
                <a:cs typeface="Segoe UI" pitchFamily="34" charset="-120"/>
              </a:rPr>
              <a:t>DISCONNECTION_UNAVAILABLE</a:t>
            </a:r>
            <a:endParaRPr lang="en-US" sz="1000" dirty="0"/>
          </a:p>
          <a:p>
            <a:pPr marL="342900" indent="-342900">
              <a:lnSpc>
                <a:spcPts val="1320"/>
              </a:lnSpc>
              <a:buSzPct val="100000"/>
              <a:buChar char="•"/>
            </a:pPr>
            <a:r>
              <a:rPr lang="en-US" sz="1000" dirty="0">
                <a:solidFill>
                  <a:srgbClr val="9DB2C8"/>
                </a:solidFill>
                <a:latin typeface="Segoe UI" pitchFamily="34" charset="0"/>
                <a:ea typeface="Segoe UI" pitchFamily="34" charset="-122"/>
                <a:cs typeface="Segoe UI" pitchFamily="34" charset="-120"/>
              </a:rPr>
              <a:t>INCOMPATIBLE_TASK</a:t>
            </a:r>
            <a:endParaRPr lang="en-US" sz="1000" dirty="0"/>
          </a:p>
          <a:p>
            <a:pPr marL="342900" indent="-342900">
              <a:lnSpc>
                <a:spcPts val="1320"/>
              </a:lnSpc>
              <a:buSzPct val="100000"/>
              <a:buChar char="•"/>
            </a:pPr>
            <a:r>
              <a:rPr lang="en-US" sz="1000" dirty="0">
                <a:solidFill>
                  <a:srgbClr val="9DB2C8"/>
                </a:solidFill>
                <a:latin typeface="Segoe UI" pitchFamily="34" charset="0"/>
                <a:ea typeface="Segoe UI" pitchFamily="34" charset="-122"/>
                <a:cs typeface="Segoe UI" pitchFamily="34" charset="-120"/>
              </a:rPr>
              <a:t>OUTSIDE_HORIZON</a:t>
            </a:r>
            <a:endParaRPr lang="en-US" sz="1000" dirty="0"/>
          </a:p>
        </p:txBody>
      </p:sp>
      <p:sp>
        <p:nvSpPr>
          <p:cNvPr id="15" name="Text 12"/>
          <p:cNvSpPr/>
          <p:nvPr/>
        </p:nvSpPr>
        <p:spPr>
          <a:xfrm>
            <a:off x="6766560" y="5815584"/>
            <a:ext cx="4727448" cy="237744"/>
          </a:xfrm>
          <a:prstGeom prst="rect">
            <a:avLst/>
          </a:prstGeom>
          <a:noFill/>
          <a:ln/>
        </p:spPr>
        <p:txBody>
          <a:bodyPr wrap="square" lIns="0" tIns="0" rIns="0" bIns="0" rtlCol="0" anchor="ctr"/>
          <a:lstStyle/>
          <a:p>
            <a:pPr indent="0" marL="0">
              <a:buNone/>
            </a:pPr>
            <a:r>
              <a:rPr lang="en-US" sz="900" i="1" dirty="0">
                <a:solidFill>
                  <a:srgbClr val="6B819A"/>
                </a:solidFill>
                <a:latin typeface="Segoe UI" pitchFamily="34" charset="0"/>
                <a:ea typeface="Segoe UI" pitchFamily="34" charset="-122"/>
                <a:cs typeface="Segoe UI" pitchFamily="34" charset="-120"/>
              </a:rPr>
              <a:t>Every unscheduled task names one. Nothing disappears silently.</a:t>
            </a:r>
            <a:endParaRPr lang="en-US" sz="9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819A"/>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84048"/>
            <a:ext cx="9144000" cy="237744"/>
          </a:xfrm>
          <a:prstGeom prst="rect">
            <a:avLst/>
          </a:prstGeom>
          <a:noFill/>
          <a:ln/>
        </p:spPr>
        <p:txBody>
          <a:bodyPr wrap="square" rtlCol="0" anchor="ctr"/>
          <a:lstStyle/>
          <a:p>
            <a:pPr indent="0" marL="0">
              <a:buNone/>
            </a:pPr>
            <a:r>
              <a:rPr lang="en-US" sz="1100" b="1" spc="160" kern="0" dirty="0">
                <a:solidFill>
                  <a:srgbClr val="3B9BE8"/>
                </a:solidFill>
                <a:latin typeface="Segoe UI" pitchFamily="34" charset="0"/>
                <a:ea typeface="Segoe UI" pitchFamily="34" charset="-122"/>
                <a:cs typeface="Segoe UI" pitchFamily="34" charset="-120"/>
              </a:rPr>
              <a:t>STEP 4 · OPTIMISED PLAN</a:t>
            </a:r>
            <a:endParaRPr lang="en-US" sz="1100" dirty="0"/>
          </a:p>
        </p:txBody>
      </p:sp>
      <p:sp>
        <p:nvSpPr>
          <p:cNvPr id="3" name="Text 1"/>
          <p:cNvSpPr/>
          <p:nvPr/>
        </p:nvSpPr>
        <p:spPr>
          <a:xfrm>
            <a:off x="502920" y="658368"/>
            <a:ext cx="11155680" cy="566928"/>
          </a:xfrm>
          <a:prstGeom prst="rect">
            <a:avLst/>
          </a:prstGeom>
          <a:noFill/>
          <a:ln/>
        </p:spPr>
        <p:txBody>
          <a:bodyPr wrap="square" rtlCol="0" anchor="ctr"/>
          <a:lstStyle/>
          <a:p>
            <a:pPr indent="0" marL="0">
              <a:buNone/>
            </a:pPr>
            <a:r>
              <a:rPr lang="en-US" sz="3000" b="1" dirty="0">
                <a:solidFill>
                  <a:srgbClr val="F1F6FC"/>
                </a:solidFill>
                <a:latin typeface="Segoe UI" pitchFamily="34" charset="0"/>
                <a:ea typeface="Segoe UI" pitchFamily="34" charset="-122"/>
                <a:cs typeface="Segoe UI" pitchFamily="34" charset="-120"/>
              </a:rPr>
              <a:t>A weekly plan the solver proved optimal</a:t>
            </a:r>
            <a:endParaRPr lang="en-US" sz="3000" dirty="0"/>
          </a:p>
        </p:txBody>
      </p:sp>
      <p:sp>
        <p:nvSpPr>
          <p:cNvPr id="4" name="Text 2"/>
          <p:cNvSpPr/>
          <p:nvPr/>
        </p:nvSpPr>
        <p:spPr>
          <a:xfrm>
            <a:off x="502920" y="1280160"/>
            <a:ext cx="11155680" cy="365760"/>
          </a:xfrm>
          <a:prstGeom prst="rect">
            <a:avLst/>
          </a:prstGeom>
          <a:noFill/>
          <a:ln/>
        </p:spPr>
        <p:txBody>
          <a:bodyPr wrap="square" rtlCol="0" anchor="ctr"/>
          <a:lstStyle/>
          <a:p>
            <a:pPr indent="0" marL="0">
              <a:buNone/>
            </a:pPr>
            <a:r>
              <a:rPr lang="en-US" sz="1300" dirty="0">
                <a:solidFill>
                  <a:srgbClr val="9DB2C8"/>
                </a:solidFill>
                <a:latin typeface="Segoe UI" pitchFamily="34" charset="0"/>
                <a:ea typeface="Segoe UI" pitchFamily="34" charset="-122"/>
                <a:cs typeface="Segoe UI" pitchFamily="34" charset="-120"/>
              </a:rPr>
              <a:t>One possession can serve several departments at once — and the jobs that could not be placed safely are still on the page.</a:t>
            </a:r>
            <a:endParaRPr lang="en-US" sz="1300" dirty="0"/>
          </a:p>
        </p:txBody>
      </p:sp>
      <p:pic>
        <p:nvPicPr>
          <p:cNvPr id="5" name="Image 0" descr="D:\ai-block-planning\presentation\assets\plan.png">    </p:cNvPr>
          <p:cNvPicPr>
            <a:picLocks noChangeAspect="1"/>
          </p:cNvPicPr>
          <p:nvPr/>
        </p:nvPicPr>
        <p:blipFill>
          <a:blip r:embed="rId1"/>
          <a:stretch>
            <a:fillRect/>
          </a:stretch>
        </p:blipFill>
        <p:spPr>
          <a:xfrm>
            <a:off x="502920" y="1810512"/>
            <a:ext cx="5806440" cy="4032250"/>
          </a:xfrm>
          <a:prstGeom prst="rect">
            <a:avLst/>
          </a:prstGeom>
        </p:spPr>
      </p:pic>
      <p:sp>
        <p:nvSpPr>
          <p:cNvPr id="6" name="Shape 3"/>
          <p:cNvSpPr/>
          <p:nvPr/>
        </p:nvSpPr>
        <p:spPr>
          <a:xfrm>
            <a:off x="502920" y="1810512"/>
            <a:ext cx="5806440" cy="4032250"/>
          </a:xfrm>
          <a:prstGeom prst="rect">
            <a:avLst/>
          </a:prstGeom>
          <a:ln w="12700">
            <a:solidFill>
              <a:srgbClr val="223449"/>
            </a:solidFill>
            <a:prstDash val="solid"/>
          </a:ln>
        </p:spPr>
      </p:sp>
      <p:sp>
        <p:nvSpPr>
          <p:cNvPr id="7" name="Text 4"/>
          <p:cNvSpPr/>
          <p:nvPr/>
        </p:nvSpPr>
        <p:spPr>
          <a:xfrm>
            <a:off x="502920" y="5897626"/>
            <a:ext cx="5806440" cy="256032"/>
          </a:xfrm>
          <a:prstGeom prst="rect">
            <a:avLst/>
          </a:prstGeom>
          <a:noFill/>
          <a:ln/>
        </p:spPr>
        <p:txBody>
          <a:bodyPr wrap="square" rtlCol="0" anchor="ctr"/>
          <a:lstStyle/>
          <a:p>
            <a:pPr algn="ctr" indent="0" marL="0">
              <a:buNone/>
            </a:pPr>
            <a:r>
              <a:rPr lang="en-US" sz="950" i="1" dirty="0">
                <a:solidFill>
                  <a:srgbClr val="6B819A"/>
                </a:solidFill>
                <a:latin typeface="Segoe UI" pitchFamily="34" charset="0"/>
                <a:ea typeface="Segoe UI" pitchFamily="34" charset="-122"/>
                <a:cs typeface="Segoe UI" pitchFamily="34" charset="-120"/>
              </a:rPr>
              <a:t>Block plan — weekly horizon, OPTIMAL, 25 of 109 jobs placed across 18 blocks</a:t>
            </a:r>
            <a:endParaRPr lang="en-US" sz="950" dirty="0"/>
          </a:p>
        </p:txBody>
      </p:sp>
      <p:sp>
        <p:nvSpPr>
          <p:cNvPr id="8" name="Shape 5"/>
          <p:cNvSpPr/>
          <p:nvPr/>
        </p:nvSpPr>
        <p:spPr>
          <a:xfrm>
            <a:off x="6537960" y="1810512"/>
            <a:ext cx="2532888" cy="1188720"/>
          </a:xfrm>
          <a:prstGeom prst="roundRect">
            <a:avLst>
              <a:gd name="adj" fmla="val 6154"/>
            </a:avLst>
          </a:prstGeom>
          <a:solidFill>
            <a:srgbClr val="132133"/>
          </a:solidFill>
          <a:ln w="12700">
            <a:solidFill>
              <a:srgbClr val="223449"/>
            </a:solidFill>
            <a:prstDash val="solid"/>
          </a:ln>
        </p:spPr>
      </p:sp>
      <p:sp>
        <p:nvSpPr>
          <p:cNvPr id="9" name="Text 6"/>
          <p:cNvSpPr/>
          <p:nvPr/>
        </p:nvSpPr>
        <p:spPr>
          <a:xfrm>
            <a:off x="6702552" y="1929384"/>
            <a:ext cx="2203704" cy="219456"/>
          </a:xfrm>
          <a:prstGeom prst="rect">
            <a:avLst/>
          </a:prstGeom>
          <a:noFill/>
          <a:ln/>
        </p:spPr>
        <p:txBody>
          <a:bodyPr wrap="square" lIns="0" tIns="0" rIns="0" bIns="0" rtlCol="0" anchor="ctr"/>
          <a:lstStyle/>
          <a:p>
            <a:pPr indent="0" marL="0">
              <a:buNone/>
            </a:pPr>
            <a:r>
              <a:rPr lang="en-US" sz="900" b="1" spc="80" kern="0" dirty="0">
                <a:solidFill>
                  <a:srgbClr val="6B819A"/>
                </a:solidFill>
                <a:latin typeface="Segoe UI" pitchFamily="34" charset="0"/>
                <a:ea typeface="Segoe UI" pitchFamily="34" charset="-122"/>
                <a:cs typeface="Segoe UI" pitchFamily="34" charset="-120"/>
              </a:rPr>
              <a:t>SOLVER STATUS</a:t>
            </a:r>
            <a:endParaRPr lang="en-US" sz="900" dirty="0"/>
          </a:p>
        </p:txBody>
      </p:sp>
      <p:sp>
        <p:nvSpPr>
          <p:cNvPr id="10" name="Text 7"/>
          <p:cNvSpPr/>
          <p:nvPr/>
        </p:nvSpPr>
        <p:spPr>
          <a:xfrm>
            <a:off x="6702552" y="2176272"/>
            <a:ext cx="2203704" cy="420624"/>
          </a:xfrm>
          <a:prstGeom prst="rect">
            <a:avLst/>
          </a:prstGeom>
          <a:noFill/>
          <a:ln/>
        </p:spPr>
        <p:txBody>
          <a:bodyPr wrap="square" lIns="0" tIns="0" rIns="0" bIns="0" rtlCol="0" anchor="ctr"/>
          <a:lstStyle/>
          <a:p>
            <a:pPr indent="0" marL="0">
              <a:buNone/>
            </a:pPr>
            <a:r>
              <a:rPr lang="en-US" sz="2400" b="1" dirty="0">
                <a:solidFill>
                  <a:srgbClr val="34D399"/>
                </a:solidFill>
                <a:latin typeface="Segoe UI" pitchFamily="34" charset="0"/>
                <a:ea typeface="Segoe UI" pitchFamily="34" charset="-122"/>
                <a:cs typeface="Segoe UI" pitchFamily="34" charset="-120"/>
              </a:rPr>
              <a:t>OPTIMAL</a:t>
            </a:r>
            <a:endParaRPr lang="en-US" sz="2400" dirty="0"/>
          </a:p>
        </p:txBody>
      </p:sp>
      <p:sp>
        <p:nvSpPr>
          <p:cNvPr id="11" name="Text 8"/>
          <p:cNvSpPr/>
          <p:nvPr/>
        </p:nvSpPr>
        <p:spPr>
          <a:xfrm>
            <a:off x="6702552" y="2633472"/>
            <a:ext cx="2203704" cy="256032"/>
          </a:xfrm>
          <a:prstGeom prst="rect">
            <a:avLst/>
          </a:prstGeom>
          <a:noFill/>
          <a:ln/>
        </p:spPr>
        <p:txBody>
          <a:bodyPr wrap="square" lIns="0" tIns="0" rIns="0" bIns="0" rtlCol="0" anchor="t"/>
          <a:lstStyle/>
          <a:p>
            <a:pPr indent="0" marL="0">
              <a:lnSpc>
                <a:spcPts val="875"/>
              </a:lnSpc>
              <a:buNone/>
            </a:pPr>
            <a:r>
              <a:rPr lang="en-US" sz="700" dirty="0">
                <a:solidFill>
                  <a:srgbClr val="9DB2C8"/>
                </a:solidFill>
                <a:latin typeface="Segoe UI" pitchFamily="34" charset="0"/>
                <a:ea typeface="Segoe UI" pitchFamily="34" charset="-122"/>
                <a:cs typeface="Segoe UI" pitchFamily="34" charset="-120"/>
              </a:rPr>
              <a:t>No better plan exists for these jobs, windows and rules</a:t>
            </a:r>
            <a:endParaRPr lang="en-US" sz="700" dirty="0"/>
          </a:p>
        </p:txBody>
      </p:sp>
      <p:sp>
        <p:nvSpPr>
          <p:cNvPr id="12" name="Shape 9"/>
          <p:cNvSpPr/>
          <p:nvPr/>
        </p:nvSpPr>
        <p:spPr>
          <a:xfrm>
            <a:off x="9189720" y="1810512"/>
            <a:ext cx="2532888" cy="1188720"/>
          </a:xfrm>
          <a:prstGeom prst="roundRect">
            <a:avLst>
              <a:gd name="adj" fmla="val 6154"/>
            </a:avLst>
          </a:prstGeom>
          <a:solidFill>
            <a:srgbClr val="132133"/>
          </a:solidFill>
          <a:ln w="12700">
            <a:solidFill>
              <a:srgbClr val="223449"/>
            </a:solidFill>
            <a:prstDash val="solid"/>
          </a:ln>
        </p:spPr>
      </p:sp>
      <p:sp>
        <p:nvSpPr>
          <p:cNvPr id="13" name="Text 10"/>
          <p:cNvSpPr/>
          <p:nvPr/>
        </p:nvSpPr>
        <p:spPr>
          <a:xfrm>
            <a:off x="9354312" y="1929384"/>
            <a:ext cx="2203704" cy="219456"/>
          </a:xfrm>
          <a:prstGeom prst="rect">
            <a:avLst/>
          </a:prstGeom>
          <a:noFill/>
          <a:ln/>
        </p:spPr>
        <p:txBody>
          <a:bodyPr wrap="square" lIns="0" tIns="0" rIns="0" bIns="0" rtlCol="0" anchor="ctr"/>
          <a:lstStyle/>
          <a:p>
            <a:pPr indent="0" marL="0">
              <a:buNone/>
            </a:pPr>
            <a:r>
              <a:rPr lang="en-US" sz="900" b="1" spc="80" kern="0" dirty="0">
                <a:solidFill>
                  <a:srgbClr val="6B819A"/>
                </a:solidFill>
                <a:latin typeface="Segoe UI" pitchFamily="34" charset="0"/>
                <a:ea typeface="Segoe UI" pitchFamily="34" charset="-122"/>
                <a:cs typeface="Segoe UI" pitchFamily="34" charset="-120"/>
              </a:rPr>
              <a:t>ASSET AVAILABILITY</a:t>
            </a:r>
            <a:endParaRPr lang="en-US" sz="900" dirty="0"/>
          </a:p>
        </p:txBody>
      </p:sp>
      <p:sp>
        <p:nvSpPr>
          <p:cNvPr id="14" name="Text 11"/>
          <p:cNvSpPr/>
          <p:nvPr/>
        </p:nvSpPr>
        <p:spPr>
          <a:xfrm>
            <a:off x="9354312" y="2176272"/>
            <a:ext cx="2203704" cy="420624"/>
          </a:xfrm>
          <a:prstGeom prst="rect">
            <a:avLst/>
          </a:prstGeom>
          <a:noFill/>
          <a:ln/>
        </p:spPr>
        <p:txBody>
          <a:bodyPr wrap="square" lIns="0" tIns="0" rIns="0" bIns="0" rtlCol="0" anchor="ctr"/>
          <a:lstStyle/>
          <a:p>
            <a:pPr indent="0" marL="0">
              <a:buNone/>
            </a:pPr>
            <a:r>
              <a:rPr lang="en-US" sz="2400" b="1" dirty="0">
                <a:solidFill>
                  <a:srgbClr val="2DD4BF"/>
                </a:solidFill>
                <a:latin typeface="Segoe UI" pitchFamily="34" charset="0"/>
                <a:ea typeface="Segoe UI" pitchFamily="34" charset="-122"/>
                <a:cs typeface="Segoe UI" pitchFamily="34" charset="-120"/>
              </a:rPr>
              <a:t>97.817%</a:t>
            </a:r>
            <a:endParaRPr lang="en-US" sz="2400" dirty="0"/>
          </a:p>
        </p:txBody>
      </p:sp>
      <p:sp>
        <p:nvSpPr>
          <p:cNvPr id="15" name="Text 12"/>
          <p:cNvSpPr/>
          <p:nvPr/>
        </p:nvSpPr>
        <p:spPr>
          <a:xfrm>
            <a:off x="9354312" y="2633472"/>
            <a:ext cx="2203704" cy="256032"/>
          </a:xfrm>
          <a:prstGeom prst="rect">
            <a:avLst/>
          </a:prstGeom>
          <a:noFill/>
          <a:ln/>
        </p:spPr>
        <p:txBody>
          <a:bodyPr wrap="square" lIns="0" tIns="0" rIns="0" bIns="0" rtlCol="0" anchor="t"/>
          <a:lstStyle/>
          <a:p>
            <a:pPr indent="0" marL="0">
              <a:lnSpc>
                <a:spcPts val="1063"/>
              </a:lnSpc>
              <a:buNone/>
            </a:pPr>
            <a:r>
              <a:rPr lang="en-US" sz="850" dirty="0">
                <a:solidFill>
                  <a:srgbClr val="9DB2C8"/>
                </a:solidFill>
                <a:latin typeface="Segoe UI" pitchFamily="34" charset="0"/>
                <a:ea typeface="Segoe UI" pitchFamily="34" charset="-122"/>
                <a:cs typeface="Segoe UI" pitchFamily="34" charset="-120"/>
              </a:rPr>
              <a:t>Share of section time not under block</a:t>
            </a:r>
            <a:endParaRPr lang="en-US" sz="850" dirty="0"/>
          </a:p>
        </p:txBody>
      </p:sp>
      <p:sp>
        <p:nvSpPr>
          <p:cNvPr id="16" name="Shape 13"/>
          <p:cNvSpPr/>
          <p:nvPr/>
        </p:nvSpPr>
        <p:spPr>
          <a:xfrm>
            <a:off x="6537960" y="3108960"/>
            <a:ext cx="2532888" cy="1188720"/>
          </a:xfrm>
          <a:prstGeom prst="roundRect">
            <a:avLst>
              <a:gd name="adj" fmla="val 6154"/>
            </a:avLst>
          </a:prstGeom>
          <a:solidFill>
            <a:srgbClr val="132133"/>
          </a:solidFill>
          <a:ln w="12700">
            <a:solidFill>
              <a:srgbClr val="223449"/>
            </a:solidFill>
            <a:prstDash val="solid"/>
          </a:ln>
        </p:spPr>
      </p:sp>
      <p:sp>
        <p:nvSpPr>
          <p:cNvPr id="17" name="Text 14"/>
          <p:cNvSpPr/>
          <p:nvPr/>
        </p:nvSpPr>
        <p:spPr>
          <a:xfrm>
            <a:off x="6702552" y="3227832"/>
            <a:ext cx="2203704" cy="219456"/>
          </a:xfrm>
          <a:prstGeom prst="rect">
            <a:avLst/>
          </a:prstGeom>
          <a:noFill/>
          <a:ln/>
        </p:spPr>
        <p:txBody>
          <a:bodyPr wrap="square" lIns="0" tIns="0" rIns="0" bIns="0" rtlCol="0" anchor="ctr"/>
          <a:lstStyle/>
          <a:p>
            <a:pPr indent="0" marL="0">
              <a:buNone/>
            </a:pPr>
            <a:r>
              <a:rPr lang="en-US" sz="900" b="1" spc="80" kern="0" dirty="0">
                <a:solidFill>
                  <a:srgbClr val="6B819A"/>
                </a:solidFill>
                <a:latin typeface="Segoe UI" pitchFamily="34" charset="0"/>
                <a:ea typeface="Segoe UI" pitchFamily="34" charset="-122"/>
                <a:cs typeface="Segoe UI" pitchFamily="34" charset="-120"/>
              </a:rPr>
              <a:t>TRACK TIME TAKEN</a:t>
            </a:r>
            <a:endParaRPr lang="en-US" sz="900" dirty="0"/>
          </a:p>
        </p:txBody>
      </p:sp>
      <p:sp>
        <p:nvSpPr>
          <p:cNvPr id="18" name="Text 15"/>
          <p:cNvSpPr/>
          <p:nvPr/>
        </p:nvSpPr>
        <p:spPr>
          <a:xfrm>
            <a:off x="6702552" y="3474720"/>
            <a:ext cx="2203704" cy="420624"/>
          </a:xfrm>
          <a:prstGeom prst="rect">
            <a:avLst/>
          </a:prstGeom>
          <a:noFill/>
          <a:ln/>
        </p:spPr>
        <p:txBody>
          <a:bodyPr wrap="square" lIns="0" tIns="0" rIns="0" bIns="0" rtlCol="0" anchor="ctr"/>
          <a:lstStyle/>
          <a:p>
            <a:pPr indent="0" marL="0">
              <a:buNone/>
            </a:pPr>
            <a:r>
              <a:rPr lang="en-US" sz="2400" b="1" dirty="0">
                <a:solidFill>
                  <a:srgbClr val="3B9BE8"/>
                </a:solidFill>
                <a:latin typeface="Segoe UI" pitchFamily="34" charset="0"/>
                <a:ea typeface="Segoe UI" pitchFamily="34" charset="-122"/>
                <a:cs typeface="Segoe UI" pitchFamily="34" charset="-120"/>
              </a:rPr>
              <a:t>1,980 min</a:t>
            </a:r>
            <a:endParaRPr lang="en-US" sz="2400" dirty="0"/>
          </a:p>
        </p:txBody>
      </p:sp>
      <p:sp>
        <p:nvSpPr>
          <p:cNvPr id="19" name="Text 16"/>
          <p:cNvSpPr/>
          <p:nvPr/>
        </p:nvSpPr>
        <p:spPr>
          <a:xfrm>
            <a:off x="6702552" y="3931920"/>
            <a:ext cx="2203704" cy="256032"/>
          </a:xfrm>
          <a:prstGeom prst="rect">
            <a:avLst/>
          </a:prstGeom>
          <a:noFill/>
          <a:ln/>
        </p:spPr>
        <p:txBody>
          <a:bodyPr wrap="square" lIns="0" tIns="0" rIns="0" bIns="0" rtlCol="0" anchor="t"/>
          <a:lstStyle/>
          <a:p>
            <a:pPr indent="0" marL="0">
              <a:lnSpc>
                <a:spcPts val="1188"/>
              </a:lnSpc>
              <a:buNone/>
            </a:pPr>
            <a:r>
              <a:rPr lang="en-US" sz="950" dirty="0">
                <a:solidFill>
                  <a:srgbClr val="9DB2C8"/>
                </a:solidFill>
                <a:latin typeface="Segoe UI" pitchFamily="34" charset="0"/>
                <a:ea typeface="Segoe UI" pitchFamily="34" charset="-122"/>
                <a:cs typeface="Segoe UI" pitchFamily="34" charset="-120"/>
              </a:rPr>
              <a:t>across 18 separate blocks</a:t>
            </a:r>
            <a:endParaRPr lang="en-US" sz="950" dirty="0"/>
          </a:p>
        </p:txBody>
      </p:sp>
      <p:sp>
        <p:nvSpPr>
          <p:cNvPr id="20" name="Shape 17"/>
          <p:cNvSpPr/>
          <p:nvPr/>
        </p:nvSpPr>
        <p:spPr>
          <a:xfrm>
            <a:off x="9189720" y="3108960"/>
            <a:ext cx="2532888" cy="1188720"/>
          </a:xfrm>
          <a:prstGeom prst="roundRect">
            <a:avLst>
              <a:gd name="adj" fmla="val 6154"/>
            </a:avLst>
          </a:prstGeom>
          <a:solidFill>
            <a:srgbClr val="132133"/>
          </a:solidFill>
          <a:ln w="12700">
            <a:solidFill>
              <a:srgbClr val="223449"/>
            </a:solidFill>
            <a:prstDash val="solid"/>
          </a:ln>
        </p:spPr>
      </p:sp>
      <p:sp>
        <p:nvSpPr>
          <p:cNvPr id="21" name="Text 18"/>
          <p:cNvSpPr/>
          <p:nvPr/>
        </p:nvSpPr>
        <p:spPr>
          <a:xfrm>
            <a:off x="9354312" y="3227832"/>
            <a:ext cx="2203704" cy="219456"/>
          </a:xfrm>
          <a:prstGeom prst="rect">
            <a:avLst/>
          </a:prstGeom>
          <a:noFill/>
          <a:ln/>
        </p:spPr>
        <p:txBody>
          <a:bodyPr wrap="square" lIns="0" tIns="0" rIns="0" bIns="0" rtlCol="0" anchor="ctr"/>
          <a:lstStyle/>
          <a:p>
            <a:pPr indent="0" marL="0">
              <a:buNone/>
            </a:pPr>
            <a:r>
              <a:rPr lang="en-US" sz="900" b="1" spc="80" kern="0" dirty="0">
                <a:solidFill>
                  <a:srgbClr val="6B819A"/>
                </a:solidFill>
                <a:latin typeface="Segoe UI" pitchFamily="34" charset="0"/>
                <a:ea typeface="Segoe UI" pitchFamily="34" charset="-122"/>
                <a:cs typeface="Segoe UI" pitchFamily="34" charset="-120"/>
              </a:rPr>
              <a:t>SHARED BLOCKS</a:t>
            </a:r>
            <a:endParaRPr lang="en-US" sz="900" dirty="0"/>
          </a:p>
        </p:txBody>
      </p:sp>
      <p:sp>
        <p:nvSpPr>
          <p:cNvPr id="22" name="Text 19"/>
          <p:cNvSpPr/>
          <p:nvPr/>
        </p:nvSpPr>
        <p:spPr>
          <a:xfrm>
            <a:off x="9354312" y="3474720"/>
            <a:ext cx="2203704" cy="420624"/>
          </a:xfrm>
          <a:prstGeom prst="rect">
            <a:avLst/>
          </a:prstGeom>
          <a:noFill/>
          <a:ln/>
        </p:spPr>
        <p:txBody>
          <a:bodyPr wrap="square" lIns="0" tIns="0" rIns="0" bIns="0" rtlCol="0" anchor="ctr"/>
          <a:lstStyle/>
          <a:p>
            <a:pPr indent="0" marL="0">
              <a:buNone/>
            </a:pPr>
            <a:r>
              <a:rPr lang="en-US" sz="2400" b="1" dirty="0">
                <a:solidFill>
                  <a:srgbClr val="A78BFA"/>
                </a:solidFill>
                <a:latin typeface="Segoe UI" pitchFamily="34" charset="0"/>
                <a:ea typeface="Segoe UI" pitchFamily="34" charset="-122"/>
                <a:cs typeface="Segoe UI" pitchFamily="34" charset="-120"/>
              </a:rPr>
              <a:t>7</a:t>
            </a:r>
            <a:endParaRPr lang="en-US" sz="2400" dirty="0"/>
          </a:p>
        </p:txBody>
      </p:sp>
      <p:sp>
        <p:nvSpPr>
          <p:cNvPr id="23" name="Text 20"/>
          <p:cNvSpPr/>
          <p:nvPr/>
        </p:nvSpPr>
        <p:spPr>
          <a:xfrm>
            <a:off x="9354312" y="3931920"/>
            <a:ext cx="2203704" cy="256032"/>
          </a:xfrm>
          <a:prstGeom prst="rect">
            <a:avLst/>
          </a:prstGeom>
          <a:noFill/>
          <a:ln/>
        </p:spPr>
        <p:txBody>
          <a:bodyPr wrap="square" lIns="0" tIns="0" rIns="0" bIns="0" rtlCol="0" anchor="t"/>
          <a:lstStyle/>
          <a:p>
            <a:pPr indent="0" marL="0">
              <a:lnSpc>
                <a:spcPts val="938"/>
              </a:lnSpc>
              <a:buNone/>
            </a:pPr>
            <a:r>
              <a:rPr lang="en-US" sz="750" dirty="0">
                <a:solidFill>
                  <a:srgbClr val="9DB2C8"/>
                </a:solidFill>
                <a:latin typeface="Segoe UI" pitchFamily="34" charset="0"/>
                <a:ea typeface="Segoe UI" pitchFamily="34" charset="-122"/>
                <a:cs typeface="Segoe UI" pitchFamily="34" charset="-120"/>
              </a:rPr>
              <a:t>one possession serving several departments</a:t>
            </a:r>
            <a:endParaRPr lang="en-US" sz="750" dirty="0"/>
          </a:p>
        </p:txBody>
      </p:sp>
      <p:sp>
        <p:nvSpPr>
          <p:cNvPr id="24" name="Shape 21"/>
          <p:cNvSpPr/>
          <p:nvPr/>
        </p:nvSpPr>
        <p:spPr>
          <a:xfrm>
            <a:off x="6537960" y="4434840"/>
            <a:ext cx="5184648" cy="1691640"/>
          </a:xfrm>
          <a:prstGeom prst="roundRect">
            <a:avLst>
              <a:gd name="adj" fmla="val 4324"/>
            </a:avLst>
          </a:prstGeom>
          <a:solidFill>
            <a:srgbClr val="132133"/>
          </a:solidFill>
          <a:ln w="12700">
            <a:solidFill>
              <a:srgbClr val="223449"/>
            </a:solidFill>
            <a:prstDash val="solid"/>
          </a:ln>
        </p:spPr>
      </p:sp>
      <p:sp>
        <p:nvSpPr>
          <p:cNvPr id="25" name="Shape 22"/>
          <p:cNvSpPr/>
          <p:nvPr/>
        </p:nvSpPr>
        <p:spPr>
          <a:xfrm>
            <a:off x="6537960" y="4617720"/>
            <a:ext cx="45720" cy="256032"/>
          </a:xfrm>
          <a:prstGeom prst="rect">
            <a:avLst/>
          </a:prstGeom>
          <a:solidFill>
            <a:srgbClr val="F0A93B"/>
          </a:solidFill>
          <a:ln/>
        </p:spPr>
      </p:sp>
      <p:sp>
        <p:nvSpPr>
          <p:cNvPr id="26" name="Text 23"/>
          <p:cNvSpPr/>
          <p:nvPr/>
        </p:nvSpPr>
        <p:spPr>
          <a:xfrm>
            <a:off x="6757416" y="4599432"/>
            <a:ext cx="4782312" cy="274320"/>
          </a:xfrm>
          <a:prstGeom prst="rect">
            <a:avLst/>
          </a:prstGeom>
          <a:noFill/>
          <a:ln/>
        </p:spPr>
        <p:txBody>
          <a:bodyPr wrap="square" lIns="0" tIns="0" rIns="0" bIns="0" rtlCol="0" anchor="ctr"/>
          <a:lstStyle/>
          <a:p>
            <a:pPr indent="0" marL="0">
              <a:buNone/>
            </a:pPr>
            <a:r>
              <a:rPr lang="en-US" sz="1350" b="1" dirty="0">
                <a:solidFill>
                  <a:srgbClr val="F1F6FC"/>
                </a:solidFill>
                <a:latin typeface="Segoe UI" pitchFamily="34" charset="0"/>
                <a:ea typeface="Segoe UI" pitchFamily="34" charset="-122"/>
                <a:cs typeface="Segoe UI" pitchFamily="34" charset="-120"/>
              </a:rPr>
              <a:t>Honest about what was left out</a:t>
            </a:r>
            <a:endParaRPr lang="en-US" sz="1350" dirty="0"/>
          </a:p>
        </p:txBody>
      </p:sp>
      <p:sp>
        <p:nvSpPr>
          <p:cNvPr id="27" name="Text 24"/>
          <p:cNvSpPr/>
          <p:nvPr/>
        </p:nvSpPr>
        <p:spPr>
          <a:xfrm>
            <a:off x="6775704" y="4983480"/>
            <a:ext cx="4745736" cy="1014984"/>
          </a:xfrm>
          <a:prstGeom prst="rect">
            <a:avLst/>
          </a:prstGeom>
          <a:noFill/>
          <a:ln/>
        </p:spPr>
        <p:txBody>
          <a:bodyPr wrap="square" lIns="0" tIns="0" rIns="0" bIns="0" rtlCol="0" anchor="t"/>
          <a:lstStyle/>
          <a:p>
            <a:pPr marL="342900" indent="-342900">
              <a:lnSpc>
                <a:spcPts val="1122"/>
              </a:lnSpc>
              <a:buSzPct val="100000"/>
              <a:buChar char="•"/>
            </a:pPr>
            <a:r>
              <a:rPr lang="en-US" sz="850" dirty="0">
                <a:solidFill>
                  <a:srgbClr val="9DB2C8"/>
                </a:solidFill>
                <a:latin typeface="Segoe UI" pitchFamily="34" charset="0"/>
                <a:ea typeface="Segoe UI" pitchFamily="34" charset="-122"/>
                <a:cs typeface="Segoe UI" pitchFamily="34" charset="-120"/>
              </a:rPr>
              <a:t>84 jobs left out, each with a reason code attached.</a:t>
            </a:r>
            <a:endParaRPr lang="en-US" sz="850" dirty="0"/>
          </a:p>
          <a:p>
            <a:pPr marL="342900" indent="-342900">
              <a:lnSpc>
                <a:spcPts val="1122"/>
              </a:lnSpc>
              <a:buSzPct val="100000"/>
              <a:buChar char="•"/>
            </a:pPr>
            <a:r>
              <a:rPr lang="en-US" sz="850" dirty="0">
                <a:solidFill>
                  <a:srgbClr val="9DB2C8"/>
                </a:solidFill>
                <a:latin typeface="Segoe UI" pitchFamily="34" charset="0"/>
                <a:ea typeface="Segoe UI" pitchFamily="34" charset="-122"/>
                <a:cs typeface="Segoe UI" pitchFamily="34" charset="-120"/>
              </a:rPr>
              <a:t>3 critical jobs still have no safe slot — the constraints were not relaxed to fit them in.</a:t>
            </a:r>
            <a:endParaRPr lang="en-US" sz="850" dirty="0"/>
          </a:p>
          <a:p>
            <a:pPr marL="342900" indent="-342900">
              <a:lnSpc>
                <a:spcPts val="1122"/>
              </a:lnSpc>
              <a:buSzPct val="100000"/>
              <a:buChar char="•"/>
            </a:pPr>
            <a:r>
              <a:rPr lang="en-US" sz="850" dirty="0">
                <a:solidFill>
                  <a:srgbClr val="9DB2C8"/>
                </a:solidFill>
                <a:latin typeface="Segoe UI" pitchFamily="34" charset="0"/>
                <a:ea typeface="Segoe UI" pitchFamily="34" charset="-122"/>
                <a:cs typeface="Segoe UI" pitchFamily="34" charset="-120"/>
              </a:rPr>
              <a:t>An independent validator re-derives every rule afterwards and rejects a plan with a train conflict, a task outside a block, a missing power or disconnection requirement, a duplicate assignment, or a block outside the horizon.</a:t>
            </a:r>
            <a:endParaRPr lang="en-US" sz="85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819A"/>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84048"/>
            <a:ext cx="9144000" cy="237744"/>
          </a:xfrm>
          <a:prstGeom prst="rect">
            <a:avLst/>
          </a:prstGeom>
          <a:noFill/>
          <a:ln/>
        </p:spPr>
        <p:txBody>
          <a:bodyPr wrap="square" rtlCol="0" anchor="ctr"/>
          <a:lstStyle/>
          <a:p>
            <a:pPr indent="0" marL="0">
              <a:buNone/>
            </a:pPr>
            <a:r>
              <a:rPr lang="en-US" sz="1100" b="1" spc="160" kern="0" dirty="0">
                <a:solidFill>
                  <a:srgbClr val="3B9BE8"/>
                </a:solidFill>
                <a:latin typeface="Segoe UI" pitchFamily="34" charset="0"/>
                <a:ea typeface="Segoe UI" pitchFamily="34" charset="-122"/>
                <a:cs typeface="Segoe UI" pitchFamily="34" charset="-120"/>
              </a:rPr>
              <a:t>STEP 5 · PROOF</a:t>
            </a:r>
            <a:endParaRPr lang="en-US" sz="1100" dirty="0"/>
          </a:p>
        </p:txBody>
      </p:sp>
      <p:sp>
        <p:nvSpPr>
          <p:cNvPr id="3" name="Text 1"/>
          <p:cNvSpPr/>
          <p:nvPr/>
        </p:nvSpPr>
        <p:spPr>
          <a:xfrm>
            <a:off x="502920" y="658368"/>
            <a:ext cx="11155680" cy="566928"/>
          </a:xfrm>
          <a:prstGeom prst="rect">
            <a:avLst/>
          </a:prstGeom>
          <a:noFill/>
          <a:ln/>
        </p:spPr>
        <p:txBody>
          <a:bodyPr wrap="square" rtlCol="0" anchor="ctr"/>
          <a:lstStyle/>
          <a:p>
            <a:pPr indent="0" marL="0">
              <a:buNone/>
            </a:pPr>
            <a:r>
              <a:rPr lang="en-US" sz="3000" b="1" dirty="0">
                <a:solidFill>
                  <a:srgbClr val="F1F6FC"/>
                </a:solidFill>
                <a:latin typeface="Segoe UI" pitchFamily="34" charset="0"/>
                <a:ea typeface="Segoe UI" pitchFamily="34" charset="-122"/>
                <a:cs typeface="Segoe UI" pitchFamily="34" charset="-120"/>
              </a:rPr>
              <a:t>Coordinated vs department-by-department</a:t>
            </a:r>
            <a:endParaRPr lang="en-US" sz="3000" dirty="0"/>
          </a:p>
        </p:txBody>
      </p:sp>
      <p:sp>
        <p:nvSpPr>
          <p:cNvPr id="4" name="Text 2"/>
          <p:cNvSpPr/>
          <p:nvPr/>
        </p:nvSpPr>
        <p:spPr>
          <a:xfrm>
            <a:off x="502920" y="1280160"/>
            <a:ext cx="11155680" cy="365760"/>
          </a:xfrm>
          <a:prstGeom prst="rect">
            <a:avLst/>
          </a:prstGeom>
          <a:noFill/>
          <a:ln/>
        </p:spPr>
        <p:txBody>
          <a:bodyPr wrap="square" rtlCol="0" anchor="ctr"/>
          <a:lstStyle/>
          <a:p>
            <a:pPr indent="0" marL="0">
              <a:buNone/>
            </a:pPr>
            <a:r>
              <a:rPr lang="en-US" sz="1300" dirty="0">
                <a:solidFill>
                  <a:srgbClr val="9DB2C8"/>
                </a:solidFill>
                <a:latin typeface="Segoe UI" pitchFamily="34" charset="0"/>
                <a:ea typeface="Segoe UI" pitchFamily="34" charset="-122"/>
                <a:cs typeface="Segoe UI" pitchFamily="34" charset="-120"/>
              </a:rPr>
              <a:t>Same jobs, same windows, same durations, same safety rules — the only variable is coordination.</a:t>
            </a:r>
            <a:endParaRPr lang="en-US" sz="1300" dirty="0"/>
          </a:p>
        </p:txBody>
      </p:sp>
      <p:pic>
        <p:nvPicPr>
          <p:cNvPr id="5" name="Image 0" descr="D:\ai-block-planning\presentation\assets\compare.png">    </p:cNvPr>
          <p:cNvPicPr>
            <a:picLocks noChangeAspect="1"/>
          </p:cNvPicPr>
          <p:nvPr/>
        </p:nvPicPr>
        <p:blipFill>
          <a:blip r:embed="rId1"/>
          <a:stretch>
            <a:fillRect/>
          </a:stretch>
        </p:blipFill>
        <p:spPr>
          <a:xfrm>
            <a:off x="502920" y="1810512"/>
            <a:ext cx="5806440" cy="4032250"/>
          </a:xfrm>
          <a:prstGeom prst="rect">
            <a:avLst/>
          </a:prstGeom>
        </p:spPr>
      </p:pic>
      <p:sp>
        <p:nvSpPr>
          <p:cNvPr id="6" name="Shape 3"/>
          <p:cNvSpPr/>
          <p:nvPr/>
        </p:nvSpPr>
        <p:spPr>
          <a:xfrm>
            <a:off x="502920" y="1810512"/>
            <a:ext cx="5806440" cy="4032250"/>
          </a:xfrm>
          <a:prstGeom prst="rect">
            <a:avLst/>
          </a:prstGeom>
          <a:ln w="12700">
            <a:solidFill>
              <a:srgbClr val="223449"/>
            </a:solidFill>
            <a:prstDash val="solid"/>
          </a:ln>
        </p:spPr>
      </p:sp>
      <p:sp>
        <p:nvSpPr>
          <p:cNvPr id="7" name="Text 4"/>
          <p:cNvSpPr/>
          <p:nvPr/>
        </p:nvSpPr>
        <p:spPr>
          <a:xfrm>
            <a:off x="502920" y="5897626"/>
            <a:ext cx="5806440" cy="256032"/>
          </a:xfrm>
          <a:prstGeom prst="rect">
            <a:avLst/>
          </a:prstGeom>
          <a:noFill/>
          <a:ln/>
        </p:spPr>
        <p:txBody>
          <a:bodyPr wrap="square" rtlCol="0" anchor="ctr"/>
          <a:lstStyle/>
          <a:p>
            <a:pPr algn="ctr" indent="0" marL="0">
              <a:buNone/>
            </a:pPr>
            <a:r>
              <a:rPr lang="en-US" sz="950" i="1" dirty="0">
                <a:solidFill>
                  <a:srgbClr val="6B819A"/>
                </a:solidFill>
                <a:latin typeface="Segoe UI" pitchFamily="34" charset="0"/>
                <a:ea typeface="Segoe UI" pitchFamily="34" charset="-122"/>
                <a:cs typeface="Segoe UI" pitchFamily="34" charset="-120"/>
              </a:rPr>
              <a:t>Monthly horizon — coordination improved 6 of 10 measures, and 2 got worse</a:t>
            </a:r>
            <a:endParaRPr lang="en-US" sz="950" dirty="0"/>
          </a:p>
        </p:txBody>
      </p:sp>
      <p:sp>
        <p:nvSpPr>
          <p:cNvPr id="8" name="Shape 5"/>
          <p:cNvSpPr/>
          <p:nvPr/>
        </p:nvSpPr>
        <p:spPr>
          <a:xfrm>
            <a:off x="6537960" y="1810512"/>
            <a:ext cx="2532888" cy="1188720"/>
          </a:xfrm>
          <a:prstGeom prst="roundRect">
            <a:avLst>
              <a:gd name="adj" fmla="val 6154"/>
            </a:avLst>
          </a:prstGeom>
          <a:solidFill>
            <a:srgbClr val="132133"/>
          </a:solidFill>
          <a:ln w="12700">
            <a:solidFill>
              <a:srgbClr val="223449"/>
            </a:solidFill>
            <a:prstDash val="solid"/>
          </a:ln>
        </p:spPr>
      </p:sp>
      <p:sp>
        <p:nvSpPr>
          <p:cNvPr id="9" name="Text 6"/>
          <p:cNvSpPr/>
          <p:nvPr/>
        </p:nvSpPr>
        <p:spPr>
          <a:xfrm>
            <a:off x="6702552" y="1929384"/>
            <a:ext cx="2203704" cy="219456"/>
          </a:xfrm>
          <a:prstGeom prst="rect">
            <a:avLst/>
          </a:prstGeom>
          <a:noFill/>
          <a:ln/>
        </p:spPr>
        <p:txBody>
          <a:bodyPr wrap="square" lIns="0" tIns="0" rIns="0" bIns="0" rtlCol="0" anchor="ctr"/>
          <a:lstStyle/>
          <a:p>
            <a:pPr indent="0" marL="0">
              <a:buNone/>
            </a:pPr>
            <a:r>
              <a:rPr lang="en-US" sz="900" b="1" spc="80" kern="0" dirty="0">
                <a:solidFill>
                  <a:srgbClr val="6B819A"/>
                </a:solidFill>
                <a:latin typeface="Segoe UI" pitchFamily="34" charset="0"/>
                <a:ea typeface="Segoe UI" pitchFamily="34" charset="-122"/>
                <a:cs typeface="Segoe UI" pitchFamily="34" charset="-120"/>
              </a:rPr>
              <a:t>TOTAL BLOCK MINUTES</a:t>
            </a:r>
            <a:endParaRPr lang="en-US" sz="900" dirty="0"/>
          </a:p>
        </p:txBody>
      </p:sp>
      <p:sp>
        <p:nvSpPr>
          <p:cNvPr id="10" name="Text 7"/>
          <p:cNvSpPr/>
          <p:nvPr/>
        </p:nvSpPr>
        <p:spPr>
          <a:xfrm>
            <a:off x="6702552" y="2176272"/>
            <a:ext cx="2203704" cy="420624"/>
          </a:xfrm>
          <a:prstGeom prst="rect">
            <a:avLst/>
          </a:prstGeom>
          <a:noFill/>
          <a:ln/>
        </p:spPr>
        <p:txBody>
          <a:bodyPr wrap="square" lIns="0" tIns="0" rIns="0" bIns="0" rtlCol="0" anchor="ctr"/>
          <a:lstStyle/>
          <a:p>
            <a:pPr indent="0" marL="0">
              <a:buNone/>
            </a:pPr>
            <a:r>
              <a:rPr lang="en-US" sz="2400" b="1" dirty="0">
                <a:solidFill>
                  <a:srgbClr val="34D399"/>
                </a:solidFill>
                <a:latin typeface="Segoe UI" pitchFamily="34" charset="0"/>
                <a:ea typeface="Segoe UI" pitchFamily="34" charset="-122"/>
                <a:cs typeface="Segoe UI" pitchFamily="34" charset="-120"/>
              </a:rPr>
              <a:t>−11,400</a:t>
            </a:r>
            <a:endParaRPr lang="en-US" sz="2400" dirty="0"/>
          </a:p>
        </p:txBody>
      </p:sp>
      <p:sp>
        <p:nvSpPr>
          <p:cNvPr id="11" name="Text 8"/>
          <p:cNvSpPr/>
          <p:nvPr/>
        </p:nvSpPr>
        <p:spPr>
          <a:xfrm>
            <a:off x="6702552" y="2633472"/>
            <a:ext cx="2203704" cy="256032"/>
          </a:xfrm>
          <a:prstGeom prst="rect">
            <a:avLst/>
          </a:prstGeom>
          <a:noFill/>
          <a:ln/>
        </p:spPr>
        <p:txBody>
          <a:bodyPr wrap="square" lIns="0" tIns="0" rIns="0" bIns="0" rtlCol="0" anchor="t"/>
          <a:lstStyle/>
          <a:p>
            <a:pPr indent="0" marL="0">
              <a:lnSpc>
                <a:spcPts val="1188"/>
              </a:lnSpc>
              <a:buNone/>
            </a:pPr>
            <a:r>
              <a:rPr lang="en-US" sz="950" dirty="0">
                <a:solidFill>
                  <a:srgbClr val="9DB2C8"/>
                </a:solidFill>
                <a:latin typeface="Segoe UI" pitchFamily="34" charset="0"/>
                <a:ea typeface="Segoe UI" pitchFamily="34" charset="-122"/>
                <a:cs typeface="Segoe UI" pitchFamily="34" charset="-120"/>
              </a:rPr>
              <a:t>7,030 coordinated vs 18,430 today</a:t>
            </a:r>
            <a:endParaRPr lang="en-US" sz="950" dirty="0"/>
          </a:p>
        </p:txBody>
      </p:sp>
      <p:sp>
        <p:nvSpPr>
          <p:cNvPr id="12" name="Shape 9"/>
          <p:cNvSpPr/>
          <p:nvPr/>
        </p:nvSpPr>
        <p:spPr>
          <a:xfrm>
            <a:off x="9189720" y="1810512"/>
            <a:ext cx="2532888" cy="1188720"/>
          </a:xfrm>
          <a:prstGeom prst="roundRect">
            <a:avLst>
              <a:gd name="adj" fmla="val 6154"/>
            </a:avLst>
          </a:prstGeom>
          <a:solidFill>
            <a:srgbClr val="132133"/>
          </a:solidFill>
          <a:ln w="12700">
            <a:solidFill>
              <a:srgbClr val="223449"/>
            </a:solidFill>
            <a:prstDash val="solid"/>
          </a:ln>
        </p:spPr>
      </p:sp>
      <p:sp>
        <p:nvSpPr>
          <p:cNvPr id="13" name="Text 10"/>
          <p:cNvSpPr/>
          <p:nvPr/>
        </p:nvSpPr>
        <p:spPr>
          <a:xfrm>
            <a:off x="9354312" y="1929384"/>
            <a:ext cx="2203704" cy="219456"/>
          </a:xfrm>
          <a:prstGeom prst="rect">
            <a:avLst/>
          </a:prstGeom>
          <a:noFill/>
          <a:ln/>
        </p:spPr>
        <p:txBody>
          <a:bodyPr wrap="square" lIns="0" tIns="0" rIns="0" bIns="0" rtlCol="0" anchor="ctr"/>
          <a:lstStyle/>
          <a:p>
            <a:pPr indent="0" marL="0">
              <a:buNone/>
            </a:pPr>
            <a:r>
              <a:rPr lang="en-US" sz="900" b="1" spc="80" kern="0" dirty="0">
                <a:solidFill>
                  <a:srgbClr val="6B819A"/>
                </a:solidFill>
                <a:latin typeface="Segoe UI" pitchFamily="34" charset="0"/>
                <a:ea typeface="Segoe UI" pitchFamily="34" charset="-122"/>
                <a:cs typeface="Segoe UI" pitchFamily="34" charset="-120"/>
              </a:rPr>
              <a:t>MULTI-DEPARTMENT BLOCKS</a:t>
            </a:r>
            <a:endParaRPr lang="en-US" sz="900" dirty="0"/>
          </a:p>
        </p:txBody>
      </p:sp>
      <p:sp>
        <p:nvSpPr>
          <p:cNvPr id="14" name="Text 11"/>
          <p:cNvSpPr/>
          <p:nvPr/>
        </p:nvSpPr>
        <p:spPr>
          <a:xfrm>
            <a:off x="9354312" y="2176272"/>
            <a:ext cx="2203704" cy="420624"/>
          </a:xfrm>
          <a:prstGeom prst="rect">
            <a:avLst/>
          </a:prstGeom>
          <a:noFill/>
          <a:ln/>
        </p:spPr>
        <p:txBody>
          <a:bodyPr wrap="square" lIns="0" tIns="0" rIns="0" bIns="0" rtlCol="0" anchor="ctr"/>
          <a:lstStyle/>
          <a:p>
            <a:pPr indent="0" marL="0">
              <a:buNone/>
            </a:pPr>
            <a:r>
              <a:rPr lang="en-US" sz="2400" b="1" dirty="0">
                <a:solidFill>
                  <a:srgbClr val="2DD4BF"/>
                </a:solidFill>
                <a:latin typeface="Segoe UI" pitchFamily="34" charset="0"/>
                <a:ea typeface="Segoe UI" pitchFamily="34" charset="-122"/>
                <a:cs typeface="Segoe UI" pitchFamily="34" charset="-120"/>
              </a:rPr>
              <a:t>+25</a:t>
            </a:r>
            <a:endParaRPr lang="en-US" sz="2400" dirty="0"/>
          </a:p>
        </p:txBody>
      </p:sp>
      <p:sp>
        <p:nvSpPr>
          <p:cNvPr id="15" name="Text 12"/>
          <p:cNvSpPr/>
          <p:nvPr/>
        </p:nvSpPr>
        <p:spPr>
          <a:xfrm>
            <a:off x="9354312" y="2633472"/>
            <a:ext cx="2203704" cy="256032"/>
          </a:xfrm>
          <a:prstGeom prst="rect">
            <a:avLst/>
          </a:prstGeom>
          <a:noFill/>
          <a:ln/>
        </p:spPr>
        <p:txBody>
          <a:bodyPr wrap="square" lIns="0" tIns="0" rIns="0" bIns="0" rtlCol="0" anchor="t"/>
          <a:lstStyle/>
          <a:p>
            <a:pPr indent="0" marL="0">
              <a:lnSpc>
                <a:spcPts val="1188"/>
              </a:lnSpc>
              <a:buNone/>
            </a:pPr>
            <a:r>
              <a:rPr lang="en-US" sz="950" dirty="0">
                <a:solidFill>
                  <a:srgbClr val="9DB2C8"/>
                </a:solidFill>
                <a:latin typeface="Segoe UI" pitchFamily="34" charset="0"/>
                <a:ea typeface="Segoe UI" pitchFamily="34" charset="-122"/>
                <a:cs typeface="Segoe UI" pitchFamily="34" charset="-120"/>
              </a:rPr>
              <a:t>25 coordinated vs 0 today</a:t>
            </a:r>
            <a:endParaRPr lang="en-US" sz="950" dirty="0"/>
          </a:p>
        </p:txBody>
      </p:sp>
      <p:sp>
        <p:nvSpPr>
          <p:cNvPr id="16" name="Shape 13"/>
          <p:cNvSpPr/>
          <p:nvPr/>
        </p:nvSpPr>
        <p:spPr>
          <a:xfrm>
            <a:off x="6537960" y="3136392"/>
            <a:ext cx="5184648" cy="1417320"/>
          </a:xfrm>
          <a:prstGeom prst="roundRect">
            <a:avLst>
              <a:gd name="adj" fmla="val 5161"/>
            </a:avLst>
          </a:prstGeom>
          <a:solidFill>
            <a:srgbClr val="132133"/>
          </a:solidFill>
          <a:ln w="12700">
            <a:solidFill>
              <a:srgbClr val="223449"/>
            </a:solidFill>
            <a:prstDash val="solid"/>
          </a:ln>
        </p:spPr>
      </p:sp>
      <p:sp>
        <p:nvSpPr>
          <p:cNvPr id="17" name="Shape 14"/>
          <p:cNvSpPr/>
          <p:nvPr/>
        </p:nvSpPr>
        <p:spPr>
          <a:xfrm>
            <a:off x="6537960" y="3319272"/>
            <a:ext cx="45720" cy="256032"/>
          </a:xfrm>
          <a:prstGeom prst="rect">
            <a:avLst/>
          </a:prstGeom>
          <a:solidFill>
            <a:srgbClr val="F0A93B"/>
          </a:solidFill>
          <a:ln/>
        </p:spPr>
      </p:sp>
      <p:sp>
        <p:nvSpPr>
          <p:cNvPr id="18" name="Text 15"/>
          <p:cNvSpPr/>
          <p:nvPr/>
        </p:nvSpPr>
        <p:spPr>
          <a:xfrm>
            <a:off x="6757416" y="3300984"/>
            <a:ext cx="4782312" cy="274320"/>
          </a:xfrm>
          <a:prstGeom prst="rect">
            <a:avLst/>
          </a:prstGeom>
          <a:noFill/>
          <a:ln/>
        </p:spPr>
        <p:txBody>
          <a:bodyPr wrap="square" lIns="0" tIns="0" rIns="0" bIns="0" rtlCol="0" anchor="ctr"/>
          <a:lstStyle/>
          <a:p>
            <a:pPr indent="0" marL="0">
              <a:buNone/>
            </a:pPr>
            <a:r>
              <a:rPr lang="en-US" sz="1350" b="1" dirty="0">
                <a:solidFill>
                  <a:srgbClr val="F1F6FC"/>
                </a:solidFill>
                <a:latin typeface="Segoe UI" pitchFamily="34" charset="0"/>
                <a:ea typeface="Segoe UI" pitchFamily="34" charset="-122"/>
                <a:cs typeface="Segoe UI" pitchFamily="34" charset="-120"/>
              </a:rPr>
              <a:t>The trade-off we are not hiding</a:t>
            </a:r>
            <a:endParaRPr lang="en-US" sz="1350" dirty="0"/>
          </a:p>
        </p:txBody>
      </p:sp>
      <p:sp>
        <p:nvSpPr>
          <p:cNvPr id="19" name="Text 16"/>
          <p:cNvSpPr/>
          <p:nvPr/>
        </p:nvSpPr>
        <p:spPr>
          <a:xfrm>
            <a:off x="6775704" y="3685032"/>
            <a:ext cx="4745736" cy="740664"/>
          </a:xfrm>
          <a:prstGeom prst="rect">
            <a:avLst/>
          </a:prstGeom>
          <a:noFill/>
          <a:ln/>
        </p:spPr>
        <p:txBody>
          <a:bodyPr wrap="square" lIns="0" tIns="0" rIns="0" bIns="0" rtlCol="0" anchor="t"/>
          <a:lstStyle/>
          <a:p>
            <a:pPr marL="342900" indent="-342900">
              <a:lnSpc>
                <a:spcPts val="1122"/>
              </a:lnSpc>
              <a:buSzPct val="100000"/>
              <a:buChar char="•"/>
            </a:pPr>
            <a:r>
              <a:rPr lang="en-US" sz="850" dirty="0">
                <a:solidFill>
                  <a:srgbClr val="9DB2C8"/>
                </a:solidFill>
                <a:latin typeface="Segoe UI" pitchFamily="34" charset="0"/>
                <a:ea typeface="Segoe UI" pitchFamily="34" charset="-122"/>
                <a:cs typeface="Segoe UI" pitchFamily="34" charset="-120"/>
              </a:rPr>
              <a:t>The baseline places more tasks (145 vs 90) — by taking 2.6× more track time.</a:t>
            </a:r>
            <a:endParaRPr lang="en-US" sz="850" dirty="0"/>
          </a:p>
          <a:p>
            <a:pPr marL="342900" indent="-342900">
              <a:lnSpc>
                <a:spcPts val="1122"/>
              </a:lnSpc>
              <a:buSzPct val="100000"/>
              <a:buChar char="•"/>
            </a:pPr>
            <a:r>
              <a:rPr lang="en-US" sz="850" dirty="0">
                <a:solidFill>
                  <a:srgbClr val="9DB2C8"/>
                </a:solidFill>
                <a:latin typeface="Segoe UI" pitchFamily="34" charset="0"/>
                <a:ea typeface="Segoe UI" pitchFamily="34" charset="-122"/>
                <a:cs typeface="Segoe UI" pitchFamily="34" charset="-120"/>
              </a:rPr>
              <a:t>Coordination buys back 11,400 block minutes and closes the line far less often.</a:t>
            </a:r>
            <a:endParaRPr lang="en-US" sz="850" dirty="0"/>
          </a:p>
          <a:p>
            <a:pPr marL="342900" indent="-342900">
              <a:lnSpc>
                <a:spcPts val="1122"/>
              </a:lnSpc>
              <a:buSzPct val="100000"/>
              <a:buChar char="•"/>
            </a:pPr>
            <a:r>
              <a:rPr lang="en-US" sz="850" dirty="0">
                <a:solidFill>
                  <a:srgbClr val="9DB2C8"/>
                </a:solidFill>
                <a:latin typeface="Segoe UI" pitchFamily="34" charset="0"/>
                <a:ea typeface="Segoe UI" pitchFamily="34" charset="-122"/>
                <a:cs typeface="Segoe UI" pitchFamily="34" charset="-120"/>
              </a:rPr>
              <a:t>Critical coverage is unchanged: 27 scheduled, 2 unscheduled, on both sides.</a:t>
            </a:r>
            <a:endParaRPr lang="en-US" sz="850" dirty="0"/>
          </a:p>
        </p:txBody>
      </p:sp>
      <p:sp>
        <p:nvSpPr>
          <p:cNvPr id="20" name="Shape 17"/>
          <p:cNvSpPr/>
          <p:nvPr/>
        </p:nvSpPr>
        <p:spPr>
          <a:xfrm>
            <a:off x="6537960" y="4663440"/>
            <a:ext cx="5184648" cy="1463040"/>
          </a:xfrm>
          <a:prstGeom prst="roundRect">
            <a:avLst>
              <a:gd name="adj" fmla="val 5000"/>
            </a:avLst>
          </a:prstGeom>
          <a:solidFill>
            <a:srgbClr val="132133"/>
          </a:solidFill>
          <a:ln w="12700">
            <a:solidFill>
              <a:srgbClr val="223449"/>
            </a:solidFill>
            <a:prstDash val="solid"/>
          </a:ln>
        </p:spPr>
      </p:sp>
      <p:sp>
        <p:nvSpPr>
          <p:cNvPr id="21" name="Shape 18"/>
          <p:cNvSpPr/>
          <p:nvPr/>
        </p:nvSpPr>
        <p:spPr>
          <a:xfrm>
            <a:off x="6537960" y="4846320"/>
            <a:ext cx="45720" cy="256032"/>
          </a:xfrm>
          <a:prstGeom prst="rect">
            <a:avLst/>
          </a:prstGeom>
          <a:solidFill>
            <a:srgbClr val="3B9BE8"/>
          </a:solidFill>
          <a:ln/>
        </p:spPr>
      </p:sp>
      <p:sp>
        <p:nvSpPr>
          <p:cNvPr id="22" name="Text 19"/>
          <p:cNvSpPr/>
          <p:nvPr/>
        </p:nvSpPr>
        <p:spPr>
          <a:xfrm>
            <a:off x="6757416" y="4828032"/>
            <a:ext cx="4782312" cy="274320"/>
          </a:xfrm>
          <a:prstGeom prst="rect">
            <a:avLst/>
          </a:prstGeom>
          <a:noFill/>
          <a:ln/>
        </p:spPr>
        <p:txBody>
          <a:bodyPr wrap="square" lIns="0" tIns="0" rIns="0" bIns="0" rtlCol="0" anchor="ctr"/>
          <a:lstStyle/>
          <a:p>
            <a:pPr indent="0" marL="0">
              <a:buNone/>
            </a:pPr>
            <a:r>
              <a:rPr lang="en-US" sz="1350" b="1" dirty="0">
                <a:solidFill>
                  <a:srgbClr val="F1F6FC"/>
                </a:solidFill>
                <a:latin typeface="Segoe UI" pitchFamily="34" charset="0"/>
                <a:ea typeface="Segoe UI" pitchFamily="34" charset="-122"/>
                <a:cs typeface="Segoe UI" pitchFamily="34" charset="-120"/>
              </a:rPr>
              <a:t>No number is hard-coded</a:t>
            </a:r>
            <a:endParaRPr lang="en-US" sz="1350" dirty="0"/>
          </a:p>
        </p:txBody>
      </p:sp>
      <p:sp>
        <p:nvSpPr>
          <p:cNvPr id="23" name="Text 20"/>
          <p:cNvSpPr/>
          <p:nvPr/>
        </p:nvSpPr>
        <p:spPr>
          <a:xfrm>
            <a:off x="6775704" y="5212080"/>
            <a:ext cx="4745736" cy="786384"/>
          </a:xfrm>
          <a:prstGeom prst="rect">
            <a:avLst/>
          </a:prstGeom>
          <a:noFill/>
          <a:ln/>
        </p:spPr>
        <p:txBody>
          <a:bodyPr wrap="square" lIns="0" tIns="0" rIns="0" bIns="0" rtlCol="0" anchor="t"/>
          <a:lstStyle/>
          <a:p>
            <a:pPr marL="342900" indent="-342900">
              <a:lnSpc>
                <a:spcPts val="1122"/>
              </a:lnSpc>
              <a:buSzPct val="100000"/>
              <a:buChar char="•"/>
            </a:pPr>
            <a:r>
              <a:rPr lang="en-US" sz="850" dirty="0">
                <a:solidFill>
                  <a:srgbClr val="9DB2C8"/>
                </a:solidFill>
                <a:latin typeface="Segoe UI" pitchFamily="34" charset="0"/>
                <a:ea typeface="Segoe UI" pitchFamily="34" charset="-122"/>
                <a:cs typeface="Segoe UI" pitchFamily="34" charset="-120"/>
              </a:rPr>
              <a:t>Both plans are computed at run time from the same inputs.</a:t>
            </a:r>
            <a:endParaRPr lang="en-US" sz="850" dirty="0"/>
          </a:p>
          <a:p>
            <a:pPr marL="342900" indent="-342900">
              <a:lnSpc>
                <a:spcPts val="1122"/>
              </a:lnSpc>
              <a:buSzPct val="100000"/>
              <a:buChar char="•"/>
            </a:pPr>
            <a:r>
              <a:rPr lang="en-US" sz="850" dirty="0">
                <a:solidFill>
                  <a:srgbClr val="9DB2C8"/>
                </a:solidFill>
                <a:latin typeface="Segoe UI" pitchFamily="34" charset="0"/>
                <a:ea typeface="Segoe UI" pitchFamily="34" charset="-122"/>
                <a:cs typeface="Segoe UI" pitchFamily="34" charset="-120"/>
              </a:rPr>
              <a:t>Change a weight or the train buffer, press Generate, and every figure moves.</a:t>
            </a:r>
            <a:endParaRPr lang="en-US" sz="850" dirty="0"/>
          </a:p>
          <a:p>
            <a:pPr marL="342900" indent="-342900">
              <a:lnSpc>
                <a:spcPts val="1122"/>
              </a:lnSpc>
              <a:buSzPct val="100000"/>
              <a:buChar char="•"/>
            </a:pPr>
            <a:r>
              <a:rPr lang="en-US" sz="850" dirty="0">
                <a:solidFill>
                  <a:srgbClr val="9DB2C8"/>
                </a:solidFill>
                <a:latin typeface="Segoe UI" pitchFamily="34" charset="0"/>
                <a:ea typeface="Segoe UI" pitchFamily="34" charset="-122"/>
                <a:cs typeface="Segoe UI" pitchFamily="34" charset="-120"/>
              </a:rPr>
              <a:t>Asset availability is derived from horizon minutes and section count, not asserted.</a:t>
            </a:r>
            <a:endParaRPr lang="en-US" sz="85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819A"/>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84048"/>
            <a:ext cx="9144000" cy="237744"/>
          </a:xfrm>
          <a:prstGeom prst="rect">
            <a:avLst/>
          </a:prstGeom>
          <a:noFill/>
          <a:ln/>
        </p:spPr>
        <p:txBody>
          <a:bodyPr wrap="square" rtlCol="0" anchor="ctr"/>
          <a:lstStyle/>
          <a:p>
            <a:pPr indent="0" marL="0">
              <a:buNone/>
            </a:pPr>
            <a:r>
              <a:rPr lang="en-US" sz="1100" b="1" spc="160" kern="0" dirty="0">
                <a:solidFill>
                  <a:srgbClr val="3B9BE8"/>
                </a:solidFill>
                <a:latin typeface="Segoe UI" pitchFamily="34" charset="0"/>
                <a:ea typeface="Segoe UI" pitchFamily="34" charset="-122"/>
                <a:cs typeface="Segoe UI" pitchFamily="34" charset="-120"/>
              </a:rPr>
              <a:t>DELIVERABLE 4</a:t>
            </a:r>
            <a:endParaRPr lang="en-US" sz="1100" dirty="0"/>
          </a:p>
        </p:txBody>
      </p:sp>
      <p:sp>
        <p:nvSpPr>
          <p:cNvPr id="3" name="Text 1"/>
          <p:cNvSpPr/>
          <p:nvPr/>
        </p:nvSpPr>
        <p:spPr>
          <a:xfrm>
            <a:off x="502920" y="658368"/>
            <a:ext cx="11155680" cy="566928"/>
          </a:xfrm>
          <a:prstGeom prst="rect">
            <a:avLst/>
          </a:prstGeom>
          <a:noFill/>
          <a:ln/>
        </p:spPr>
        <p:txBody>
          <a:bodyPr wrap="square" rtlCol="0" anchor="ctr"/>
          <a:lstStyle/>
          <a:p>
            <a:pPr indent="0" marL="0">
              <a:buNone/>
            </a:pPr>
            <a:r>
              <a:rPr lang="en-US" sz="3000" b="1" dirty="0">
                <a:solidFill>
                  <a:srgbClr val="F1F6FC"/>
                </a:solidFill>
                <a:latin typeface="Segoe UI" pitchFamily="34" charset="0"/>
                <a:ea typeface="Segoe UI" pitchFamily="34" charset="-122"/>
                <a:cs typeface="Segoe UI" pitchFamily="34" charset="-120"/>
              </a:rPr>
              <a:t>Weekly and monthly, from one engine</a:t>
            </a:r>
            <a:endParaRPr lang="en-US" sz="3000" dirty="0"/>
          </a:p>
        </p:txBody>
      </p:sp>
      <p:sp>
        <p:nvSpPr>
          <p:cNvPr id="4" name="Text 2"/>
          <p:cNvSpPr/>
          <p:nvPr/>
        </p:nvSpPr>
        <p:spPr>
          <a:xfrm>
            <a:off x="502920" y="1280160"/>
            <a:ext cx="11155680" cy="365760"/>
          </a:xfrm>
          <a:prstGeom prst="rect">
            <a:avLst/>
          </a:prstGeom>
          <a:noFill/>
          <a:ln/>
        </p:spPr>
        <p:txBody>
          <a:bodyPr wrap="square" rtlCol="0" anchor="ctr"/>
          <a:lstStyle/>
          <a:p>
            <a:pPr indent="0" marL="0">
              <a:buNone/>
            </a:pPr>
            <a:r>
              <a:rPr lang="en-US" sz="1300" dirty="0">
                <a:solidFill>
                  <a:srgbClr val="9DB2C8"/>
                </a:solidFill>
                <a:latin typeface="Segoe UI" pitchFamily="34" charset="0"/>
                <a:ea typeface="Segoe UI" pitchFamily="34" charset="-122"/>
                <a:cs typeface="Segoe UI" pitchFamily="34" charset="-120"/>
              </a:rPr>
              <a:t>Both horizons share the same priority, candidate-window, validation, baseline and metrics modules.</a:t>
            </a:r>
            <a:endParaRPr lang="en-US" sz="1300" dirty="0"/>
          </a:p>
        </p:txBody>
      </p:sp>
      <p:sp>
        <p:nvSpPr>
          <p:cNvPr id="5" name="Shape 3"/>
          <p:cNvSpPr/>
          <p:nvPr/>
        </p:nvSpPr>
        <p:spPr>
          <a:xfrm>
            <a:off x="502920" y="1920240"/>
            <a:ext cx="5532120" cy="2148840"/>
          </a:xfrm>
          <a:prstGeom prst="roundRect">
            <a:avLst>
              <a:gd name="adj" fmla="val 3404"/>
            </a:avLst>
          </a:prstGeom>
          <a:solidFill>
            <a:srgbClr val="132133"/>
          </a:solidFill>
          <a:ln w="12700">
            <a:solidFill>
              <a:srgbClr val="223449"/>
            </a:solidFill>
            <a:prstDash val="solid"/>
          </a:ln>
        </p:spPr>
      </p:sp>
      <p:sp>
        <p:nvSpPr>
          <p:cNvPr id="6" name="Text 4"/>
          <p:cNvSpPr/>
          <p:nvPr/>
        </p:nvSpPr>
        <p:spPr>
          <a:xfrm>
            <a:off x="777240" y="2103120"/>
            <a:ext cx="4937760" cy="274320"/>
          </a:xfrm>
          <a:prstGeom prst="rect">
            <a:avLst/>
          </a:prstGeom>
          <a:noFill/>
          <a:ln/>
        </p:spPr>
        <p:txBody>
          <a:bodyPr wrap="square" rtlCol="0" anchor="ctr"/>
          <a:lstStyle/>
          <a:p>
            <a:pPr indent="0" marL="0">
              <a:buNone/>
            </a:pPr>
            <a:r>
              <a:rPr lang="en-US" sz="1200" b="1" spc="140" kern="0" dirty="0">
                <a:solidFill>
                  <a:srgbClr val="3B9BE8"/>
                </a:solidFill>
                <a:latin typeface="Segoe UI" pitchFamily="34" charset="0"/>
                <a:ea typeface="Segoe UI" pitchFamily="34" charset="-122"/>
                <a:cs typeface="Segoe UI" pitchFamily="34" charset="-120"/>
              </a:rPr>
              <a:t>WEEKLY</a:t>
            </a:r>
            <a:endParaRPr lang="en-US" sz="1200" dirty="0"/>
          </a:p>
        </p:txBody>
      </p:sp>
      <p:sp>
        <p:nvSpPr>
          <p:cNvPr id="7" name="Text 5"/>
          <p:cNvSpPr/>
          <p:nvPr/>
        </p:nvSpPr>
        <p:spPr>
          <a:xfrm>
            <a:off x="777240" y="2404872"/>
            <a:ext cx="4937760" cy="320040"/>
          </a:xfrm>
          <a:prstGeom prst="rect">
            <a:avLst/>
          </a:prstGeom>
          <a:noFill/>
          <a:ln/>
        </p:spPr>
        <p:txBody>
          <a:bodyPr wrap="square" rtlCol="0" anchor="ctr"/>
          <a:lstStyle/>
          <a:p>
            <a:pPr indent="0" marL="0">
              <a:buNone/>
            </a:pPr>
            <a:r>
              <a:rPr lang="en-US" sz="1700" b="1" dirty="0">
                <a:solidFill>
                  <a:srgbClr val="F1F6FC"/>
                </a:solidFill>
                <a:latin typeface="Segoe UI" pitchFamily="34" charset="0"/>
                <a:ea typeface="Segoe UI" pitchFamily="34" charset="-122"/>
                <a:cs typeface="Segoe UI" pitchFamily="34" charset="-120"/>
              </a:rPr>
              <a:t>Seven days · 15-minute slots</a:t>
            </a:r>
            <a:endParaRPr lang="en-US" sz="1700" dirty="0"/>
          </a:p>
        </p:txBody>
      </p:sp>
      <p:sp>
        <p:nvSpPr>
          <p:cNvPr id="8" name="Text 6"/>
          <p:cNvSpPr/>
          <p:nvPr/>
        </p:nvSpPr>
        <p:spPr>
          <a:xfrm>
            <a:off x="914400" y="2816352"/>
            <a:ext cx="4892040" cy="1371600"/>
          </a:xfrm>
          <a:prstGeom prst="rect">
            <a:avLst/>
          </a:prstGeom>
          <a:noFill/>
          <a:ln/>
        </p:spPr>
        <p:txBody>
          <a:bodyPr wrap="square" lIns="0" tIns="0" rIns="0" bIns="0" rtlCol="0" anchor="t"/>
          <a:lstStyle/>
          <a:p>
            <a:pPr marL="342900" indent="-342900">
              <a:lnSpc>
                <a:spcPts val="1518"/>
              </a:lnSpc>
              <a:buSzPct val="100000"/>
              <a:buChar char="•"/>
            </a:pPr>
            <a:r>
              <a:rPr lang="en-US" sz="1150" dirty="0">
                <a:solidFill>
                  <a:srgbClr val="9DB2C8"/>
                </a:solidFill>
                <a:latin typeface="Segoe UI" pitchFamily="34" charset="0"/>
                <a:ea typeface="Segoe UI" pitchFamily="34" charset="-122"/>
                <a:cs typeface="Segoe UI" pitchFamily="34" charset="-120"/>
              </a:rPr>
              <a:t>Exact start and end times for every block.</a:t>
            </a:r>
            <a:endParaRPr lang="en-US" sz="1150" dirty="0"/>
          </a:p>
          <a:p>
            <a:pPr marL="342900" indent="-342900">
              <a:lnSpc>
                <a:spcPts val="1518"/>
              </a:lnSpc>
              <a:buSzPct val="100000"/>
              <a:buChar char="•"/>
            </a:pPr>
            <a:r>
              <a:rPr lang="en-US" sz="1150" dirty="0">
                <a:solidFill>
                  <a:srgbClr val="9DB2C8"/>
                </a:solidFill>
                <a:latin typeface="Segoe UI" pitchFamily="34" charset="0"/>
                <a:ea typeface="Segoe UI" pitchFamily="34" charset="-122"/>
                <a:cs typeface="Segoe UI" pitchFamily="34" charset="-120"/>
              </a:rPr>
              <a:t>Detailed task-within-block timings, grouped by section.</a:t>
            </a:r>
            <a:endParaRPr lang="en-US" sz="1150" dirty="0"/>
          </a:p>
          <a:p>
            <a:pPr marL="342900" indent="-342900">
              <a:lnSpc>
                <a:spcPts val="1518"/>
              </a:lnSpc>
              <a:buSzPct val="100000"/>
              <a:buChar char="•"/>
            </a:pPr>
            <a:r>
              <a:rPr lang="en-US" sz="1150" dirty="0">
                <a:solidFill>
                  <a:srgbClr val="9DB2C8"/>
                </a:solidFill>
                <a:latin typeface="Segoe UI" pitchFamily="34" charset="0"/>
                <a:ea typeface="Segoe UI" pitchFamily="34" charset="-122"/>
                <a:cs typeface="Segoe UI" pitchFamily="34" charset="-120"/>
              </a:rPr>
              <a:t>The short-term execution view for the district.</a:t>
            </a:r>
            <a:endParaRPr lang="en-US" sz="1150" dirty="0"/>
          </a:p>
        </p:txBody>
      </p:sp>
      <p:sp>
        <p:nvSpPr>
          <p:cNvPr id="9" name="Shape 7"/>
          <p:cNvSpPr/>
          <p:nvPr/>
        </p:nvSpPr>
        <p:spPr>
          <a:xfrm>
            <a:off x="6190488" y="1920240"/>
            <a:ext cx="5532120" cy="2148840"/>
          </a:xfrm>
          <a:prstGeom prst="roundRect">
            <a:avLst>
              <a:gd name="adj" fmla="val 3404"/>
            </a:avLst>
          </a:prstGeom>
          <a:solidFill>
            <a:srgbClr val="132133"/>
          </a:solidFill>
          <a:ln w="12700">
            <a:solidFill>
              <a:srgbClr val="223449"/>
            </a:solidFill>
            <a:prstDash val="solid"/>
          </a:ln>
        </p:spPr>
      </p:sp>
      <p:sp>
        <p:nvSpPr>
          <p:cNvPr id="10" name="Text 8"/>
          <p:cNvSpPr/>
          <p:nvPr/>
        </p:nvSpPr>
        <p:spPr>
          <a:xfrm>
            <a:off x="6464808" y="2103120"/>
            <a:ext cx="4937760" cy="274320"/>
          </a:xfrm>
          <a:prstGeom prst="rect">
            <a:avLst/>
          </a:prstGeom>
          <a:noFill/>
          <a:ln/>
        </p:spPr>
        <p:txBody>
          <a:bodyPr wrap="square" rtlCol="0" anchor="ctr"/>
          <a:lstStyle/>
          <a:p>
            <a:pPr indent="0" marL="0">
              <a:buNone/>
            </a:pPr>
            <a:r>
              <a:rPr lang="en-US" sz="1200" b="1" spc="140" kern="0" dirty="0">
                <a:solidFill>
                  <a:srgbClr val="A78BFA"/>
                </a:solidFill>
                <a:latin typeface="Segoe UI" pitchFamily="34" charset="0"/>
                <a:ea typeface="Segoe UI" pitchFamily="34" charset="-122"/>
                <a:cs typeface="Segoe UI" pitchFamily="34" charset="-120"/>
              </a:rPr>
              <a:t>MONTHLY</a:t>
            </a:r>
            <a:endParaRPr lang="en-US" sz="1200" dirty="0"/>
          </a:p>
        </p:txBody>
      </p:sp>
      <p:sp>
        <p:nvSpPr>
          <p:cNvPr id="11" name="Text 9"/>
          <p:cNvSpPr/>
          <p:nvPr/>
        </p:nvSpPr>
        <p:spPr>
          <a:xfrm>
            <a:off x="6464808" y="2404872"/>
            <a:ext cx="4937760" cy="320040"/>
          </a:xfrm>
          <a:prstGeom prst="rect">
            <a:avLst/>
          </a:prstGeom>
          <a:noFill/>
          <a:ln/>
        </p:spPr>
        <p:txBody>
          <a:bodyPr wrap="square" rtlCol="0" anchor="ctr"/>
          <a:lstStyle/>
          <a:p>
            <a:pPr indent="0" marL="0">
              <a:buNone/>
            </a:pPr>
            <a:r>
              <a:rPr lang="en-US" sz="1700" b="1" dirty="0">
                <a:solidFill>
                  <a:srgbClr val="F1F6FC"/>
                </a:solidFill>
                <a:latin typeface="Segoe UI" pitchFamily="34" charset="0"/>
                <a:ea typeface="Segoe UI" pitchFamily="34" charset="-122"/>
                <a:cs typeface="Segoe UI" pitchFamily="34" charset="-120"/>
              </a:rPr>
              <a:t>28–31 days · day-wise allocation</a:t>
            </a:r>
            <a:endParaRPr lang="en-US" sz="1700" dirty="0"/>
          </a:p>
        </p:txBody>
      </p:sp>
      <p:sp>
        <p:nvSpPr>
          <p:cNvPr id="12" name="Text 10"/>
          <p:cNvSpPr/>
          <p:nvPr/>
        </p:nvSpPr>
        <p:spPr>
          <a:xfrm>
            <a:off x="6601968" y="2816352"/>
            <a:ext cx="4892040" cy="1371600"/>
          </a:xfrm>
          <a:prstGeom prst="rect">
            <a:avLst/>
          </a:prstGeom>
          <a:noFill/>
          <a:ln/>
        </p:spPr>
        <p:txBody>
          <a:bodyPr wrap="square" lIns="0" tIns="0" rIns="0" bIns="0" rtlCol="0" anchor="t"/>
          <a:lstStyle/>
          <a:p>
            <a:pPr marL="342900" indent="-342900">
              <a:lnSpc>
                <a:spcPts val="1518"/>
              </a:lnSpc>
              <a:buSzPct val="100000"/>
              <a:buChar char="•"/>
            </a:pPr>
            <a:r>
              <a:rPr lang="en-US" sz="1150" dirty="0">
                <a:solidFill>
                  <a:srgbClr val="9DB2C8"/>
                </a:solidFill>
                <a:latin typeface="Segoe UI" pitchFamily="34" charset="0"/>
                <a:ea typeface="Segoe UI" pitchFamily="34" charset="-122"/>
                <a:cs typeface="Segoe UI" pitchFamily="34" charset="-120"/>
              </a:rPr>
              <a:t>Coarser slots for longer-range coordination.</a:t>
            </a:r>
            <a:endParaRPr lang="en-US" sz="1150" dirty="0"/>
          </a:p>
          <a:p>
            <a:pPr marL="342900" indent="-342900">
              <a:lnSpc>
                <a:spcPts val="1518"/>
              </a:lnSpc>
              <a:buSzPct val="100000"/>
              <a:buChar char="•"/>
            </a:pPr>
            <a:r>
              <a:rPr lang="en-US" sz="1150" dirty="0">
                <a:solidFill>
                  <a:srgbClr val="9DB2C8"/>
                </a:solidFill>
                <a:latin typeface="Segoe UI" pitchFamily="34" charset="0"/>
                <a:ea typeface="Segoe UI" pitchFamily="34" charset="-122"/>
                <a:cs typeface="Segoe UI" pitchFamily="34" charset="-120"/>
              </a:rPr>
              <a:t>Labelled a planning view, not a granted operational block.</a:t>
            </a:r>
            <a:endParaRPr lang="en-US" sz="1150" dirty="0"/>
          </a:p>
          <a:p>
            <a:pPr marL="342900" indent="-342900">
              <a:lnSpc>
                <a:spcPts val="1518"/>
              </a:lnSpc>
              <a:buSzPct val="100000"/>
              <a:buChar char="•"/>
            </a:pPr>
            <a:r>
              <a:rPr lang="en-US" sz="1150" dirty="0">
                <a:solidFill>
                  <a:srgbClr val="9DB2C8"/>
                </a:solidFill>
                <a:latin typeface="Segoe UI" pitchFamily="34" charset="0"/>
                <a:ea typeface="Segoe UI" pitchFamily="34" charset="-122"/>
                <a:cs typeface="Segoe UI" pitchFamily="34" charset="-120"/>
              </a:rPr>
              <a:t>Long-term backlog burn-down across all three departments.</a:t>
            </a:r>
            <a:endParaRPr lang="en-US" sz="1150" dirty="0"/>
          </a:p>
        </p:txBody>
      </p:sp>
      <p:sp>
        <p:nvSpPr>
          <p:cNvPr id="13" name="Shape 11"/>
          <p:cNvSpPr/>
          <p:nvPr/>
        </p:nvSpPr>
        <p:spPr>
          <a:xfrm>
            <a:off x="502920" y="4572000"/>
            <a:ext cx="2651760" cy="1280160"/>
          </a:xfrm>
          <a:prstGeom prst="roundRect">
            <a:avLst>
              <a:gd name="adj" fmla="val 5714"/>
            </a:avLst>
          </a:prstGeom>
          <a:solidFill>
            <a:srgbClr val="132133"/>
          </a:solidFill>
          <a:ln w="12700">
            <a:solidFill>
              <a:srgbClr val="223449"/>
            </a:solidFill>
            <a:prstDash val="solid"/>
          </a:ln>
        </p:spPr>
      </p:sp>
      <p:sp>
        <p:nvSpPr>
          <p:cNvPr id="14" name="Text 12"/>
          <p:cNvSpPr/>
          <p:nvPr/>
        </p:nvSpPr>
        <p:spPr>
          <a:xfrm>
            <a:off x="667512" y="4690872"/>
            <a:ext cx="2322576" cy="219456"/>
          </a:xfrm>
          <a:prstGeom prst="rect">
            <a:avLst/>
          </a:prstGeom>
          <a:noFill/>
          <a:ln/>
        </p:spPr>
        <p:txBody>
          <a:bodyPr wrap="square" lIns="0" tIns="0" rIns="0" bIns="0" rtlCol="0" anchor="ctr"/>
          <a:lstStyle/>
          <a:p>
            <a:pPr indent="0" marL="0">
              <a:buNone/>
            </a:pPr>
            <a:r>
              <a:rPr lang="en-US" sz="900" b="1" spc="80" kern="0" dirty="0">
                <a:solidFill>
                  <a:srgbClr val="6B819A"/>
                </a:solidFill>
                <a:latin typeface="Segoe UI" pitchFamily="34" charset="0"/>
                <a:ea typeface="Segoe UI" pitchFamily="34" charset="-122"/>
                <a:cs typeface="Segoe UI" pitchFamily="34" charset="-120"/>
              </a:rPr>
              <a:t>MONTHLY BACKLOG SCHEDULED</a:t>
            </a:r>
            <a:endParaRPr lang="en-US" sz="900" dirty="0"/>
          </a:p>
        </p:txBody>
      </p:sp>
      <p:sp>
        <p:nvSpPr>
          <p:cNvPr id="15" name="Text 13"/>
          <p:cNvSpPr/>
          <p:nvPr/>
        </p:nvSpPr>
        <p:spPr>
          <a:xfrm>
            <a:off x="667512" y="4937760"/>
            <a:ext cx="2322576" cy="420624"/>
          </a:xfrm>
          <a:prstGeom prst="rect">
            <a:avLst/>
          </a:prstGeom>
          <a:noFill/>
          <a:ln/>
        </p:spPr>
        <p:txBody>
          <a:bodyPr wrap="square" lIns="0" tIns="0" rIns="0" bIns="0" rtlCol="0" anchor="ctr"/>
          <a:lstStyle/>
          <a:p>
            <a:pPr indent="0" marL="0">
              <a:buNone/>
            </a:pPr>
            <a:r>
              <a:rPr lang="en-US" sz="2400" b="1" dirty="0">
                <a:solidFill>
                  <a:srgbClr val="3B9BE8"/>
                </a:solidFill>
                <a:latin typeface="Segoe UI" pitchFamily="34" charset="0"/>
                <a:ea typeface="Segoe UI" pitchFamily="34" charset="-122"/>
                <a:cs typeface="Segoe UI" pitchFamily="34" charset="-120"/>
              </a:rPr>
              <a:t>48%</a:t>
            </a:r>
            <a:endParaRPr lang="en-US" sz="2400" dirty="0"/>
          </a:p>
        </p:txBody>
      </p:sp>
      <p:sp>
        <p:nvSpPr>
          <p:cNvPr id="16" name="Text 14"/>
          <p:cNvSpPr/>
          <p:nvPr/>
        </p:nvSpPr>
        <p:spPr>
          <a:xfrm>
            <a:off x="667512" y="5394960"/>
            <a:ext cx="2322576" cy="347472"/>
          </a:xfrm>
          <a:prstGeom prst="rect">
            <a:avLst/>
          </a:prstGeom>
          <a:noFill/>
          <a:ln/>
        </p:spPr>
        <p:txBody>
          <a:bodyPr wrap="square" lIns="0" tIns="0" rIns="0" bIns="0" rtlCol="0" anchor="t"/>
          <a:lstStyle/>
          <a:p>
            <a:pPr indent="0" marL="0">
              <a:lnSpc>
                <a:spcPts val="1188"/>
              </a:lnSpc>
              <a:buNone/>
            </a:pPr>
            <a:r>
              <a:rPr lang="en-US" sz="950" dirty="0">
                <a:solidFill>
                  <a:srgbClr val="9DB2C8"/>
                </a:solidFill>
                <a:latin typeface="Segoe UI" pitchFamily="34" charset="0"/>
                <a:ea typeface="Segoe UI" pitchFamily="34" charset="-122"/>
                <a:cs typeface="Segoe UI" pitchFamily="34" charset="-120"/>
              </a:rPr>
              <a:t>90 of 187 jobs placed</a:t>
            </a:r>
            <a:endParaRPr lang="en-US" sz="950" dirty="0"/>
          </a:p>
        </p:txBody>
      </p:sp>
      <p:sp>
        <p:nvSpPr>
          <p:cNvPr id="17" name="Shape 15"/>
          <p:cNvSpPr/>
          <p:nvPr/>
        </p:nvSpPr>
        <p:spPr>
          <a:xfrm>
            <a:off x="3355848" y="4572000"/>
            <a:ext cx="2651760" cy="1280160"/>
          </a:xfrm>
          <a:prstGeom prst="roundRect">
            <a:avLst>
              <a:gd name="adj" fmla="val 5714"/>
            </a:avLst>
          </a:prstGeom>
          <a:solidFill>
            <a:srgbClr val="132133"/>
          </a:solidFill>
          <a:ln w="12700">
            <a:solidFill>
              <a:srgbClr val="223449"/>
            </a:solidFill>
            <a:prstDash val="solid"/>
          </a:ln>
        </p:spPr>
      </p:sp>
      <p:sp>
        <p:nvSpPr>
          <p:cNvPr id="18" name="Text 16"/>
          <p:cNvSpPr/>
          <p:nvPr/>
        </p:nvSpPr>
        <p:spPr>
          <a:xfrm>
            <a:off x="3520440" y="4690872"/>
            <a:ext cx="2322576" cy="219456"/>
          </a:xfrm>
          <a:prstGeom prst="rect">
            <a:avLst/>
          </a:prstGeom>
          <a:noFill/>
          <a:ln/>
        </p:spPr>
        <p:txBody>
          <a:bodyPr wrap="square" lIns="0" tIns="0" rIns="0" bIns="0" rtlCol="0" anchor="ctr"/>
          <a:lstStyle/>
          <a:p>
            <a:pPr indent="0" marL="0">
              <a:buNone/>
            </a:pPr>
            <a:r>
              <a:rPr lang="en-US" sz="900" b="1" spc="80" kern="0" dirty="0">
                <a:solidFill>
                  <a:srgbClr val="6B819A"/>
                </a:solidFill>
                <a:latin typeface="Segoe UI" pitchFamily="34" charset="0"/>
                <a:ea typeface="Segoe UI" pitchFamily="34" charset="-122"/>
                <a:cs typeface="Segoe UI" pitchFamily="34" charset="-120"/>
              </a:rPr>
              <a:t>CRITICAL COVERED</a:t>
            </a:r>
            <a:endParaRPr lang="en-US" sz="900" dirty="0"/>
          </a:p>
        </p:txBody>
      </p:sp>
      <p:sp>
        <p:nvSpPr>
          <p:cNvPr id="19" name="Text 17"/>
          <p:cNvSpPr/>
          <p:nvPr/>
        </p:nvSpPr>
        <p:spPr>
          <a:xfrm>
            <a:off x="3520440" y="4937760"/>
            <a:ext cx="2322576" cy="420624"/>
          </a:xfrm>
          <a:prstGeom prst="rect">
            <a:avLst/>
          </a:prstGeom>
          <a:noFill/>
          <a:ln/>
        </p:spPr>
        <p:txBody>
          <a:bodyPr wrap="square" lIns="0" tIns="0" rIns="0" bIns="0" rtlCol="0" anchor="ctr"/>
          <a:lstStyle/>
          <a:p>
            <a:pPr indent="0" marL="0">
              <a:buNone/>
            </a:pPr>
            <a:r>
              <a:rPr lang="en-US" sz="2400" b="1" dirty="0">
                <a:solidFill>
                  <a:srgbClr val="F0A93B"/>
                </a:solidFill>
                <a:latin typeface="Segoe UI" pitchFamily="34" charset="0"/>
                <a:ea typeface="Segoe UI" pitchFamily="34" charset="-122"/>
                <a:cs typeface="Segoe UI" pitchFamily="34" charset="-120"/>
              </a:rPr>
              <a:t>27</a:t>
            </a:r>
            <a:endParaRPr lang="en-US" sz="2400" dirty="0"/>
          </a:p>
        </p:txBody>
      </p:sp>
      <p:sp>
        <p:nvSpPr>
          <p:cNvPr id="20" name="Text 18"/>
          <p:cNvSpPr/>
          <p:nvPr/>
        </p:nvSpPr>
        <p:spPr>
          <a:xfrm>
            <a:off x="3520440" y="5394960"/>
            <a:ext cx="2322576" cy="347472"/>
          </a:xfrm>
          <a:prstGeom prst="rect">
            <a:avLst/>
          </a:prstGeom>
          <a:noFill/>
          <a:ln/>
        </p:spPr>
        <p:txBody>
          <a:bodyPr wrap="square" lIns="0" tIns="0" rIns="0" bIns="0" rtlCol="0" anchor="t"/>
          <a:lstStyle/>
          <a:p>
            <a:pPr indent="0" marL="0">
              <a:lnSpc>
                <a:spcPts val="1188"/>
              </a:lnSpc>
              <a:buNone/>
            </a:pPr>
            <a:r>
              <a:rPr lang="en-US" sz="950" dirty="0">
                <a:solidFill>
                  <a:srgbClr val="9DB2C8"/>
                </a:solidFill>
                <a:latin typeface="Segoe UI" pitchFamily="34" charset="0"/>
                <a:ea typeface="Segoe UI" pitchFamily="34" charset="-122"/>
                <a:cs typeface="Segoe UI" pitchFamily="34" charset="-120"/>
              </a:rPr>
              <a:t>2 critical still have no safe slot</a:t>
            </a:r>
            <a:endParaRPr lang="en-US" sz="950" dirty="0"/>
          </a:p>
        </p:txBody>
      </p:sp>
      <p:sp>
        <p:nvSpPr>
          <p:cNvPr id="21" name="Shape 19"/>
          <p:cNvSpPr/>
          <p:nvPr/>
        </p:nvSpPr>
        <p:spPr>
          <a:xfrm>
            <a:off x="6208776" y="4572000"/>
            <a:ext cx="2651760" cy="1280160"/>
          </a:xfrm>
          <a:prstGeom prst="roundRect">
            <a:avLst>
              <a:gd name="adj" fmla="val 5714"/>
            </a:avLst>
          </a:prstGeom>
          <a:solidFill>
            <a:srgbClr val="132133"/>
          </a:solidFill>
          <a:ln w="12700">
            <a:solidFill>
              <a:srgbClr val="223449"/>
            </a:solidFill>
            <a:prstDash val="solid"/>
          </a:ln>
        </p:spPr>
      </p:sp>
      <p:sp>
        <p:nvSpPr>
          <p:cNvPr id="22" name="Text 20"/>
          <p:cNvSpPr/>
          <p:nvPr/>
        </p:nvSpPr>
        <p:spPr>
          <a:xfrm>
            <a:off x="6373368" y="4690872"/>
            <a:ext cx="2322576" cy="219456"/>
          </a:xfrm>
          <a:prstGeom prst="rect">
            <a:avLst/>
          </a:prstGeom>
          <a:noFill/>
          <a:ln/>
        </p:spPr>
        <p:txBody>
          <a:bodyPr wrap="square" lIns="0" tIns="0" rIns="0" bIns="0" rtlCol="0" anchor="ctr"/>
          <a:lstStyle/>
          <a:p>
            <a:pPr indent="0" marL="0">
              <a:buNone/>
            </a:pPr>
            <a:r>
              <a:rPr lang="en-US" sz="900" b="1" spc="80" kern="0" dirty="0">
                <a:solidFill>
                  <a:srgbClr val="6B819A"/>
                </a:solidFill>
                <a:latin typeface="Segoe UI" pitchFamily="34" charset="0"/>
                <a:ea typeface="Segoe UI" pitchFamily="34" charset="-122"/>
                <a:cs typeface="Segoe UI" pitchFamily="34" charset="-120"/>
              </a:rPr>
              <a:t>ASSET AVAILABILITY</a:t>
            </a:r>
            <a:endParaRPr lang="en-US" sz="900" dirty="0"/>
          </a:p>
        </p:txBody>
      </p:sp>
      <p:sp>
        <p:nvSpPr>
          <p:cNvPr id="23" name="Text 21"/>
          <p:cNvSpPr/>
          <p:nvPr/>
        </p:nvSpPr>
        <p:spPr>
          <a:xfrm>
            <a:off x="6373368" y="4937760"/>
            <a:ext cx="2322576" cy="420624"/>
          </a:xfrm>
          <a:prstGeom prst="rect">
            <a:avLst/>
          </a:prstGeom>
          <a:noFill/>
          <a:ln/>
        </p:spPr>
        <p:txBody>
          <a:bodyPr wrap="square" lIns="0" tIns="0" rIns="0" bIns="0" rtlCol="0" anchor="ctr"/>
          <a:lstStyle/>
          <a:p>
            <a:pPr indent="0" marL="0">
              <a:buNone/>
            </a:pPr>
            <a:r>
              <a:rPr lang="en-US" sz="2400" b="1" dirty="0">
                <a:solidFill>
                  <a:srgbClr val="2DD4BF"/>
                </a:solidFill>
                <a:latin typeface="Segoe UI" pitchFamily="34" charset="0"/>
                <a:ea typeface="Segoe UI" pitchFamily="34" charset="-122"/>
                <a:cs typeface="Segoe UI" pitchFamily="34" charset="-120"/>
              </a:rPr>
              <a:t>99.125%</a:t>
            </a:r>
            <a:endParaRPr lang="en-US" sz="2400" dirty="0"/>
          </a:p>
        </p:txBody>
      </p:sp>
      <p:sp>
        <p:nvSpPr>
          <p:cNvPr id="24" name="Text 22"/>
          <p:cNvSpPr/>
          <p:nvPr/>
        </p:nvSpPr>
        <p:spPr>
          <a:xfrm>
            <a:off x="6373368" y="5394960"/>
            <a:ext cx="2322576" cy="347472"/>
          </a:xfrm>
          <a:prstGeom prst="rect">
            <a:avLst/>
          </a:prstGeom>
          <a:noFill/>
          <a:ln/>
        </p:spPr>
        <p:txBody>
          <a:bodyPr wrap="square" lIns="0" tIns="0" rIns="0" bIns="0" rtlCol="0" anchor="t"/>
          <a:lstStyle/>
          <a:p>
            <a:pPr indent="0" marL="0">
              <a:lnSpc>
                <a:spcPts val="1188"/>
              </a:lnSpc>
              <a:buNone/>
            </a:pPr>
            <a:r>
              <a:rPr lang="en-US" sz="950" dirty="0">
                <a:solidFill>
                  <a:srgbClr val="9DB2C8"/>
                </a:solidFill>
                <a:latin typeface="Segoe UI" pitchFamily="34" charset="0"/>
                <a:ea typeface="Segoe UI" pitchFamily="34" charset="-122"/>
                <a:cs typeface="Segoe UI" pitchFamily="34" charset="-120"/>
              </a:rPr>
              <a:t>across the monthly horizon</a:t>
            </a:r>
            <a:endParaRPr lang="en-US" sz="950" dirty="0"/>
          </a:p>
        </p:txBody>
      </p:sp>
      <p:sp>
        <p:nvSpPr>
          <p:cNvPr id="25" name="Shape 23"/>
          <p:cNvSpPr/>
          <p:nvPr/>
        </p:nvSpPr>
        <p:spPr>
          <a:xfrm>
            <a:off x="9061704" y="4572000"/>
            <a:ext cx="2651760" cy="1280160"/>
          </a:xfrm>
          <a:prstGeom prst="roundRect">
            <a:avLst>
              <a:gd name="adj" fmla="val 5714"/>
            </a:avLst>
          </a:prstGeom>
          <a:solidFill>
            <a:srgbClr val="132133"/>
          </a:solidFill>
          <a:ln w="12700">
            <a:solidFill>
              <a:srgbClr val="223449"/>
            </a:solidFill>
            <a:prstDash val="solid"/>
          </a:ln>
        </p:spPr>
      </p:sp>
      <p:sp>
        <p:nvSpPr>
          <p:cNvPr id="26" name="Text 24"/>
          <p:cNvSpPr/>
          <p:nvPr/>
        </p:nvSpPr>
        <p:spPr>
          <a:xfrm>
            <a:off x="9226296" y="4690872"/>
            <a:ext cx="2322576" cy="219456"/>
          </a:xfrm>
          <a:prstGeom prst="rect">
            <a:avLst/>
          </a:prstGeom>
          <a:noFill/>
          <a:ln/>
        </p:spPr>
        <p:txBody>
          <a:bodyPr wrap="square" lIns="0" tIns="0" rIns="0" bIns="0" rtlCol="0" anchor="ctr"/>
          <a:lstStyle/>
          <a:p>
            <a:pPr indent="0" marL="0">
              <a:buNone/>
            </a:pPr>
            <a:r>
              <a:rPr lang="en-US" sz="900" b="1" spc="80" kern="0" dirty="0">
                <a:solidFill>
                  <a:srgbClr val="6B819A"/>
                </a:solidFill>
                <a:latin typeface="Segoe UI" pitchFamily="34" charset="0"/>
                <a:ea typeface="Segoe UI" pitchFamily="34" charset="-122"/>
                <a:cs typeface="Segoe UI" pitchFamily="34" charset="-120"/>
              </a:rPr>
              <a:t>SHARED BLOCKS</a:t>
            </a:r>
            <a:endParaRPr lang="en-US" sz="900" dirty="0"/>
          </a:p>
        </p:txBody>
      </p:sp>
      <p:sp>
        <p:nvSpPr>
          <p:cNvPr id="27" name="Text 25"/>
          <p:cNvSpPr/>
          <p:nvPr/>
        </p:nvSpPr>
        <p:spPr>
          <a:xfrm>
            <a:off x="9226296" y="4937760"/>
            <a:ext cx="2322576" cy="420624"/>
          </a:xfrm>
          <a:prstGeom prst="rect">
            <a:avLst/>
          </a:prstGeom>
          <a:noFill/>
          <a:ln/>
        </p:spPr>
        <p:txBody>
          <a:bodyPr wrap="square" lIns="0" tIns="0" rIns="0" bIns="0" rtlCol="0" anchor="ctr"/>
          <a:lstStyle/>
          <a:p>
            <a:pPr indent="0" marL="0">
              <a:buNone/>
            </a:pPr>
            <a:r>
              <a:rPr lang="en-US" sz="2400" b="1" dirty="0">
                <a:solidFill>
                  <a:srgbClr val="A78BFA"/>
                </a:solidFill>
                <a:latin typeface="Segoe UI" pitchFamily="34" charset="0"/>
                <a:ea typeface="Segoe UI" pitchFamily="34" charset="-122"/>
                <a:cs typeface="Segoe UI" pitchFamily="34" charset="-120"/>
              </a:rPr>
              <a:t>25</a:t>
            </a:r>
            <a:endParaRPr lang="en-US" sz="2400" dirty="0"/>
          </a:p>
        </p:txBody>
      </p:sp>
      <p:sp>
        <p:nvSpPr>
          <p:cNvPr id="28" name="Text 26"/>
          <p:cNvSpPr/>
          <p:nvPr/>
        </p:nvSpPr>
        <p:spPr>
          <a:xfrm>
            <a:off x="9226296" y="5394960"/>
            <a:ext cx="2322576" cy="347472"/>
          </a:xfrm>
          <a:prstGeom prst="rect">
            <a:avLst/>
          </a:prstGeom>
          <a:noFill/>
          <a:ln/>
        </p:spPr>
        <p:txBody>
          <a:bodyPr wrap="square" lIns="0" tIns="0" rIns="0" bIns="0" rtlCol="0" anchor="t"/>
          <a:lstStyle/>
          <a:p>
            <a:pPr indent="0" marL="0">
              <a:lnSpc>
                <a:spcPts val="1188"/>
              </a:lnSpc>
              <a:buNone/>
            </a:pPr>
            <a:r>
              <a:rPr lang="en-US" sz="950" dirty="0">
                <a:solidFill>
                  <a:srgbClr val="9DB2C8"/>
                </a:solidFill>
                <a:latin typeface="Segoe UI" pitchFamily="34" charset="0"/>
                <a:ea typeface="Segoe UI" pitchFamily="34" charset="-122"/>
                <a:cs typeface="Segoe UI" pitchFamily="34" charset="-120"/>
              </a:rPr>
              <a:t>multi-department possessions</a:t>
            </a:r>
            <a:endParaRPr lang="en-US" sz="95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819A"/>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84048"/>
            <a:ext cx="9144000" cy="237744"/>
          </a:xfrm>
          <a:prstGeom prst="rect">
            <a:avLst/>
          </a:prstGeom>
          <a:noFill/>
          <a:ln/>
        </p:spPr>
        <p:txBody>
          <a:bodyPr wrap="square" rtlCol="0" anchor="ctr"/>
          <a:lstStyle/>
          <a:p>
            <a:pPr indent="0" marL="0">
              <a:buNone/>
            </a:pPr>
            <a:r>
              <a:rPr lang="en-US" sz="1100" b="1" spc="160" kern="0" dirty="0">
                <a:solidFill>
                  <a:srgbClr val="3B9BE8"/>
                </a:solidFill>
                <a:latin typeface="Segoe UI" pitchFamily="34" charset="0"/>
                <a:ea typeface="Segoe UI" pitchFamily="34" charset="-122"/>
                <a:cs typeface="Segoe UI" pitchFamily="34" charset="-120"/>
              </a:rPr>
              <a:t>HOW IT IS BUILT</a:t>
            </a:r>
            <a:endParaRPr lang="en-US" sz="1100" dirty="0"/>
          </a:p>
        </p:txBody>
      </p:sp>
      <p:sp>
        <p:nvSpPr>
          <p:cNvPr id="3" name="Text 1"/>
          <p:cNvSpPr/>
          <p:nvPr/>
        </p:nvSpPr>
        <p:spPr>
          <a:xfrm>
            <a:off x="502920" y="658368"/>
            <a:ext cx="11155680" cy="566928"/>
          </a:xfrm>
          <a:prstGeom prst="rect">
            <a:avLst/>
          </a:prstGeom>
          <a:noFill/>
          <a:ln/>
        </p:spPr>
        <p:txBody>
          <a:bodyPr wrap="square" rtlCol="0" anchor="ctr"/>
          <a:lstStyle/>
          <a:p>
            <a:pPr indent="0" marL="0">
              <a:buNone/>
            </a:pPr>
            <a:r>
              <a:rPr lang="en-US" sz="3000" b="1" dirty="0">
                <a:solidFill>
                  <a:srgbClr val="F1F6FC"/>
                </a:solidFill>
                <a:latin typeface="Segoe UI" pitchFamily="34" charset="0"/>
                <a:ea typeface="Segoe UI" pitchFamily="34" charset="-122"/>
                <a:cs typeface="Segoe UI" pitchFamily="34" charset="-120"/>
              </a:rPr>
              <a:t>A stack chosen to be inspected, not just demoed</a:t>
            </a:r>
            <a:endParaRPr lang="en-US" sz="3000" dirty="0"/>
          </a:p>
        </p:txBody>
      </p:sp>
      <p:sp>
        <p:nvSpPr>
          <p:cNvPr id="4" name="Shape 2"/>
          <p:cNvSpPr/>
          <p:nvPr/>
        </p:nvSpPr>
        <p:spPr>
          <a:xfrm>
            <a:off x="502920" y="1600200"/>
            <a:ext cx="3657600" cy="2148840"/>
          </a:xfrm>
          <a:prstGeom prst="roundRect">
            <a:avLst>
              <a:gd name="adj" fmla="val 3404"/>
            </a:avLst>
          </a:prstGeom>
          <a:solidFill>
            <a:srgbClr val="132133"/>
          </a:solidFill>
          <a:ln w="12700">
            <a:solidFill>
              <a:srgbClr val="223449"/>
            </a:solidFill>
            <a:prstDash val="solid"/>
          </a:ln>
        </p:spPr>
      </p:sp>
      <p:sp>
        <p:nvSpPr>
          <p:cNvPr id="5" name="Shape 3"/>
          <p:cNvSpPr/>
          <p:nvPr/>
        </p:nvSpPr>
        <p:spPr>
          <a:xfrm>
            <a:off x="502920" y="1783080"/>
            <a:ext cx="45720" cy="256032"/>
          </a:xfrm>
          <a:prstGeom prst="rect">
            <a:avLst/>
          </a:prstGeom>
          <a:solidFill>
            <a:srgbClr val="3B9BE8"/>
          </a:solidFill>
          <a:ln/>
        </p:spPr>
      </p:sp>
      <p:sp>
        <p:nvSpPr>
          <p:cNvPr id="6" name="Text 4"/>
          <p:cNvSpPr/>
          <p:nvPr/>
        </p:nvSpPr>
        <p:spPr>
          <a:xfrm>
            <a:off x="722376" y="1764792"/>
            <a:ext cx="3255264" cy="274320"/>
          </a:xfrm>
          <a:prstGeom prst="rect">
            <a:avLst/>
          </a:prstGeom>
          <a:noFill/>
          <a:ln/>
        </p:spPr>
        <p:txBody>
          <a:bodyPr wrap="square" lIns="0" tIns="0" rIns="0" bIns="0" rtlCol="0" anchor="ctr"/>
          <a:lstStyle/>
          <a:p>
            <a:pPr indent="0" marL="0">
              <a:buNone/>
            </a:pPr>
            <a:r>
              <a:rPr lang="en-US" sz="1350" b="1" dirty="0">
                <a:solidFill>
                  <a:srgbClr val="F1F6FC"/>
                </a:solidFill>
                <a:latin typeface="Segoe UI" pitchFamily="34" charset="0"/>
                <a:ea typeface="Segoe UI" pitchFamily="34" charset="-122"/>
                <a:cs typeface="Segoe UI" pitchFamily="34" charset="-120"/>
              </a:rPr>
              <a:t>Frontend</a:t>
            </a:r>
            <a:endParaRPr lang="en-US" sz="1350" dirty="0"/>
          </a:p>
        </p:txBody>
      </p:sp>
      <p:sp>
        <p:nvSpPr>
          <p:cNvPr id="7" name="Text 5"/>
          <p:cNvSpPr/>
          <p:nvPr/>
        </p:nvSpPr>
        <p:spPr>
          <a:xfrm>
            <a:off x="740664" y="2148840"/>
            <a:ext cx="3218688" cy="1472184"/>
          </a:xfrm>
          <a:prstGeom prst="rect">
            <a:avLst/>
          </a:prstGeom>
          <a:noFill/>
          <a:ln/>
        </p:spPr>
        <p:txBody>
          <a:bodyPr wrap="square" lIns="0" tIns="0" rIns="0" bIns="0" rtlCol="0" anchor="t"/>
          <a:lstStyle/>
          <a:p>
            <a:pPr marL="342900" indent="-342900">
              <a:lnSpc>
                <a:spcPts val="1320"/>
              </a:lnSpc>
              <a:buSzPct val="100000"/>
              <a:buChar char="•"/>
            </a:pPr>
            <a:r>
              <a:rPr lang="en-US" sz="1000" dirty="0">
                <a:solidFill>
                  <a:srgbClr val="9DB2C8"/>
                </a:solidFill>
                <a:latin typeface="Segoe UI" pitchFamily="34" charset="0"/>
                <a:ea typeface="Segoe UI" pitchFamily="34" charset="-122"/>
                <a:cs typeface="Segoe UI" pitchFamily="34" charset="-120"/>
              </a:rPr>
              <a:t>Angular 22, standalone components, client-side rendering only.</a:t>
            </a:r>
            <a:endParaRPr lang="en-US" sz="1000" dirty="0"/>
          </a:p>
          <a:p>
            <a:pPr marL="342900" indent="-342900">
              <a:lnSpc>
                <a:spcPts val="1320"/>
              </a:lnSpc>
              <a:buSzPct val="100000"/>
              <a:buChar char="•"/>
            </a:pPr>
            <a:r>
              <a:rPr lang="en-US" sz="1000" dirty="0">
                <a:solidFill>
                  <a:srgbClr val="9DB2C8"/>
                </a:solidFill>
                <a:latin typeface="Segoe UI" pitchFamily="34" charset="0"/>
                <a:ea typeface="Segoe UI" pitchFamily="34" charset="-122"/>
                <a:cs typeface="Segoe UI" pitchFamily="34" charset="-120"/>
              </a:rPr>
              <a:t>Signals for all state; Signal Forms; httpResource for reads.</a:t>
            </a:r>
            <a:endParaRPr lang="en-US" sz="1000" dirty="0"/>
          </a:p>
          <a:p>
            <a:pPr marL="342900" indent="-342900">
              <a:lnSpc>
                <a:spcPts val="1320"/>
              </a:lnSpc>
              <a:buSzPct val="100000"/>
              <a:buChar char="•"/>
            </a:pPr>
            <a:r>
              <a:rPr lang="en-US" sz="1000" dirty="0">
                <a:solidFill>
                  <a:srgbClr val="9DB2C8"/>
                </a:solidFill>
                <a:latin typeface="Segoe UI" pitchFamily="34" charset="0"/>
                <a:ea typeface="Segoe UI" pitchFamily="34" charset="-122"/>
                <a:cs typeface="Segoe UI" pitchFamily="34" charset="-120"/>
              </a:rPr>
              <a:t>Tailwind CSS 4 as the only design system — no component library.</a:t>
            </a:r>
            <a:endParaRPr lang="en-US" sz="1000" dirty="0"/>
          </a:p>
          <a:p>
            <a:pPr marL="342900" indent="-342900">
              <a:lnSpc>
                <a:spcPts val="1320"/>
              </a:lnSpc>
              <a:buSzPct val="100000"/>
              <a:buChar char="•"/>
            </a:pPr>
            <a:r>
              <a:rPr lang="en-US" sz="1000" dirty="0">
                <a:solidFill>
                  <a:srgbClr val="9DB2C8"/>
                </a:solidFill>
                <a:latin typeface="Segoe UI" pitchFamily="34" charset="0"/>
                <a:ea typeface="Segoe UI" pitchFamily="34" charset="-122"/>
                <a:cs typeface="Segoe UI" pitchFamily="34" charset="-120"/>
              </a:rPr>
              <a:t>Department shown by text and colour, never colour alone.</a:t>
            </a:r>
            <a:endParaRPr lang="en-US" sz="1000" dirty="0"/>
          </a:p>
        </p:txBody>
      </p:sp>
      <p:sp>
        <p:nvSpPr>
          <p:cNvPr id="8" name="Shape 6"/>
          <p:cNvSpPr/>
          <p:nvPr/>
        </p:nvSpPr>
        <p:spPr>
          <a:xfrm>
            <a:off x="4279392" y="1600200"/>
            <a:ext cx="3657600" cy="2148840"/>
          </a:xfrm>
          <a:prstGeom prst="roundRect">
            <a:avLst>
              <a:gd name="adj" fmla="val 3404"/>
            </a:avLst>
          </a:prstGeom>
          <a:solidFill>
            <a:srgbClr val="132133"/>
          </a:solidFill>
          <a:ln w="12700">
            <a:solidFill>
              <a:srgbClr val="223449"/>
            </a:solidFill>
            <a:prstDash val="solid"/>
          </a:ln>
        </p:spPr>
      </p:sp>
      <p:sp>
        <p:nvSpPr>
          <p:cNvPr id="9" name="Shape 7"/>
          <p:cNvSpPr/>
          <p:nvPr/>
        </p:nvSpPr>
        <p:spPr>
          <a:xfrm>
            <a:off x="4279392" y="1783080"/>
            <a:ext cx="45720" cy="256032"/>
          </a:xfrm>
          <a:prstGeom prst="rect">
            <a:avLst/>
          </a:prstGeom>
          <a:solidFill>
            <a:srgbClr val="2DD4BF"/>
          </a:solidFill>
          <a:ln/>
        </p:spPr>
      </p:sp>
      <p:sp>
        <p:nvSpPr>
          <p:cNvPr id="10" name="Text 8"/>
          <p:cNvSpPr/>
          <p:nvPr/>
        </p:nvSpPr>
        <p:spPr>
          <a:xfrm>
            <a:off x="4498848" y="1764792"/>
            <a:ext cx="3255264" cy="274320"/>
          </a:xfrm>
          <a:prstGeom prst="rect">
            <a:avLst/>
          </a:prstGeom>
          <a:noFill/>
          <a:ln/>
        </p:spPr>
        <p:txBody>
          <a:bodyPr wrap="square" lIns="0" tIns="0" rIns="0" bIns="0" rtlCol="0" anchor="ctr"/>
          <a:lstStyle/>
          <a:p>
            <a:pPr indent="0" marL="0">
              <a:buNone/>
            </a:pPr>
            <a:r>
              <a:rPr lang="en-US" sz="1350" b="1" dirty="0">
                <a:solidFill>
                  <a:srgbClr val="F1F6FC"/>
                </a:solidFill>
                <a:latin typeface="Segoe UI" pitchFamily="34" charset="0"/>
                <a:ea typeface="Segoe UI" pitchFamily="34" charset="-122"/>
                <a:cs typeface="Segoe UI" pitchFamily="34" charset="-120"/>
              </a:rPr>
              <a:t>Backend</a:t>
            </a:r>
            <a:endParaRPr lang="en-US" sz="1350" dirty="0"/>
          </a:p>
        </p:txBody>
      </p:sp>
      <p:sp>
        <p:nvSpPr>
          <p:cNvPr id="11" name="Text 9"/>
          <p:cNvSpPr/>
          <p:nvPr/>
        </p:nvSpPr>
        <p:spPr>
          <a:xfrm>
            <a:off x="4517136" y="2148840"/>
            <a:ext cx="3218688" cy="1472184"/>
          </a:xfrm>
          <a:prstGeom prst="rect">
            <a:avLst/>
          </a:prstGeom>
          <a:noFill/>
          <a:ln/>
        </p:spPr>
        <p:txBody>
          <a:bodyPr wrap="square" lIns="0" tIns="0" rIns="0" bIns="0" rtlCol="0" anchor="t"/>
          <a:lstStyle/>
          <a:p>
            <a:pPr marL="342900" indent="-342900">
              <a:lnSpc>
                <a:spcPts val="1320"/>
              </a:lnSpc>
              <a:buSzPct val="100000"/>
              <a:buChar char="•"/>
            </a:pPr>
            <a:r>
              <a:rPr lang="en-US" sz="1000" dirty="0">
                <a:solidFill>
                  <a:srgbClr val="9DB2C8"/>
                </a:solidFill>
                <a:latin typeface="Segoe UI" pitchFamily="34" charset="0"/>
                <a:ea typeface="Segoe UI" pitchFamily="34" charset="-122"/>
                <a:cs typeface="Segoe UI" pitchFamily="34" charset="-120"/>
              </a:rPr>
              <a:t>Node.js 24, plain JavaScript, ES modules, Express 5.</a:t>
            </a:r>
            <a:endParaRPr lang="en-US" sz="1000" dirty="0"/>
          </a:p>
          <a:p>
            <a:pPr marL="342900" indent="-342900">
              <a:lnSpc>
                <a:spcPts val="1320"/>
              </a:lnSpc>
              <a:buSzPct val="100000"/>
              <a:buChar char="•"/>
            </a:pPr>
            <a:r>
              <a:rPr lang="en-US" sz="1000" dirty="0">
                <a:solidFill>
                  <a:srgbClr val="9DB2C8"/>
                </a:solidFill>
                <a:latin typeface="Segoe UI" pitchFamily="34" charset="0"/>
                <a:ea typeface="Segoe UI" pitchFamily="34" charset="-122"/>
                <a:cs typeface="Segoe UI" pitchFamily="34" charset="-120"/>
              </a:rPr>
              <a:t>MySQL 8.0 with handwritten SQL and mysql2/promise — no ORM.</a:t>
            </a:r>
            <a:endParaRPr lang="en-US" sz="1000" dirty="0"/>
          </a:p>
          <a:p>
            <a:pPr marL="342900" indent="-342900">
              <a:lnSpc>
                <a:spcPts val="1320"/>
              </a:lnSpc>
              <a:buSzPct val="100000"/>
              <a:buChar char="•"/>
            </a:pPr>
            <a:r>
              <a:rPr lang="en-US" sz="1000" dirty="0">
                <a:solidFill>
                  <a:srgbClr val="9DB2C8"/>
                </a:solidFill>
                <a:latin typeface="Segoe UI" pitchFamily="34" charset="0"/>
                <a:ea typeface="Segoe UI" pitchFamily="34" charset="-122"/>
                <a:cs typeface="Segoe UI" pitchFamily="34" charset="-120"/>
              </a:rPr>
              <a:t>Domain modules: routes, controller, validation, service, repository.</a:t>
            </a:r>
            <a:endParaRPr lang="en-US" sz="1000" dirty="0"/>
          </a:p>
          <a:p>
            <a:pPr marL="342900" indent="-342900">
              <a:lnSpc>
                <a:spcPts val="1320"/>
              </a:lnSpc>
              <a:buSzPct val="100000"/>
              <a:buChar char="•"/>
            </a:pPr>
            <a:r>
              <a:rPr lang="en-US" sz="1000" dirty="0">
                <a:solidFill>
                  <a:srgbClr val="9DB2C8"/>
                </a:solidFill>
                <a:latin typeface="Segoe UI" pitchFamily="34" charset="0"/>
                <a:ea typeface="Segoe UI" pitchFamily="34" charset="-122"/>
                <a:cs typeface="Segoe UI" pitchFamily="34" charset="-120"/>
              </a:rPr>
              <a:t>Engines and solvers are pure logic, with no Express inside.</a:t>
            </a:r>
            <a:endParaRPr lang="en-US" sz="1000" dirty="0"/>
          </a:p>
        </p:txBody>
      </p:sp>
      <p:sp>
        <p:nvSpPr>
          <p:cNvPr id="12" name="Shape 10"/>
          <p:cNvSpPr/>
          <p:nvPr/>
        </p:nvSpPr>
        <p:spPr>
          <a:xfrm>
            <a:off x="8055864" y="1600200"/>
            <a:ext cx="3657600" cy="2148840"/>
          </a:xfrm>
          <a:prstGeom prst="roundRect">
            <a:avLst>
              <a:gd name="adj" fmla="val 3404"/>
            </a:avLst>
          </a:prstGeom>
          <a:solidFill>
            <a:srgbClr val="132133"/>
          </a:solidFill>
          <a:ln w="12700">
            <a:solidFill>
              <a:srgbClr val="223449"/>
            </a:solidFill>
            <a:prstDash val="solid"/>
          </a:ln>
        </p:spPr>
      </p:sp>
      <p:sp>
        <p:nvSpPr>
          <p:cNvPr id="13" name="Shape 11"/>
          <p:cNvSpPr/>
          <p:nvPr/>
        </p:nvSpPr>
        <p:spPr>
          <a:xfrm>
            <a:off x="8055864" y="1783080"/>
            <a:ext cx="45720" cy="256032"/>
          </a:xfrm>
          <a:prstGeom prst="rect">
            <a:avLst/>
          </a:prstGeom>
          <a:solidFill>
            <a:srgbClr val="F0A93B"/>
          </a:solidFill>
          <a:ln/>
        </p:spPr>
      </p:sp>
      <p:sp>
        <p:nvSpPr>
          <p:cNvPr id="14" name="Text 12"/>
          <p:cNvSpPr/>
          <p:nvPr/>
        </p:nvSpPr>
        <p:spPr>
          <a:xfrm>
            <a:off x="8275320" y="1764792"/>
            <a:ext cx="3255264" cy="274320"/>
          </a:xfrm>
          <a:prstGeom prst="rect">
            <a:avLst/>
          </a:prstGeom>
          <a:noFill/>
          <a:ln/>
        </p:spPr>
        <p:txBody>
          <a:bodyPr wrap="square" lIns="0" tIns="0" rIns="0" bIns="0" rtlCol="0" anchor="ctr"/>
          <a:lstStyle/>
          <a:p>
            <a:pPr indent="0" marL="0">
              <a:buNone/>
            </a:pPr>
            <a:r>
              <a:rPr lang="en-US" sz="1350" b="1" dirty="0">
                <a:solidFill>
                  <a:srgbClr val="F1F6FC"/>
                </a:solidFill>
                <a:latin typeface="Segoe UI" pitchFamily="34" charset="0"/>
                <a:ea typeface="Segoe UI" pitchFamily="34" charset="-122"/>
                <a:cs typeface="Segoe UI" pitchFamily="34" charset="-120"/>
              </a:rPr>
              <a:t>Planning core</a:t>
            </a:r>
            <a:endParaRPr lang="en-US" sz="1350" dirty="0"/>
          </a:p>
        </p:txBody>
      </p:sp>
      <p:sp>
        <p:nvSpPr>
          <p:cNvPr id="15" name="Text 13"/>
          <p:cNvSpPr/>
          <p:nvPr/>
        </p:nvSpPr>
        <p:spPr>
          <a:xfrm>
            <a:off x="8293608" y="2148840"/>
            <a:ext cx="3218688" cy="1472184"/>
          </a:xfrm>
          <a:prstGeom prst="rect">
            <a:avLst/>
          </a:prstGeom>
          <a:noFill/>
          <a:ln/>
        </p:spPr>
        <p:txBody>
          <a:bodyPr wrap="square" lIns="0" tIns="0" rIns="0" bIns="0" rtlCol="0" anchor="t"/>
          <a:lstStyle/>
          <a:p>
            <a:pPr marL="342900" indent="-342900">
              <a:lnSpc>
                <a:spcPts val="1320"/>
              </a:lnSpc>
              <a:buSzPct val="100000"/>
              <a:buChar char="•"/>
            </a:pPr>
            <a:r>
              <a:rPr lang="en-US" sz="1000" dirty="0">
                <a:solidFill>
                  <a:srgbClr val="9DB2C8"/>
                </a:solidFill>
                <a:latin typeface="Segoe UI" pitchFamily="34" charset="0"/>
                <a:ea typeface="Segoe UI" pitchFamily="34" charset="-122"/>
                <a:cs typeface="Segoe UI" pitchFamily="34" charset="-120"/>
              </a:rPr>
              <a:t>glpk.js MILP behind a single solver adapter.</a:t>
            </a:r>
            <a:endParaRPr lang="en-US" sz="1000" dirty="0"/>
          </a:p>
          <a:p>
            <a:pPr marL="342900" indent="-342900">
              <a:lnSpc>
                <a:spcPts val="1320"/>
              </a:lnSpc>
              <a:buSzPct val="100000"/>
              <a:buChar char="•"/>
            </a:pPr>
            <a:r>
              <a:rPr lang="en-US" sz="1000" dirty="0">
                <a:solidFill>
                  <a:srgbClr val="9DB2C8"/>
                </a:solidFill>
                <a:latin typeface="Segoe UI" pitchFamily="34" charset="0"/>
                <a:ea typeface="Segoe UI" pitchFamily="34" charset="-122"/>
                <a:cs typeface="Segoe UI" pitchFamily="34" charset="-120"/>
              </a:rPr>
              <a:t>Greedy fallback when the solver fails, reported as FALLBACK_FEASIBLE.</a:t>
            </a:r>
            <a:endParaRPr lang="en-US" sz="1000" dirty="0"/>
          </a:p>
          <a:p>
            <a:pPr marL="342900" indent="-342900">
              <a:lnSpc>
                <a:spcPts val="1320"/>
              </a:lnSpc>
              <a:buSzPct val="100000"/>
              <a:buChar char="•"/>
            </a:pPr>
            <a:r>
              <a:rPr lang="en-US" sz="1000" dirty="0">
                <a:solidFill>
                  <a:srgbClr val="9DB2C8"/>
                </a:solidFill>
                <a:latin typeface="Segoe UI" pitchFamily="34" charset="0"/>
                <a:ea typeface="Segoe UI" pitchFamily="34" charset="-122"/>
                <a:cs typeface="Segoe UI" pitchFamily="34" charset="-120"/>
              </a:rPr>
              <a:t>An independent plan validator running after the solver, not inside it.</a:t>
            </a:r>
            <a:endParaRPr lang="en-US" sz="1000" dirty="0"/>
          </a:p>
          <a:p>
            <a:pPr marL="342900" indent="-342900">
              <a:lnSpc>
                <a:spcPts val="1320"/>
              </a:lnSpc>
              <a:buSzPct val="100000"/>
              <a:buChar char="•"/>
            </a:pPr>
            <a:r>
              <a:rPr lang="en-US" sz="1000" dirty="0">
                <a:solidFill>
                  <a:srgbClr val="9DB2C8"/>
                </a:solidFill>
                <a:latin typeface="Segoe UI" pitchFamily="34" charset="0"/>
                <a:ea typeface="Segoe UI" pitchFamily="34" charset="-122"/>
                <a:cs typeface="Segoe UI" pitchFamily="34" charset="-120"/>
              </a:rPr>
              <a:t>The manual baseline planner as a first-class deliverable.</a:t>
            </a:r>
            <a:endParaRPr lang="en-US" sz="1000" dirty="0"/>
          </a:p>
        </p:txBody>
      </p:sp>
      <p:sp>
        <p:nvSpPr>
          <p:cNvPr id="16" name="Shape 14"/>
          <p:cNvSpPr/>
          <p:nvPr/>
        </p:nvSpPr>
        <p:spPr>
          <a:xfrm>
            <a:off x="502920" y="3931920"/>
            <a:ext cx="5532120" cy="1600200"/>
          </a:xfrm>
          <a:prstGeom prst="roundRect">
            <a:avLst>
              <a:gd name="adj" fmla="val 4571"/>
            </a:avLst>
          </a:prstGeom>
          <a:solidFill>
            <a:srgbClr val="132133"/>
          </a:solidFill>
          <a:ln w="12700">
            <a:solidFill>
              <a:srgbClr val="223449"/>
            </a:solidFill>
            <a:prstDash val="solid"/>
          </a:ln>
        </p:spPr>
      </p:sp>
      <p:sp>
        <p:nvSpPr>
          <p:cNvPr id="17" name="Shape 15"/>
          <p:cNvSpPr/>
          <p:nvPr/>
        </p:nvSpPr>
        <p:spPr>
          <a:xfrm>
            <a:off x="502920" y="4114800"/>
            <a:ext cx="45720" cy="256032"/>
          </a:xfrm>
          <a:prstGeom prst="rect">
            <a:avLst/>
          </a:prstGeom>
          <a:solidFill>
            <a:srgbClr val="34D399"/>
          </a:solidFill>
          <a:ln/>
        </p:spPr>
      </p:sp>
      <p:sp>
        <p:nvSpPr>
          <p:cNvPr id="18" name="Text 16"/>
          <p:cNvSpPr/>
          <p:nvPr/>
        </p:nvSpPr>
        <p:spPr>
          <a:xfrm>
            <a:off x="722376" y="4096512"/>
            <a:ext cx="5129784" cy="274320"/>
          </a:xfrm>
          <a:prstGeom prst="rect">
            <a:avLst/>
          </a:prstGeom>
          <a:noFill/>
          <a:ln/>
        </p:spPr>
        <p:txBody>
          <a:bodyPr wrap="square" lIns="0" tIns="0" rIns="0" bIns="0" rtlCol="0" anchor="ctr"/>
          <a:lstStyle/>
          <a:p>
            <a:pPr indent="0" marL="0">
              <a:buNone/>
            </a:pPr>
            <a:r>
              <a:rPr lang="en-US" sz="1350" b="1" dirty="0">
                <a:solidFill>
                  <a:srgbClr val="F1F6FC"/>
                </a:solidFill>
                <a:latin typeface="Segoe UI" pitchFamily="34" charset="0"/>
                <a:ea typeface="Segoe UI" pitchFamily="34" charset="-122"/>
                <a:cs typeface="Segoe UI" pitchFamily="34" charset="-120"/>
              </a:rPr>
              <a:t>Tested where it matters</a:t>
            </a:r>
            <a:endParaRPr lang="en-US" sz="1350" dirty="0"/>
          </a:p>
        </p:txBody>
      </p:sp>
      <p:sp>
        <p:nvSpPr>
          <p:cNvPr id="19" name="Text 17"/>
          <p:cNvSpPr/>
          <p:nvPr/>
        </p:nvSpPr>
        <p:spPr>
          <a:xfrm>
            <a:off x="740664" y="4480560"/>
            <a:ext cx="5093208" cy="923544"/>
          </a:xfrm>
          <a:prstGeom prst="rect">
            <a:avLst/>
          </a:prstGeom>
          <a:noFill/>
          <a:ln/>
        </p:spPr>
        <p:txBody>
          <a:bodyPr wrap="square" lIns="0" tIns="0" rIns="0" bIns="0" rtlCol="0" anchor="t"/>
          <a:lstStyle/>
          <a:p>
            <a:pPr marL="342900" indent="-342900">
              <a:lnSpc>
                <a:spcPts val="1254"/>
              </a:lnSpc>
              <a:buSzPct val="100000"/>
              <a:buChar char="•"/>
            </a:pPr>
            <a:r>
              <a:rPr lang="en-US" sz="950" dirty="0">
                <a:solidFill>
                  <a:srgbClr val="9DB2C8"/>
                </a:solidFill>
                <a:latin typeface="Segoe UI" pitchFamily="34" charset="0"/>
                <a:ea typeface="Segoe UI" pitchFamily="34" charset="-122"/>
                <a:cs typeface="Segoe UI" pitchFamily="34" charset="-120"/>
              </a:rPr>
              <a:t>Backend on node --test: adapter validation and idempotency, priority fallback, logistic regression on a known dataset, duration P90, interval subtraction, rejection reasons, baseline, GLPK, fallback, validation and metrics.</a:t>
            </a:r>
            <a:endParaRPr lang="en-US" sz="950" dirty="0"/>
          </a:p>
          <a:p>
            <a:pPr marL="342900" indent="-342900">
              <a:lnSpc>
                <a:spcPts val="1254"/>
              </a:lnSpc>
              <a:buSzPct val="100000"/>
              <a:buChar char="•"/>
            </a:pPr>
            <a:r>
              <a:rPr lang="en-US" sz="950" dirty="0">
                <a:solidFill>
                  <a:srgbClr val="9DB2C8"/>
                </a:solidFill>
                <a:latin typeface="Segoe UI" pitchFamily="34" charset="0"/>
                <a:ea typeface="Segoe UI" pitchFamily="34" charset="-122"/>
                <a:cs typeface="Segoe UI" pitchFamily="34" charset="-120"/>
              </a:rPr>
              <a:t>Frontend on Vitest + jsdom via @angular/build:unit-test — every generated spec kept and extended.</a:t>
            </a:r>
            <a:endParaRPr lang="en-US" sz="950" dirty="0"/>
          </a:p>
        </p:txBody>
      </p:sp>
      <p:sp>
        <p:nvSpPr>
          <p:cNvPr id="20" name="Shape 18"/>
          <p:cNvSpPr/>
          <p:nvPr/>
        </p:nvSpPr>
        <p:spPr>
          <a:xfrm>
            <a:off x="6190488" y="3931920"/>
            <a:ext cx="5532120" cy="1600200"/>
          </a:xfrm>
          <a:prstGeom prst="roundRect">
            <a:avLst>
              <a:gd name="adj" fmla="val 4571"/>
            </a:avLst>
          </a:prstGeom>
          <a:solidFill>
            <a:srgbClr val="132133"/>
          </a:solidFill>
          <a:ln w="12700">
            <a:solidFill>
              <a:srgbClr val="223449"/>
            </a:solidFill>
            <a:prstDash val="solid"/>
          </a:ln>
        </p:spPr>
      </p:sp>
      <p:sp>
        <p:nvSpPr>
          <p:cNvPr id="21" name="Shape 19"/>
          <p:cNvSpPr/>
          <p:nvPr/>
        </p:nvSpPr>
        <p:spPr>
          <a:xfrm>
            <a:off x="6190488" y="4114800"/>
            <a:ext cx="45720" cy="256032"/>
          </a:xfrm>
          <a:prstGeom prst="rect">
            <a:avLst/>
          </a:prstGeom>
          <a:solidFill>
            <a:srgbClr val="6B819A"/>
          </a:solidFill>
          <a:ln/>
        </p:spPr>
      </p:sp>
      <p:sp>
        <p:nvSpPr>
          <p:cNvPr id="22" name="Text 20"/>
          <p:cNvSpPr/>
          <p:nvPr/>
        </p:nvSpPr>
        <p:spPr>
          <a:xfrm>
            <a:off x="6409944" y="4096512"/>
            <a:ext cx="5129784" cy="274320"/>
          </a:xfrm>
          <a:prstGeom prst="rect">
            <a:avLst/>
          </a:prstGeom>
          <a:noFill/>
          <a:ln/>
        </p:spPr>
        <p:txBody>
          <a:bodyPr wrap="square" lIns="0" tIns="0" rIns="0" bIns="0" rtlCol="0" anchor="ctr"/>
          <a:lstStyle/>
          <a:p>
            <a:pPr indent="0" marL="0">
              <a:buNone/>
            </a:pPr>
            <a:r>
              <a:rPr lang="en-US" sz="1350" b="1" dirty="0">
                <a:solidFill>
                  <a:srgbClr val="F1F6FC"/>
                </a:solidFill>
                <a:latin typeface="Segoe UI" pitchFamily="34" charset="0"/>
                <a:ea typeface="Segoe UI" pitchFamily="34" charset="-122"/>
                <a:cs typeface="Segoe UI" pitchFamily="34" charset="-120"/>
              </a:rPr>
              <a:t>Deliberately out of scope</a:t>
            </a:r>
            <a:endParaRPr lang="en-US" sz="1350" dirty="0"/>
          </a:p>
        </p:txBody>
      </p:sp>
      <p:sp>
        <p:nvSpPr>
          <p:cNvPr id="23" name="Text 21"/>
          <p:cNvSpPr/>
          <p:nvPr/>
        </p:nvSpPr>
        <p:spPr>
          <a:xfrm>
            <a:off x="6428232" y="4480560"/>
            <a:ext cx="5093208" cy="923544"/>
          </a:xfrm>
          <a:prstGeom prst="rect">
            <a:avLst/>
          </a:prstGeom>
          <a:noFill/>
          <a:ln/>
        </p:spPr>
        <p:txBody>
          <a:bodyPr wrap="square" lIns="0" tIns="0" rIns="0" bIns="0" rtlCol="0" anchor="t"/>
          <a:lstStyle/>
          <a:p>
            <a:pPr marL="342900" indent="-342900">
              <a:lnSpc>
                <a:spcPts val="1320"/>
              </a:lnSpc>
              <a:buSzPct val="100000"/>
              <a:buChar char="•"/>
            </a:pPr>
            <a:r>
              <a:rPr lang="en-US" sz="1000" dirty="0">
                <a:solidFill>
                  <a:srgbClr val="9DB2C8"/>
                </a:solidFill>
                <a:latin typeface="Segoe UI" pitchFamily="34" charset="0"/>
                <a:ea typeface="Segoe UI" pitchFamily="34" charset="-122"/>
                <a:cs typeface="Segoe UI" pitchFamily="34" charset="-120"/>
              </a:rPr>
              <a:t>No auth, RBAC, approval workflow or audit framework — this is decision support.</a:t>
            </a:r>
            <a:endParaRPr lang="en-US" sz="1000" dirty="0"/>
          </a:p>
          <a:p>
            <a:pPr marL="342900" indent="-342900">
              <a:lnSpc>
                <a:spcPts val="1320"/>
              </a:lnSpc>
              <a:buSzPct val="100000"/>
              <a:buChar char="•"/>
            </a:pPr>
            <a:r>
              <a:rPr lang="en-US" sz="1000" dirty="0">
                <a:solidFill>
                  <a:srgbClr val="9DB2C8"/>
                </a:solidFill>
                <a:latin typeface="Segoe UI" pitchFamily="34" charset="0"/>
                <a:ea typeface="Segoe UI" pitchFamily="34" charset="-122"/>
                <a:cs typeface="Segoe UI" pitchFamily="34" charset="-120"/>
              </a:rPr>
              <a:t>No BDMS write-back: no official API contract is published, so we do not pretend to have one.</a:t>
            </a:r>
            <a:endParaRPr lang="en-US" sz="1000" dirty="0"/>
          </a:p>
          <a:p>
            <a:pPr marL="342900" indent="-342900">
              <a:lnSpc>
                <a:spcPts val="1320"/>
              </a:lnSpc>
              <a:buSzPct val="100000"/>
              <a:buChar char="•"/>
            </a:pPr>
            <a:r>
              <a:rPr lang="en-US" sz="1000" dirty="0">
                <a:solidFill>
                  <a:srgbClr val="9DB2C8"/>
                </a:solidFill>
                <a:latin typeface="Segoe UI" pitchFamily="34" charset="0"/>
                <a:ea typeface="Segoe UI" pitchFamily="34" charset="-122"/>
                <a:cs typeface="Segoe UI" pitchFamily="34" charset="-120"/>
              </a:rPr>
              <a:t>No Docker, CI/CD or cloud deployment in the MVP.</a:t>
            </a:r>
            <a:endParaRPr lang="en-US" sz="100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819A"/>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84048"/>
            <a:ext cx="9144000" cy="237744"/>
          </a:xfrm>
          <a:prstGeom prst="rect">
            <a:avLst/>
          </a:prstGeom>
          <a:noFill/>
          <a:ln/>
        </p:spPr>
        <p:txBody>
          <a:bodyPr wrap="square" rtlCol="0" anchor="ctr"/>
          <a:lstStyle/>
          <a:p>
            <a:pPr indent="0" marL="0">
              <a:buNone/>
            </a:pPr>
            <a:r>
              <a:rPr lang="en-US" sz="1100" b="1" spc="160" kern="0" dirty="0">
                <a:solidFill>
                  <a:srgbClr val="3B9BE8"/>
                </a:solidFill>
                <a:latin typeface="Segoe UI" pitchFamily="34" charset="0"/>
                <a:ea typeface="Segoe UI" pitchFamily="34" charset="-122"/>
                <a:cs typeface="Segoe UI" pitchFamily="34" charset="-120"/>
              </a:rPr>
              <a:t>WHERE THIS GOES</a:t>
            </a:r>
            <a:endParaRPr lang="en-US" sz="1100" dirty="0"/>
          </a:p>
        </p:txBody>
      </p:sp>
      <p:sp>
        <p:nvSpPr>
          <p:cNvPr id="3" name="Text 1"/>
          <p:cNvSpPr/>
          <p:nvPr/>
        </p:nvSpPr>
        <p:spPr>
          <a:xfrm>
            <a:off x="502920" y="658368"/>
            <a:ext cx="11155680" cy="566928"/>
          </a:xfrm>
          <a:prstGeom prst="rect">
            <a:avLst/>
          </a:prstGeom>
          <a:noFill/>
          <a:ln/>
        </p:spPr>
        <p:txBody>
          <a:bodyPr wrap="square" rtlCol="0" anchor="ctr"/>
          <a:lstStyle/>
          <a:p>
            <a:pPr indent="0" marL="0">
              <a:buNone/>
            </a:pPr>
            <a:r>
              <a:rPr lang="en-US" sz="3000" b="1" dirty="0">
                <a:solidFill>
                  <a:srgbClr val="F1F6FC"/>
                </a:solidFill>
                <a:latin typeface="Segoe UI" pitchFamily="34" charset="0"/>
                <a:ea typeface="Segoe UI" pitchFamily="34" charset="-122"/>
                <a:cs typeface="Segoe UI" pitchFamily="34" charset="-120"/>
              </a:rPr>
              <a:t>What is next, and what we will not claim</a:t>
            </a:r>
            <a:endParaRPr lang="en-US" sz="3000" dirty="0"/>
          </a:p>
        </p:txBody>
      </p:sp>
      <p:sp>
        <p:nvSpPr>
          <p:cNvPr id="4" name="Shape 2"/>
          <p:cNvSpPr/>
          <p:nvPr/>
        </p:nvSpPr>
        <p:spPr>
          <a:xfrm>
            <a:off x="502920" y="1600200"/>
            <a:ext cx="5532120" cy="2468880"/>
          </a:xfrm>
          <a:prstGeom prst="roundRect">
            <a:avLst>
              <a:gd name="adj" fmla="val 2963"/>
            </a:avLst>
          </a:prstGeom>
          <a:solidFill>
            <a:srgbClr val="132133"/>
          </a:solidFill>
          <a:ln w="12700">
            <a:solidFill>
              <a:srgbClr val="223449"/>
            </a:solidFill>
            <a:prstDash val="solid"/>
          </a:ln>
        </p:spPr>
      </p:sp>
      <p:sp>
        <p:nvSpPr>
          <p:cNvPr id="5" name="Shape 3"/>
          <p:cNvSpPr/>
          <p:nvPr/>
        </p:nvSpPr>
        <p:spPr>
          <a:xfrm>
            <a:off x="502920" y="1783080"/>
            <a:ext cx="45720" cy="256032"/>
          </a:xfrm>
          <a:prstGeom prst="rect">
            <a:avLst/>
          </a:prstGeom>
          <a:solidFill>
            <a:srgbClr val="3B9BE8"/>
          </a:solidFill>
          <a:ln/>
        </p:spPr>
      </p:sp>
      <p:sp>
        <p:nvSpPr>
          <p:cNvPr id="6" name="Text 4"/>
          <p:cNvSpPr/>
          <p:nvPr/>
        </p:nvSpPr>
        <p:spPr>
          <a:xfrm>
            <a:off x="722376" y="1764792"/>
            <a:ext cx="5129784" cy="274320"/>
          </a:xfrm>
          <a:prstGeom prst="rect">
            <a:avLst/>
          </a:prstGeom>
          <a:noFill/>
          <a:ln/>
        </p:spPr>
        <p:txBody>
          <a:bodyPr wrap="square" lIns="0" tIns="0" rIns="0" bIns="0" rtlCol="0" anchor="ctr"/>
          <a:lstStyle/>
          <a:p>
            <a:pPr indent="0" marL="0">
              <a:buNone/>
            </a:pPr>
            <a:r>
              <a:rPr lang="en-US" sz="1350" b="1" dirty="0">
                <a:solidFill>
                  <a:srgbClr val="F1F6FC"/>
                </a:solidFill>
                <a:latin typeface="Segoe UI" pitchFamily="34" charset="0"/>
                <a:ea typeface="Segoe UI" pitchFamily="34" charset="-122"/>
                <a:cs typeface="Segoe UI" pitchFamily="34" charset="-120"/>
              </a:rPr>
              <a:t>Next steps</a:t>
            </a:r>
            <a:endParaRPr lang="en-US" sz="1350" dirty="0"/>
          </a:p>
        </p:txBody>
      </p:sp>
      <p:sp>
        <p:nvSpPr>
          <p:cNvPr id="7" name="Text 5"/>
          <p:cNvSpPr/>
          <p:nvPr/>
        </p:nvSpPr>
        <p:spPr>
          <a:xfrm>
            <a:off x="740664" y="2148840"/>
            <a:ext cx="5093208" cy="1792224"/>
          </a:xfrm>
          <a:prstGeom prst="rect">
            <a:avLst/>
          </a:prstGeom>
          <a:noFill/>
          <a:ln/>
        </p:spPr>
        <p:txBody>
          <a:bodyPr wrap="square" lIns="0" tIns="0" rIns="0" bIns="0" rtlCol="0" anchor="t"/>
          <a:lstStyle/>
          <a:p>
            <a:pPr marL="342900" indent="-342900">
              <a:lnSpc>
                <a:spcPts val="1518"/>
              </a:lnSpc>
              <a:buSzPct val="100000"/>
              <a:buChar char="•"/>
            </a:pPr>
            <a:r>
              <a:rPr lang="en-US" sz="1150" dirty="0">
                <a:solidFill>
                  <a:srgbClr val="9DB2C8"/>
                </a:solidFill>
                <a:latin typeface="Segoe UI" pitchFamily="34" charset="0"/>
                <a:ea typeface="Segoe UI" pitchFamily="34" charset="-122"/>
                <a:cs typeface="Segoe UI" pitchFamily="34" charset="-120"/>
              </a:rPr>
              <a:t>Swap each MOCK adapter for the REST adapter once a real TMS / SMMS / TDMS / COA feed exists — the code path is already there.</a:t>
            </a:r>
            <a:endParaRPr lang="en-US" sz="1150" dirty="0"/>
          </a:p>
          <a:p>
            <a:pPr marL="342900" indent="-342900">
              <a:lnSpc>
                <a:spcPts val="1518"/>
              </a:lnSpc>
              <a:buSzPct val="100000"/>
              <a:buChar char="•"/>
            </a:pPr>
            <a:r>
              <a:rPr lang="en-US" sz="1150" dirty="0">
                <a:solidFill>
                  <a:srgbClr val="9DB2C8"/>
                </a:solidFill>
                <a:latin typeface="Segoe UI" pitchFamily="34" charset="0"/>
                <a:ea typeface="Segoe UI" pitchFamily="34" charset="-122"/>
                <a:cs typeface="Segoe UI" pitchFamily="34" charset="-120"/>
              </a:rPr>
              <a:t>Retrain the risk model on real maintenance history; the training pipeline is unchanged.</a:t>
            </a:r>
            <a:endParaRPr lang="en-US" sz="1150" dirty="0"/>
          </a:p>
          <a:p>
            <a:pPr marL="342900" indent="-342900">
              <a:lnSpc>
                <a:spcPts val="1518"/>
              </a:lnSpc>
              <a:buSzPct val="100000"/>
              <a:buChar char="•"/>
            </a:pPr>
            <a:r>
              <a:rPr lang="en-US" sz="1150" dirty="0">
                <a:solidFill>
                  <a:srgbClr val="9DB2C8"/>
                </a:solidFill>
                <a:latin typeface="Segoe UI" pitchFamily="34" charset="0"/>
                <a:ea typeface="Segoe UI" pitchFamily="34" charset="-122"/>
                <a:cs typeface="Segoe UI" pitchFamily="34" charset="-120"/>
              </a:rPr>
              <a:t>BDMS write-back once an official API contract is published.</a:t>
            </a:r>
            <a:endParaRPr lang="en-US" sz="1150" dirty="0"/>
          </a:p>
          <a:p>
            <a:pPr marL="342900" indent="-342900">
              <a:lnSpc>
                <a:spcPts val="1518"/>
              </a:lnSpc>
              <a:buSzPct val="100000"/>
              <a:buChar char="•"/>
            </a:pPr>
            <a:r>
              <a:rPr lang="en-US" sz="1150" dirty="0">
                <a:solidFill>
                  <a:srgbClr val="9DB2C8"/>
                </a:solidFill>
                <a:latin typeface="Segoe UI" pitchFamily="34" charset="0"/>
                <a:ea typeface="Segoe UI" pitchFamily="34" charset="-122"/>
                <a:cs typeface="Segoe UI" pitchFamily="34" charset="-120"/>
              </a:rPr>
              <a:t>Retrospective learning: feed executed block outcomes back into the duration and risk estimates.</a:t>
            </a:r>
            <a:endParaRPr lang="en-US" sz="1150" dirty="0"/>
          </a:p>
        </p:txBody>
      </p:sp>
      <p:sp>
        <p:nvSpPr>
          <p:cNvPr id="8" name="Shape 6"/>
          <p:cNvSpPr/>
          <p:nvPr/>
        </p:nvSpPr>
        <p:spPr>
          <a:xfrm>
            <a:off x="6190488" y="1600200"/>
            <a:ext cx="5532120" cy="2468880"/>
          </a:xfrm>
          <a:prstGeom prst="roundRect">
            <a:avLst>
              <a:gd name="adj" fmla="val 2963"/>
            </a:avLst>
          </a:prstGeom>
          <a:solidFill>
            <a:srgbClr val="132133"/>
          </a:solidFill>
          <a:ln w="12700">
            <a:solidFill>
              <a:srgbClr val="223449"/>
            </a:solidFill>
            <a:prstDash val="solid"/>
          </a:ln>
        </p:spPr>
      </p:sp>
      <p:sp>
        <p:nvSpPr>
          <p:cNvPr id="9" name="Shape 7"/>
          <p:cNvSpPr/>
          <p:nvPr/>
        </p:nvSpPr>
        <p:spPr>
          <a:xfrm>
            <a:off x="6190488" y="1783080"/>
            <a:ext cx="45720" cy="256032"/>
          </a:xfrm>
          <a:prstGeom prst="rect">
            <a:avLst/>
          </a:prstGeom>
          <a:solidFill>
            <a:srgbClr val="F0616D"/>
          </a:solidFill>
          <a:ln/>
        </p:spPr>
      </p:sp>
      <p:sp>
        <p:nvSpPr>
          <p:cNvPr id="10" name="Text 8"/>
          <p:cNvSpPr/>
          <p:nvPr/>
        </p:nvSpPr>
        <p:spPr>
          <a:xfrm>
            <a:off x="6409944" y="1764792"/>
            <a:ext cx="5129784" cy="274320"/>
          </a:xfrm>
          <a:prstGeom prst="rect">
            <a:avLst/>
          </a:prstGeom>
          <a:noFill/>
          <a:ln/>
        </p:spPr>
        <p:txBody>
          <a:bodyPr wrap="square" lIns="0" tIns="0" rIns="0" bIns="0" rtlCol="0" anchor="ctr"/>
          <a:lstStyle/>
          <a:p>
            <a:pPr indent="0" marL="0">
              <a:buNone/>
            </a:pPr>
            <a:r>
              <a:rPr lang="en-US" sz="1350" b="1" dirty="0">
                <a:solidFill>
                  <a:srgbClr val="F1F6FC"/>
                </a:solidFill>
                <a:latin typeface="Segoe UI" pitchFamily="34" charset="0"/>
                <a:ea typeface="Segoe UI" pitchFamily="34" charset="-122"/>
                <a:cs typeface="Segoe UI" pitchFamily="34" charset="-120"/>
              </a:rPr>
              <a:t>What we do not claim</a:t>
            </a:r>
            <a:endParaRPr lang="en-US" sz="1350" dirty="0"/>
          </a:p>
        </p:txBody>
      </p:sp>
      <p:sp>
        <p:nvSpPr>
          <p:cNvPr id="11" name="Text 9"/>
          <p:cNvSpPr/>
          <p:nvPr/>
        </p:nvSpPr>
        <p:spPr>
          <a:xfrm>
            <a:off x="6428232" y="2148840"/>
            <a:ext cx="5093208" cy="1792224"/>
          </a:xfrm>
          <a:prstGeom prst="rect">
            <a:avLst/>
          </a:prstGeom>
          <a:noFill/>
          <a:ln/>
        </p:spPr>
        <p:txBody>
          <a:bodyPr wrap="square" lIns="0" tIns="0" rIns="0" bIns="0" rtlCol="0" anchor="t"/>
          <a:lstStyle/>
          <a:p>
            <a:pPr marL="342900" indent="-342900">
              <a:lnSpc>
                <a:spcPts val="1518"/>
              </a:lnSpc>
              <a:buSzPct val="100000"/>
              <a:buChar char="•"/>
            </a:pPr>
            <a:r>
              <a:rPr lang="en-US" sz="1150" dirty="0">
                <a:solidFill>
                  <a:srgbClr val="9DB2C8"/>
                </a:solidFill>
                <a:latin typeface="Segoe UI" pitchFamily="34" charset="0"/>
                <a:ea typeface="Segoe UI" pitchFamily="34" charset="-122"/>
                <a:cs typeface="Segoe UI" pitchFamily="34" charset="-120"/>
              </a:rPr>
              <a:t>The model is trained on synthetic history and is reported as such — no production accuracy is asserted.</a:t>
            </a:r>
            <a:endParaRPr lang="en-US" sz="1150" dirty="0"/>
          </a:p>
          <a:p>
            <a:pPr marL="342900" indent="-342900">
              <a:lnSpc>
                <a:spcPts val="1518"/>
              </a:lnSpc>
              <a:buSzPct val="100000"/>
              <a:buChar char="•"/>
            </a:pPr>
            <a:r>
              <a:rPr lang="en-US" sz="1150" dirty="0">
                <a:solidFill>
                  <a:srgbClr val="9DB2C8"/>
                </a:solidFill>
                <a:latin typeface="Segoe UI" pitchFamily="34" charset="0"/>
                <a:ea typeface="Segoe UI" pitchFamily="34" charset="-122"/>
                <a:cs typeface="Segoe UI" pitchFamily="34" charset="-120"/>
              </a:rPr>
              <a:t>The system does not operate signalling, grant a traffic block, or switch traction power.</a:t>
            </a:r>
            <a:endParaRPr lang="en-US" sz="1150" dirty="0"/>
          </a:p>
          <a:p>
            <a:pPr marL="342900" indent="-342900">
              <a:lnSpc>
                <a:spcPts val="1518"/>
              </a:lnSpc>
              <a:buSzPct val="100000"/>
              <a:buChar char="•"/>
            </a:pPr>
            <a:r>
              <a:rPr lang="en-US" sz="1150" dirty="0">
                <a:solidFill>
                  <a:srgbClr val="9DB2C8"/>
                </a:solidFill>
                <a:latin typeface="Segoe UI" pitchFamily="34" charset="0"/>
                <a:ea typeface="Segoe UI" pitchFamily="34" charset="-122"/>
                <a:cs typeface="Segoe UI" pitchFamily="34" charset="-120"/>
              </a:rPr>
              <a:t>It does not replace authorised railway officials; every plan is a recommendation.</a:t>
            </a:r>
            <a:endParaRPr lang="en-US" sz="1150" dirty="0"/>
          </a:p>
          <a:p>
            <a:pPr marL="342900" indent="-342900">
              <a:lnSpc>
                <a:spcPts val="1518"/>
              </a:lnSpc>
              <a:buSzPct val="100000"/>
              <a:buChar char="•"/>
            </a:pPr>
            <a:r>
              <a:rPr lang="en-US" sz="1150" dirty="0">
                <a:solidFill>
                  <a:srgbClr val="9DB2C8"/>
                </a:solidFill>
                <a:latin typeface="Segoe UI" pitchFamily="34" charset="0"/>
                <a:ea typeface="Segoe UI" pitchFamily="34" charset="-122"/>
                <a:cs typeface="Segoe UI" pitchFamily="34" charset="-120"/>
              </a:rPr>
              <a:t>No improvement percentage is hard-coded anywhere in the codebase.</a:t>
            </a:r>
            <a:endParaRPr lang="en-US" sz="1150" dirty="0"/>
          </a:p>
        </p:txBody>
      </p:sp>
      <p:sp>
        <p:nvSpPr>
          <p:cNvPr id="12" name="Shape 10"/>
          <p:cNvSpPr/>
          <p:nvPr/>
        </p:nvSpPr>
        <p:spPr>
          <a:xfrm>
            <a:off x="502920" y="4251960"/>
            <a:ext cx="11201400" cy="1508760"/>
          </a:xfrm>
          <a:prstGeom prst="roundRect">
            <a:avLst>
              <a:gd name="adj" fmla="val 4848"/>
            </a:avLst>
          </a:prstGeom>
          <a:solidFill>
            <a:srgbClr val="10243B"/>
          </a:solidFill>
          <a:ln w="12700">
            <a:solidFill>
              <a:srgbClr val="223449"/>
            </a:solidFill>
            <a:prstDash val="solid"/>
          </a:ln>
        </p:spPr>
      </p:sp>
      <p:sp>
        <p:nvSpPr>
          <p:cNvPr id="13" name="Text 11"/>
          <p:cNvSpPr/>
          <p:nvPr/>
        </p:nvSpPr>
        <p:spPr>
          <a:xfrm>
            <a:off x="777240" y="4480560"/>
            <a:ext cx="10652760" cy="411480"/>
          </a:xfrm>
          <a:prstGeom prst="rect">
            <a:avLst/>
          </a:prstGeom>
          <a:noFill/>
          <a:ln/>
        </p:spPr>
        <p:txBody>
          <a:bodyPr wrap="square" rtlCol="0" anchor="ctr"/>
          <a:lstStyle/>
          <a:p>
            <a:pPr indent="0" marL="0">
              <a:buNone/>
            </a:pPr>
            <a:r>
              <a:rPr lang="en-US" sz="2200" b="1" dirty="0">
                <a:solidFill>
                  <a:srgbClr val="F1F6FC"/>
                </a:solidFill>
                <a:latin typeface="Segoe UI" pitchFamily="34" charset="0"/>
                <a:ea typeface="Segoe UI" pitchFamily="34" charset="-122"/>
                <a:cs typeface="Segoe UI" pitchFamily="34" charset="-120"/>
              </a:rPr>
              <a:t>Decentralised and manual  →  data-driven and coordinated</a:t>
            </a:r>
            <a:endParaRPr lang="en-US" sz="2200" dirty="0"/>
          </a:p>
        </p:txBody>
      </p:sp>
      <p:sp>
        <p:nvSpPr>
          <p:cNvPr id="14" name="Text 12"/>
          <p:cNvSpPr/>
          <p:nvPr/>
        </p:nvSpPr>
        <p:spPr>
          <a:xfrm>
            <a:off x="777240" y="4937760"/>
            <a:ext cx="10652760" cy="685800"/>
          </a:xfrm>
          <a:prstGeom prst="rect">
            <a:avLst/>
          </a:prstGeom>
          <a:noFill/>
          <a:ln/>
        </p:spPr>
        <p:txBody>
          <a:bodyPr wrap="square" rtlCol="0" anchor="ctr"/>
          <a:lstStyle/>
          <a:p>
            <a:pPr indent="0" marL="0">
              <a:buNone/>
            </a:pPr>
            <a:r>
              <a:rPr lang="en-US" sz="1250" dirty="0">
                <a:solidFill>
                  <a:srgbClr val="9DB2C8"/>
                </a:solidFill>
                <a:latin typeface="Segoe UI" pitchFamily="34" charset="0"/>
                <a:ea typeface="Segoe UI" pitchFamily="34" charset="-122"/>
                <a:cs typeface="Segoe UI" pitchFamily="34" charset="-120"/>
              </a:rPr>
              <a:t>Six feeds integrated · every task scored and explained · safety constraints enforced as hard limits · weekly and monthly plans · and a measured comparison against how it is done today.</a:t>
            </a:r>
            <a:endParaRPr lang="en-US" sz="1250" dirty="0"/>
          </a:p>
        </p:txBody>
      </p:sp>
      <p:sp>
        <p:nvSpPr>
          <p:cNvPr id="25" name="Slide Number Placeholder 0"/>
          <p:cNvSpPr>
            <a:spLocks noGrp="1"/>
          </p:cNvSpPr>
          <p:nvPr>
            <p:ph type="sldNum" sz="quarter" idx="4294967295"/>
          </p:nvPr>
        </p:nvSpPr>
        <p:spPr>
          <a:xfrm>
            <a:off x="11368735"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819A"/>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524"/>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3B9BE8"/>
          </a:solidFill>
          <a:ln/>
        </p:spPr>
      </p:sp>
      <p:sp>
        <p:nvSpPr>
          <p:cNvPr id="3" name="Text 1"/>
          <p:cNvSpPr/>
          <p:nvPr/>
        </p:nvSpPr>
        <p:spPr>
          <a:xfrm>
            <a:off x="822960" y="2286000"/>
            <a:ext cx="10607040" cy="914400"/>
          </a:xfrm>
          <a:prstGeom prst="rect">
            <a:avLst/>
          </a:prstGeom>
          <a:noFill/>
          <a:ln/>
        </p:spPr>
        <p:txBody>
          <a:bodyPr wrap="square" rtlCol="0" anchor="ctr"/>
          <a:lstStyle/>
          <a:p>
            <a:pPr indent="0" marL="0">
              <a:buNone/>
            </a:pPr>
            <a:r>
              <a:rPr lang="en-US" sz="5200" b="1" dirty="0">
                <a:solidFill>
                  <a:srgbClr val="F1F6FC"/>
                </a:solidFill>
                <a:latin typeface="Segoe UI" pitchFamily="34" charset="0"/>
                <a:ea typeface="Segoe UI" pitchFamily="34" charset="-122"/>
                <a:cs typeface="Segoe UI" pitchFamily="34" charset="-120"/>
              </a:rPr>
              <a:t>Thank you</a:t>
            </a:r>
            <a:endParaRPr lang="en-US" sz="5200" dirty="0"/>
          </a:p>
        </p:txBody>
      </p:sp>
      <p:sp>
        <p:nvSpPr>
          <p:cNvPr id="4" name="Text 2"/>
          <p:cNvSpPr/>
          <p:nvPr/>
        </p:nvSpPr>
        <p:spPr>
          <a:xfrm>
            <a:off x="868680" y="3246120"/>
            <a:ext cx="10515600" cy="457200"/>
          </a:xfrm>
          <a:prstGeom prst="rect">
            <a:avLst/>
          </a:prstGeom>
          <a:noFill/>
          <a:ln/>
        </p:spPr>
        <p:txBody>
          <a:bodyPr wrap="square" rtlCol="0" anchor="ctr"/>
          <a:lstStyle/>
          <a:p>
            <a:pPr indent="0" marL="0">
              <a:buNone/>
            </a:pPr>
            <a:r>
              <a:rPr lang="en-US" sz="1800" dirty="0">
                <a:solidFill>
                  <a:srgbClr val="3B9BE8"/>
                </a:solidFill>
                <a:latin typeface="Segoe UI" pitchFamily="34" charset="0"/>
                <a:ea typeface="Segoe UI" pitchFamily="34" charset="-122"/>
                <a:cs typeface="Segoe UI" pitchFamily="34" charset="-120"/>
              </a:rPr>
              <a:t>RailPlan AI · SIH26027 · AI-Powered Automatic Block Planning</a:t>
            </a:r>
            <a:endParaRPr lang="en-US" sz="1800" dirty="0"/>
          </a:p>
        </p:txBody>
      </p:sp>
      <p:sp>
        <p:nvSpPr>
          <p:cNvPr id="5" name="Text 3"/>
          <p:cNvSpPr/>
          <p:nvPr/>
        </p:nvSpPr>
        <p:spPr>
          <a:xfrm>
            <a:off x="868680" y="3749040"/>
            <a:ext cx="10515600" cy="365760"/>
          </a:xfrm>
          <a:prstGeom prst="rect">
            <a:avLst/>
          </a:prstGeom>
          <a:noFill/>
          <a:ln/>
        </p:spPr>
        <p:txBody>
          <a:bodyPr wrap="square" rtlCol="0" anchor="ctr"/>
          <a:lstStyle/>
          <a:p>
            <a:pPr indent="0" marL="0">
              <a:buNone/>
            </a:pPr>
            <a:r>
              <a:rPr lang="en-US" sz="1300" dirty="0">
                <a:solidFill>
                  <a:srgbClr val="9DB2C8"/>
                </a:solidFill>
                <a:latin typeface="Segoe UI" pitchFamily="34" charset="0"/>
                <a:ea typeface="Segoe UI" pitchFamily="34" charset="-122"/>
                <a:cs typeface="Segoe UI" pitchFamily="34" charset="-120"/>
              </a:rPr>
              <a:t>Questions welcome — weights, buffers and the horizon can be changed live and the plan regenerated.</a:t>
            </a:r>
            <a:endParaRPr lang="en-US" sz="1300" dirty="0"/>
          </a:p>
        </p:txBody>
      </p:sp>
      <p:sp>
        <p:nvSpPr>
          <p:cNvPr id="6" name="Shape 4"/>
          <p:cNvSpPr/>
          <p:nvPr/>
        </p:nvSpPr>
        <p:spPr>
          <a:xfrm>
            <a:off x="868680" y="4389120"/>
            <a:ext cx="2103120" cy="329184"/>
          </a:xfrm>
          <a:prstGeom prst="roundRect">
            <a:avLst>
              <a:gd name="adj" fmla="val 47222"/>
            </a:avLst>
          </a:prstGeom>
          <a:solidFill>
            <a:srgbClr val="132133"/>
          </a:solidFill>
          <a:ln w="12700">
            <a:solidFill>
              <a:srgbClr val="2DD4BF"/>
            </a:solidFill>
            <a:prstDash val="solid"/>
          </a:ln>
        </p:spPr>
      </p:sp>
      <p:sp>
        <p:nvSpPr>
          <p:cNvPr id="7" name="Text 5"/>
          <p:cNvSpPr/>
          <p:nvPr/>
        </p:nvSpPr>
        <p:spPr>
          <a:xfrm>
            <a:off x="868680" y="4389120"/>
            <a:ext cx="2103120" cy="329184"/>
          </a:xfrm>
          <a:prstGeom prst="rect">
            <a:avLst/>
          </a:prstGeom>
          <a:noFill/>
          <a:ln/>
        </p:spPr>
        <p:txBody>
          <a:bodyPr wrap="square" rtlCol="0" anchor="ctr"/>
          <a:lstStyle/>
          <a:p>
            <a:pPr algn="ctr" indent="0" marL="0">
              <a:buNone/>
            </a:pPr>
            <a:r>
              <a:rPr lang="en-US" sz="1050" b="1" dirty="0">
                <a:solidFill>
                  <a:srgbClr val="2DD4BF"/>
                </a:solidFill>
                <a:latin typeface="Segoe UI" pitchFamily="34" charset="0"/>
                <a:ea typeface="Segoe UI" pitchFamily="34" charset="-122"/>
                <a:cs typeface="Segoe UI" pitchFamily="34" charset="-120"/>
              </a:rPr>
              <a:t>Live demo</a:t>
            </a:r>
            <a:endParaRPr lang="en-US" sz="1050" dirty="0"/>
          </a:p>
        </p:txBody>
      </p:sp>
      <p:sp>
        <p:nvSpPr>
          <p:cNvPr id="8" name="Shape 6"/>
          <p:cNvSpPr/>
          <p:nvPr/>
        </p:nvSpPr>
        <p:spPr>
          <a:xfrm>
            <a:off x="3154680" y="4389120"/>
            <a:ext cx="2103120" cy="329184"/>
          </a:xfrm>
          <a:prstGeom prst="roundRect">
            <a:avLst>
              <a:gd name="adj" fmla="val 47222"/>
            </a:avLst>
          </a:prstGeom>
          <a:solidFill>
            <a:srgbClr val="132133"/>
          </a:solidFill>
          <a:ln w="12700">
            <a:solidFill>
              <a:srgbClr val="A78BFA"/>
            </a:solidFill>
            <a:prstDash val="solid"/>
          </a:ln>
        </p:spPr>
      </p:sp>
      <p:sp>
        <p:nvSpPr>
          <p:cNvPr id="9" name="Text 7"/>
          <p:cNvSpPr/>
          <p:nvPr/>
        </p:nvSpPr>
        <p:spPr>
          <a:xfrm>
            <a:off x="3154680" y="4389120"/>
            <a:ext cx="2103120" cy="329184"/>
          </a:xfrm>
          <a:prstGeom prst="rect">
            <a:avLst/>
          </a:prstGeom>
          <a:noFill/>
          <a:ln/>
        </p:spPr>
        <p:txBody>
          <a:bodyPr wrap="square" rtlCol="0" anchor="ctr"/>
          <a:lstStyle/>
          <a:p>
            <a:pPr algn="ctr" indent="0" marL="0">
              <a:buNone/>
            </a:pPr>
            <a:r>
              <a:rPr lang="en-US" sz="1050" b="1" dirty="0">
                <a:solidFill>
                  <a:srgbClr val="A78BFA"/>
                </a:solidFill>
                <a:latin typeface="Segoe UI" pitchFamily="34" charset="0"/>
                <a:ea typeface="Segoe UI" pitchFamily="34" charset="-122"/>
                <a:cs typeface="Segoe UI" pitchFamily="34" charset="-120"/>
              </a:rPr>
              <a:t>Change a weight</a:t>
            </a:r>
            <a:endParaRPr lang="en-US" sz="1050" dirty="0"/>
          </a:p>
        </p:txBody>
      </p:sp>
      <p:sp>
        <p:nvSpPr>
          <p:cNvPr id="10" name="Shape 8"/>
          <p:cNvSpPr/>
          <p:nvPr/>
        </p:nvSpPr>
        <p:spPr>
          <a:xfrm>
            <a:off x="5440680" y="4389120"/>
            <a:ext cx="2103120" cy="329184"/>
          </a:xfrm>
          <a:prstGeom prst="roundRect">
            <a:avLst>
              <a:gd name="adj" fmla="val 47222"/>
            </a:avLst>
          </a:prstGeom>
          <a:solidFill>
            <a:srgbClr val="132133"/>
          </a:solidFill>
          <a:ln w="12700">
            <a:solidFill>
              <a:srgbClr val="F0A93B"/>
            </a:solidFill>
            <a:prstDash val="solid"/>
          </a:ln>
        </p:spPr>
      </p:sp>
      <p:sp>
        <p:nvSpPr>
          <p:cNvPr id="11" name="Text 9"/>
          <p:cNvSpPr/>
          <p:nvPr/>
        </p:nvSpPr>
        <p:spPr>
          <a:xfrm>
            <a:off x="5440680" y="4389120"/>
            <a:ext cx="2103120" cy="329184"/>
          </a:xfrm>
          <a:prstGeom prst="rect">
            <a:avLst/>
          </a:prstGeom>
          <a:noFill/>
          <a:ln/>
        </p:spPr>
        <p:txBody>
          <a:bodyPr wrap="square" rtlCol="0" anchor="ctr"/>
          <a:lstStyle/>
          <a:p>
            <a:pPr algn="ctr" indent="0" marL="0">
              <a:buNone/>
            </a:pPr>
            <a:r>
              <a:rPr lang="en-US" sz="1050" b="1" dirty="0">
                <a:solidFill>
                  <a:srgbClr val="F0A93B"/>
                </a:solidFill>
                <a:latin typeface="Segoe UI" pitchFamily="34" charset="0"/>
                <a:ea typeface="Segoe UI" pitchFamily="34" charset="-122"/>
                <a:cs typeface="Segoe UI" pitchFamily="34" charset="-120"/>
              </a:rPr>
              <a:t>Re-run the solver</a:t>
            </a:r>
            <a:endParaRPr lang="en-US" sz="1050" dirty="0"/>
          </a:p>
        </p:txBody>
      </p:sp>
      <p:sp>
        <p:nvSpPr>
          <p:cNvPr id="12" name="Text 10"/>
          <p:cNvSpPr/>
          <p:nvPr/>
        </p:nvSpPr>
        <p:spPr>
          <a:xfrm>
            <a:off x="868680" y="5760720"/>
            <a:ext cx="10515600" cy="274320"/>
          </a:xfrm>
          <a:prstGeom prst="rect">
            <a:avLst/>
          </a:prstGeom>
          <a:noFill/>
          <a:ln/>
        </p:spPr>
        <p:txBody>
          <a:bodyPr wrap="square" rtlCol="0" anchor="ctr"/>
          <a:lstStyle/>
          <a:p>
            <a:pPr indent="0" marL="0">
              <a:buNone/>
            </a:pPr>
            <a:r>
              <a:rPr lang="en-US" sz="1000" i="1" dirty="0">
                <a:solidFill>
                  <a:srgbClr val="6B819A"/>
                </a:solidFill>
                <a:latin typeface="Segoe UI" pitchFamily="34" charset="0"/>
                <a:ea typeface="Segoe UI" pitchFamily="34" charset="-122"/>
                <a:cs typeface="Segoe UI" pitchFamily="34" charset="-120"/>
              </a:rPr>
              <a:t>Synthetic demonstration data — not Indian Railways production data.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Smart India Hackathon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RailPlan AI - Automatic Block Planning (SIH26027)</dc:title>
  <dc:subject>PptxGenJS Presentation</dc:subject>
  <dc:creator>Team RailPlan AI</dc:creator>
  <cp:lastModifiedBy>Team RailPlan AI</cp:lastModifiedBy>
  <cp:revision>1</cp:revision>
  <dcterms:created xsi:type="dcterms:W3CDTF">2026-08-30T09:48:27Z</dcterms:created>
  <dcterms:modified xsi:type="dcterms:W3CDTF">2026-08-30T09:48:27Z</dcterms:modified>
</cp:coreProperties>
</file>